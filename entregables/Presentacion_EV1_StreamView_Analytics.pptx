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71" r:id="rId6"/>
    <p:sldId id="261" r:id="rId7"/>
    <p:sldId id="263" r:id="rId8"/>
    <p:sldId id="264" r:id="rId9"/>
    <p:sldId id="265" r:id="rId10"/>
    <p:sldId id="266" r:id="rId11"/>
    <p:sldId id="272" r:id="rId12"/>
    <p:sldId id="267" r:id="rId13"/>
    <p:sldId id="273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/>
    <p:restoredTop sz="94637"/>
  </p:normalViewPr>
  <p:slideViewPr>
    <p:cSldViewPr snapToGrid="0" snapToObjects="1">
      <p:cViewPr varScale="1">
        <p:scale>
          <a:sx n="149" d="100"/>
          <a:sy n="149" d="100"/>
        </p:scale>
        <p:origin x="1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845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Abrir con la pregunta, sin responderla todavia. Dejar un silencio de dos o tres segundos. Presentarse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Situar el tamano del catalogo en pocos segundos, no detenerse en detalle tecnico aqui. Mencionar de pasada que son dos datasets oficiales de Netflix.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Diapositiva rapida, nombrar el patron y seguir, no detenerse en cada barra.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Tambien rapida. Estados Unidos produce mas que los siguientes 4 paises del top 10 combinados. El ingles casi quintuplica al segundo idioma, el chino mandarin.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DB02C-34D7-D9D3-9F36-56C55127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7A0325-2793-2B31-15D0-0EEE6E22E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80951F-3C61-A4E5-1D19-72EC6D22F9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Tambien rapida. Estados Unidos produce mas que los siguientes 4 paises del top 10 combinados. El ingles casi quintuplica al segundo idioma, el chino mandarin.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5D3A0-825D-3A34-A342-E5E449409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44047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Momento de mostrar pensamiento critico. La primera lectura fue que el catalogo crecio, graficarlo revelo que era una muestra curada, no una tendencia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Bisagra de la presentacion, anunciarla como tal. Correlacion practicamente nula, r=0,088 en peliculas, r=-0,022 en series, justo lo contrario de lo que se acaba de anticipar.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top 10 de popularidad lo dominan programas de conversacion y telenovelas. Solo 3 peliculas entran a esa 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dato mas contundente de toda la charla, no saltarselo aunque el tiempo apriete. Talk (4,17) y Soap (5,19) lideran popularidad y son los peor evaluados.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los dos rankings uno al lado del otro y dejar que el contraste hable. Cero titulos en comun entre ambas listas.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88250-E174-9A8E-3280-4A74C1BC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9A9E7-C449-BE7F-525D-D836888D48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25281-85B1-AEEC-68AB-2F50EA67F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los dos rankings uno al lado del otro y dejar que el contraste hable. Cero titulos en comun entre ambas listas.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C08D8-A939-FC30-25BE-BE48046A1C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7149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Filipinas casi triplica la popularidad tipica de Estados Unidos (51,1 vs 18,0). Japon lidera en calificacion (6,6), no en popularidad.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223B9-AA6F-997A-3B7D-2B6D528F5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2BB320-545B-2D64-AEA7-D36979299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F2F7F-FF96-5BBD-02DC-8B50B8C516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Filipinas casi triplica la popularidad tipica de Estados Unidos (51,1 vs 18,0). Japon lidera en calificacion (6,6), no en popularidad.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692ED-6576-8725-3EB0-38433D0B49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720815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Ritmo mas rapido aqui, son las conclusiones accionables. No leer literal, decirlas con las propias palabras. Aplican a cualquier area que decida sobre el catalogo, no solo a la alta direccion.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Cerrar retomando la pregunta de apertura de forma explicita. Pausa breve antes de abrir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duo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2064"/>
            <a:ext cx="2377440" cy="5844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8288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STREAMVIEW ANALYTICS · ETAPA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15150F"/>
                </a:solidFill>
                <a:latin typeface="Calibri"/>
              </a:rPr>
              <a:t>¿Qué hace que un título sea popular en Netflix?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5B594C"/>
                </a:solidFill>
                <a:latin typeface="Calibri"/>
              </a:rPr>
              <a:t>31.991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títulos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. Una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pregunta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 con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respuesta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 no es la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que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 se </a:t>
            </a:r>
            <a:r>
              <a:rPr sz="1600" b="0" dirty="0" err="1">
                <a:solidFill>
                  <a:srgbClr val="5B594C"/>
                </a:solidFill>
                <a:latin typeface="Calibri"/>
              </a:rPr>
              <a:t>espera</a:t>
            </a:r>
            <a:r>
              <a:rPr sz="1600" b="0" dirty="0">
                <a:solidFill>
                  <a:srgbClr val="5B594C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18304"/>
            <a:ext cx="1088136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18F7F"/>
                </a:solidFill>
                <a:latin typeface="Calibri"/>
              </a:rPr>
              <a:t>Felipe Ahumada Silva – Francisca Carrasco Lozano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EL CATÁLOGO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Antes de responder, un vistazo a los datos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941537" y="500911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400" b="1" dirty="0">
                <a:solidFill>
                  <a:srgbClr val="2A78D6"/>
                </a:solidFill>
              </a:rPr>
              <a:t>42,6</a:t>
            </a:r>
          </a:p>
          <a:p>
            <a:pPr algn="ctr"/>
            <a:r>
              <a:rPr sz="1000" dirty="0">
                <a:solidFill>
                  <a:srgbClr val="918F7F"/>
                </a:solidFill>
              </a:rPr>
              <a:t>POPULARIDAD PROM.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3177" y="501349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400" b="1" dirty="0">
                <a:solidFill>
                  <a:srgbClr val="2A78D6"/>
                </a:solidFill>
              </a:rPr>
              <a:t>5,7</a:t>
            </a:r>
          </a:p>
          <a:p>
            <a:pPr algn="ctr"/>
            <a:r>
              <a:rPr sz="1000" dirty="0">
                <a:solidFill>
                  <a:srgbClr val="918F7F"/>
                </a:solidFill>
              </a:rPr>
              <a:t>CALIFICACIÓN PROM.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91612" y="5013498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400" b="1">
                <a:solidFill>
                  <a:srgbClr val="2A78D6"/>
                </a:solidFill>
              </a:rPr>
              <a:t>147 / 82</a:t>
            </a:r>
          </a:p>
          <a:p>
            <a:pPr algn="ctr"/>
            <a:r>
              <a:rPr sz="1000">
                <a:solidFill>
                  <a:srgbClr val="918F7F"/>
                </a:solidFill>
              </a:rPr>
              <a:t>PAÍSES / IDIOMAS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70047" y="5020869"/>
            <a:ext cx="16916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2400" b="1">
                <a:solidFill>
                  <a:srgbClr val="2A78D6"/>
                </a:solidFill>
              </a:rPr>
              <a:t>24</a:t>
            </a:r>
          </a:p>
          <a:p>
            <a:pPr algn="ctr"/>
            <a:r>
              <a:rPr sz="1000">
                <a:solidFill>
                  <a:srgbClr val="918F7F"/>
                </a:solidFill>
              </a:rPr>
              <a:t>GÉNEROS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997B08-DD44-0CC7-4E23-3281A262C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177" y="1610598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CARACTERIZACIÓN · GÉNERO</a:t>
            </a:r>
          </a:p>
        </p:txBody>
      </p:sp>
      <p:pic>
        <p:nvPicPr>
          <p:cNvPr id="5" name="Picture 4" descr="v3_top_gener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51" y="1143428"/>
            <a:ext cx="11096897" cy="41428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CARACTERIZACIÓN · PAÍS E IDIOMA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dirty="0">
                <a:solidFill>
                  <a:srgbClr val="15150F"/>
                </a:solidFill>
                <a:latin typeface="Calibri"/>
              </a:rPr>
              <a:t>147 </a:t>
            </a:r>
            <a:r>
              <a:rPr sz="3000" b="1" dirty="0" err="1">
                <a:solidFill>
                  <a:srgbClr val="15150F"/>
                </a:solidFill>
                <a:latin typeface="Calibri"/>
              </a:rPr>
              <a:t>países</a:t>
            </a:r>
            <a:r>
              <a:rPr sz="3000" b="1" dirty="0">
                <a:solidFill>
                  <a:srgbClr val="15150F"/>
                </a:solidFill>
                <a:latin typeface="Calibri"/>
              </a:rPr>
              <a:t> y 82 </a:t>
            </a:r>
            <a:r>
              <a:rPr sz="3000" b="1" dirty="0" err="1">
                <a:solidFill>
                  <a:srgbClr val="15150F"/>
                </a:solidFill>
                <a:latin typeface="Calibri"/>
              </a:rPr>
              <a:t>idiomas</a:t>
            </a:r>
            <a:r>
              <a:rPr sz="3000" b="1" dirty="0">
                <a:solidFill>
                  <a:srgbClr val="15150F"/>
                </a:solidFill>
                <a:latin typeface="Calibri"/>
              </a:rPr>
              <a:t>, </a:t>
            </a:r>
            <a:r>
              <a:rPr sz="3000" b="1" dirty="0" err="1">
                <a:solidFill>
                  <a:srgbClr val="15150F"/>
                </a:solidFill>
                <a:latin typeface="Calibri"/>
              </a:rPr>
              <a:t>pero</a:t>
            </a:r>
            <a:r>
              <a:rPr sz="3000" b="1" dirty="0">
                <a:solidFill>
                  <a:srgbClr val="15150F"/>
                </a:solidFill>
                <a:latin typeface="Calibri"/>
              </a:rPr>
              <a:t> el </a:t>
            </a:r>
            <a:r>
              <a:rPr sz="3000" b="1" dirty="0" err="1">
                <a:solidFill>
                  <a:srgbClr val="15150F"/>
                </a:solidFill>
                <a:latin typeface="Calibri"/>
              </a:rPr>
              <a:t>catálogo</a:t>
            </a:r>
            <a:r>
              <a:rPr sz="3000" b="1" dirty="0">
                <a:solidFill>
                  <a:srgbClr val="15150F"/>
                </a:solidFill>
                <a:latin typeface="Calibri"/>
              </a:rPr>
              <a:t> se </a:t>
            </a:r>
            <a:r>
              <a:rPr sz="3000" b="1" dirty="0" err="1">
                <a:solidFill>
                  <a:srgbClr val="15150F"/>
                </a:solidFill>
                <a:latin typeface="Calibri"/>
              </a:rPr>
              <a:t>concentra</a:t>
            </a:r>
            <a:r>
              <a:rPr sz="3000" b="1" dirty="0">
                <a:solidFill>
                  <a:srgbClr val="15150F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5150F"/>
                </a:solidFill>
                <a:latin typeface="Calibri"/>
              </a:rPr>
              <a:t>fuerte</a:t>
            </a:r>
            <a:endParaRPr sz="3000" b="1" dirty="0">
              <a:solidFill>
                <a:srgbClr val="15150F"/>
              </a:solidFill>
              <a:latin typeface="Calibri"/>
            </a:endParaRPr>
          </a:p>
        </p:txBody>
      </p:sp>
      <p:pic>
        <p:nvPicPr>
          <p:cNvPr id="5" name="Picture 4" descr="v5_top_pai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29" y="1783080"/>
            <a:ext cx="11500742" cy="42936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B16A-120C-1972-9D56-DF8D84AB4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D3CDDC-AA6B-979A-9332-2ECE3E96A2D2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DE84A-40B8-1EEC-C44B-C86FD4721BC6}"/>
              </a:ext>
            </a:extLst>
          </p:cNvPr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CARACTERIZACIÓN · PAÍS E IDIOMA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156E99-2F0E-AD3F-BBF9-7C82F062A608}"/>
              </a:ext>
            </a:extLst>
          </p:cNvPr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147 países y 82 idiomas, pero el catálogo se concentra fuerte</a:t>
            </a:r>
          </a:p>
        </p:txBody>
      </p:sp>
      <p:pic>
        <p:nvPicPr>
          <p:cNvPr id="7" name="Picture 6" descr="v17_idiomas_predominantes.png">
            <a:extLst>
              <a:ext uri="{FF2B5EF4-FFF2-40B4-BE49-F238E27FC236}">
                <a16:creationId xmlns:a16="http://schemas.microsoft.com/office/drawing/2014/main" id="{0E66BCD0-270E-41AB-778F-AFD8ABA12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262" y="1566152"/>
            <a:ext cx="8866566" cy="496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8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ANTES DE SEGUIR · CALIDAD DE DATOS</a:t>
            </a:r>
          </a:p>
        </p:txBody>
      </p:sp>
      <p:pic>
        <p:nvPicPr>
          <p:cNvPr id="5" name="Picture 4" descr="v10_uniformidad_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03" y="1023039"/>
            <a:ext cx="10864393" cy="499218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088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419" sz="1300" b="1" dirty="0">
                <a:solidFill>
                  <a:srgbClr val="C85526"/>
                </a:solidFill>
                <a:latin typeface="Calibri"/>
              </a:rPr>
              <a:t>¿QUÉ NOS DICEN LOS DATOS?</a:t>
            </a:r>
            <a:endParaRPr sz="1300" b="1" dirty="0">
              <a:solidFill>
                <a:srgbClr val="C85526"/>
              </a:solidFill>
              <a:latin typeface="Calibri"/>
            </a:endParaRPr>
          </a:p>
        </p:txBody>
      </p:sp>
      <p:pic>
        <p:nvPicPr>
          <p:cNvPr id="5" name="Picture 4" descr="v6_dispersion_popularidad_calif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767" y="1022299"/>
            <a:ext cx="9604465" cy="5378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EVIDENCIA 1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Lo más visto no es lo mejor evaluado</a:t>
            </a:r>
          </a:p>
        </p:txBody>
      </p:sp>
      <p:pic>
        <p:nvPicPr>
          <p:cNvPr id="5" name="Picture 4" descr="v7_top10_popula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4554" y="1558462"/>
            <a:ext cx="8982892" cy="49619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EVIDENCIA 2 DE 4</a:t>
            </a:r>
          </a:p>
        </p:txBody>
      </p:sp>
      <p:pic>
        <p:nvPicPr>
          <p:cNvPr id="5" name="Picture 4" descr="v16_calificacion_por_gen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2620" y="1060485"/>
            <a:ext cx="9536278" cy="5340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EVIDENCIA 3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Nicho contra blockbuster, dos rankings que no se cruzan</a:t>
            </a:r>
          </a:p>
        </p:txBody>
      </p:sp>
      <p:pic>
        <p:nvPicPr>
          <p:cNvPr id="5" name="Picture 4" descr="v14_top10_mejor_evalu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773" y="1423850"/>
            <a:ext cx="9136533" cy="50468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F11A-D5F6-2014-6CF2-028179E7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EF0530-DA21-2577-83ED-14ABEE067253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023040-1DB7-0C95-65DC-27A5F1BC8D39}"/>
              </a:ext>
            </a:extLst>
          </p:cNvPr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EVIDENCIA 3 DE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941BA-7D34-97BA-50A2-CDA9127C41B8}"/>
              </a:ext>
            </a:extLst>
          </p:cNvPr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Nicho contra blockbuster, dos rankings que no se cruzan</a:t>
            </a:r>
          </a:p>
        </p:txBody>
      </p:sp>
      <p:pic>
        <p:nvPicPr>
          <p:cNvPr id="7" name="Picture 6" descr="v15_top10_mas_votados.png">
            <a:extLst>
              <a:ext uri="{FF2B5EF4-FFF2-40B4-BE49-F238E27FC236}">
                <a16:creationId xmlns:a16="http://schemas.microsoft.com/office/drawing/2014/main" id="{397C5BB7-147F-415E-494D-6DADE5F0E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859" y="1598023"/>
            <a:ext cx="8962361" cy="495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99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EVIDENCIA 4 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El mismo patrón se repite por país</a:t>
            </a:r>
          </a:p>
        </p:txBody>
      </p:sp>
      <p:pic>
        <p:nvPicPr>
          <p:cNvPr id="5" name="Picture 4" descr="v11_popularidad_por_pa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237" y="1545770"/>
            <a:ext cx="8805606" cy="49311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BD07D-726F-F39A-B90D-FF992BB1E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AED539-0946-FA93-8F6D-354779E2A3BF}"/>
              </a:ext>
            </a:extLst>
          </p:cNvPr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CBF26-FB9B-2DA9-92CA-EE8B43A73BE7}"/>
              </a:ext>
            </a:extLst>
          </p:cNvPr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EVIDENCIA 4 DE 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D00BB3-E73C-5E88-7D93-3269B41CADC7}"/>
              </a:ext>
            </a:extLst>
          </p:cNvPr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El mismo patrón se repite por país</a:t>
            </a:r>
          </a:p>
        </p:txBody>
      </p:sp>
      <p:pic>
        <p:nvPicPr>
          <p:cNvPr id="7" name="Picture 6" descr="v13_calificacion_por_pais.png">
            <a:extLst>
              <a:ext uri="{FF2B5EF4-FFF2-40B4-BE49-F238E27FC236}">
                <a16:creationId xmlns:a16="http://schemas.microsoft.com/office/drawing/2014/main" id="{E8346089-A35A-1859-5C26-B9BDE6AB2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417" y="1476103"/>
            <a:ext cx="9109166" cy="510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275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15150F"/>
                </a:solidFill>
                <a:latin typeface="Calibri"/>
              </a:rPr>
              <a:t>Popularidad y calidad son dos métricas distintas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C85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84832"/>
            <a:ext cx="10058400" cy="359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CL" sz="1500" dirty="0">
                <a:solidFill>
                  <a:srgbClr val="15150F"/>
                </a:solidFill>
                <a:latin typeface="Calibri"/>
              </a:rPr>
              <a:t>No usar los votos promedio como indicador de éxito.</a:t>
            </a:r>
            <a:endParaRPr sz="1500" b="0" dirty="0">
              <a:solidFill>
                <a:srgbClr val="15150F"/>
              </a:solidFill>
              <a:latin typeface="Calibri"/>
            </a:endParaRPr>
          </a:p>
        </p:txBody>
      </p:sp>
      <p:sp>
        <p:nvSpPr>
          <p:cNvPr id="7" name="Oval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C85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32278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5150F"/>
                </a:solidFill>
                <a:latin typeface="Calibri"/>
              </a:rPr>
              <a:t>La estrategia de adquisición y promoción debería mirar popularidad y calificación por separado, no combinadas.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C85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370832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5150F"/>
                </a:solidFill>
                <a:latin typeface="Calibri"/>
              </a:rPr>
              <a:t>El contenido de nicho y el viral necesitan objetivos de negocio distintos.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C85526"/>
                </a:solidFill>
                <a:latin typeface="Calibri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>
                <a:solidFill>
                  <a:srgbClr val="15150F"/>
                </a:solidFill>
                <a:latin typeface="Calibri"/>
              </a:rPr>
              <a:t>Entonces, ¿qué hace que un título sea popular?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5B594C"/>
                </a:solidFill>
                <a:latin typeface="Calibri"/>
              </a:rPr>
              <a:t>No es la calificación, es otra señal, y hay que medirlas y decidir sobre ellas por separado. Gracias.</a:t>
            </a:r>
          </a:p>
        </p:txBody>
      </p:sp>
      <p:pic>
        <p:nvPicPr>
          <p:cNvPr id="6" name="Picture 5" descr="duoc_logo.png">
            <a:extLst>
              <a:ext uri="{FF2B5EF4-FFF2-40B4-BE49-F238E27FC236}">
                <a16:creationId xmlns:a16="http://schemas.microsoft.com/office/drawing/2014/main" id="{BB2F9E06-F60F-055E-66E7-3509D18C8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12064"/>
            <a:ext cx="2377440" cy="5844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661</Words>
  <Application>Microsoft Macintosh PowerPoint</Application>
  <PresentationFormat>Widescreen</PresentationFormat>
  <Paragraphs>58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EV1 StreamView Analytics</dc:title>
  <dc:subject/>
  <dc:creator/>
  <cp:keywords/>
  <dc:description/>
  <cp:lastModifiedBy>FRANCISCA ANTONIA CARRASCO LOZANO</cp:lastModifiedBy>
  <cp:revision>5</cp:revision>
  <dcterms:created xsi:type="dcterms:W3CDTF">2026-09-09T15:06:44Z</dcterms:created>
  <dcterms:modified xsi:type="dcterms:W3CDTF">2026-09-09T19:40:41Z</dcterms:modified>
  <cp:category/>
</cp:coreProperties>
</file>