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org&amp;utm_campaign=index&amp;utm_content=thumbnail" ContentType="image/pn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9260"/>
    <p:restoredTop sz="94629"/>
  </p:normalViewPr>
  <p:slideViewPr>
    <p:cSldViewPr snapToGrid="0" snapToObjects="1">
      <p:cViewPr>
        <p:scale>
          <a:sx n="67" d="100"/>
          <a:sy n="67" d="100"/>
        </p:scale>
        <p:origin x="-120" y="4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492906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Abrir con la pregunta, sin responderla todavia. Dejar un silencio de dos o tres segundos. Presentarse en una frase.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Diapositiva de estrategia de comunicacion. Nombrar a los seis stakeholders del caso, marcar los dos destacados como el publico real de esta charla, y explicar por que eso definio la estructura, poco tiempo en caracterizacion, mucho en un solo hallazgo accionable.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diapositiva responde de frente la pregunta que mas se repite al ver la charla, por que se enfoca en un solo hallazgo. Decirlo con seguridad, es una decision de estrategia de comunicacion, no una limitacion, el resto de los objetivos del caso viven en el notebook y el dashboard.</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Situar el tamano del catalogo en pocos segundos, no detenerse en detalle tecnico aqui. Mencionar de pasada que son dos datasets oficiales de Netflix.</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Diapositiva rapida, nombrar el patron y seguir, no detenerse en cada barra.</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Tambien rapida. Estados Unidos produce mas que los siguientes 4 paises del top 10 combinados. El ingles casi quintuplica al segundo idioma, el chino mandarin.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Momento de mostrar pensamiento critico. La primera lectura fue que el catalogo crecio, graficarlo revelo que era una muestra curada, no una tendencia real.</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Bisagra de la presentacion, anunciarla como tal. Correlacion practicamente nula, r=0,088 en peliculas, r=-0,022 en series.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top 10 de popularidad lo dominan programas de conversacion y telenovelas. Solo 3 peliculas entran a esa lista.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dato mas contundente de toda la charla, no saltarselo aunque el tiempo apriete. Talk (4,17) y Soap (5,19) lideran popularidad y son los peor evaluados. Animation (6,71) e History (6,67) lideran calificacion.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Mostrar los dos rankings uno al lado del otro y dejar que el contraste hable. Cero titulos en comun entre ambas listas.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Filipinas casi triplica la popularidad tipica de Estados Unidos (51,1 vs 18,0). Japon lidera en calificacion (6,6), no en popularidad.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Justificacion tecnica de las representaciones visuales. No leer los cinco puntos completos, elegir dos o tres segun el tiempo restante, priorizar el de mediana vs promedio y el de color por rol, son los mas especificos de este proyecto.</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Ritmo mas rapido aqui, son las conclusiones accionables. No leer literal, decirlas con las propias palabras.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Cerrar retomando la pregunta de apertura de forma explicita. Pausa breve antes de abrir preguntas.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org&amp;utm_campaign=index&amp;utm_content=thumbnai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8288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STREAMVIEW ANALYTICS · ETAPA 1</a:t>
            </a:r>
          </a:p>
        </p:txBody>
      </p:sp>
      <p:sp>
        <p:nvSpPr>
          <p:cNvPr id="4" name="TextBox 3"/>
          <p:cNvSpPr txBox="1"/>
          <p:nvPr/>
        </p:nvSpPr>
        <p:spPr>
          <a:xfrm>
            <a:off x="640080" y="2286000"/>
            <a:ext cx="10881360" cy="2011680"/>
          </a:xfrm>
          <a:prstGeom prst="rect">
            <a:avLst/>
          </a:prstGeom>
          <a:noFill/>
        </p:spPr>
        <p:txBody>
          <a:bodyPr wrap="square">
            <a:spAutoFit/>
          </a:bodyPr>
          <a:lstStyle/>
          <a:p>
            <a:pPr algn="l">
              <a:lnSpc>
                <a:spcPct val="115000"/>
              </a:lnSpc>
            </a:pPr>
            <a:r>
              <a:rPr sz="4400" b="1" i="0">
                <a:solidFill>
                  <a:srgbClr val="15150F"/>
                </a:solidFill>
                <a:latin typeface="Calibri"/>
              </a:rPr>
              <a:t>¿Qué hace que un título sea popular en Netflix?</a:t>
            </a:r>
          </a:p>
        </p:txBody>
      </p:sp>
      <p:sp>
        <p:nvSpPr>
          <p:cNvPr id="5" name="TextBox 4"/>
          <p:cNvSpPr txBox="1"/>
          <p:nvPr/>
        </p:nvSpPr>
        <p:spPr>
          <a:xfrm>
            <a:off x="640080" y="4206240"/>
            <a:ext cx="10881360" cy="914400"/>
          </a:xfrm>
          <a:prstGeom prst="rect">
            <a:avLst/>
          </a:prstGeom>
          <a:noFill/>
        </p:spPr>
        <p:txBody>
          <a:bodyPr wrap="square">
            <a:spAutoFit/>
          </a:bodyPr>
          <a:lstStyle/>
          <a:p>
            <a:pPr algn="l">
              <a:lnSpc>
                <a:spcPct val="115000"/>
              </a:lnSpc>
            </a:pPr>
            <a:r>
              <a:rPr sz="1700" b="0" i="0" dirty="0">
                <a:solidFill>
                  <a:srgbClr val="5B594C"/>
                </a:solidFill>
                <a:latin typeface="Calibri"/>
              </a:rPr>
              <a:t>31.991 </a:t>
            </a:r>
            <a:r>
              <a:rPr sz="1700" b="0" i="0" dirty="0" err="1">
                <a:solidFill>
                  <a:srgbClr val="5B594C"/>
                </a:solidFill>
                <a:latin typeface="Calibri"/>
              </a:rPr>
              <a:t>títulos</a:t>
            </a:r>
            <a:r>
              <a:rPr sz="1700" b="0" i="0" dirty="0">
                <a:solidFill>
                  <a:srgbClr val="5B594C"/>
                </a:solidFill>
                <a:latin typeface="Calibri"/>
              </a:rPr>
              <a:t>. Una </a:t>
            </a:r>
            <a:r>
              <a:rPr sz="1700" b="0" i="0" dirty="0" err="1">
                <a:solidFill>
                  <a:srgbClr val="5B594C"/>
                </a:solidFill>
                <a:latin typeface="Calibri"/>
              </a:rPr>
              <a:t>pregunta</a:t>
            </a:r>
            <a:r>
              <a:rPr sz="1700" b="0" i="0" dirty="0">
                <a:solidFill>
                  <a:srgbClr val="5B594C"/>
                </a:solidFill>
                <a:latin typeface="Calibri"/>
              </a:rPr>
              <a:t> con </a:t>
            </a:r>
            <a:r>
              <a:rPr sz="1700" b="0" i="0" dirty="0" err="1">
                <a:solidFill>
                  <a:srgbClr val="5B594C"/>
                </a:solidFill>
                <a:latin typeface="Calibri"/>
              </a:rPr>
              <a:t>una</a:t>
            </a:r>
            <a:r>
              <a:rPr sz="1700" b="0" i="0" dirty="0">
                <a:solidFill>
                  <a:srgbClr val="5B594C"/>
                </a:solidFill>
                <a:latin typeface="Calibri"/>
              </a:rPr>
              <a:t> </a:t>
            </a:r>
            <a:r>
              <a:rPr sz="1700" b="0" i="0" dirty="0" err="1">
                <a:solidFill>
                  <a:srgbClr val="5B594C"/>
                </a:solidFill>
                <a:latin typeface="Calibri"/>
              </a:rPr>
              <a:t>respuesta</a:t>
            </a:r>
            <a:r>
              <a:rPr sz="1700" b="0" i="0" dirty="0">
                <a:solidFill>
                  <a:srgbClr val="5B594C"/>
                </a:solidFill>
                <a:latin typeface="Calibri"/>
              </a:rPr>
              <a:t> </a:t>
            </a:r>
            <a:r>
              <a:rPr sz="1700" b="0" i="0" dirty="0" err="1">
                <a:solidFill>
                  <a:srgbClr val="5B594C"/>
                </a:solidFill>
                <a:latin typeface="Calibri"/>
              </a:rPr>
              <a:t>que</a:t>
            </a:r>
            <a:r>
              <a:rPr sz="1700" b="0" i="0" dirty="0">
                <a:solidFill>
                  <a:srgbClr val="5B594C"/>
                </a:solidFill>
                <a:latin typeface="Calibri"/>
              </a:rPr>
              <a:t> no es la </a:t>
            </a:r>
            <a:r>
              <a:rPr sz="1700" b="0" i="0" dirty="0" err="1">
                <a:solidFill>
                  <a:srgbClr val="5B594C"/>
                </a:solidFill>
                <a:latin typeface="Calibri"/>
              </a:rPr>
              <a:t>que</a:t>
            </a:r>
            <a:r>
              <a:rPr sz="1700" b="0" i="0" dirty="0">
                <a:solidFill>
                  <a:srgbClr val="5B594C"/>
                </a:solidFill>
                <a:latin typeface="Calibri"/>
              </a:rPr>
              <a:t> se </a:t>
            </a:r>
            <a:r>
              <a:rPr sz="1700" b="0" i="0" dirty="0" err="1">
                <a:solidFill>
                  <a:srgbClr val="5B594C"/>
                </a:solidFill>
                <a:latin typeface="Calibri"/>
              </a:rPr>
              <a:t>espera</a:t>
            </a:r>
            <a:r>
              <a:rPr sz="1700" b="0" i="0" dirty="0">
                <a:solidFill>
                  <a:srgbClr val="5B594C"/>
                </a:solidFill>
                <a:latin typeface="Calibri"/>
              </a:rPr>
              <a:t>.</a:t>
            </a:r>
          </a:p>
        </p:txBody>
      </p:sp>
      <p:pic>
        <p:nvPicPr>
          <p:cNvPr id="6" name="Picture 5" descr="Archivo:Logo DuocUC.svg - Wikipedia, la enciclopedia libre">
            <a:extLst>
              <a:ext uri="{FF2B5EF4-FFF2-40B4-BE49-F238E27FC236}">
                <a16:creationId xmlns:a16="http://schemas.microsoft.com/office/drawing/2014/main" id="{E338B0EC-202D-7DD0-F852-BDAB5081D0A8}"/>
              </a:ext>
            </a:extLst>
          </p:cNvPr>
          <p:cNvPicPr>
            <a:picLocks noChangeAspect="1"/>
          </p:cNvPicPr>
          <p:nvPr/>
        </p:nvPicPr>
        <p:blipFill>
          <a:blip r:embed="rId3"/>
          <a:stretch>
            <a:fillRect/>
          </a:stretch>
        </p:blipFill>
        <p:spPr>
          <a:xfrm>
            <a:off x="640080" y="510685"/>
            <a:ext cx="4028378" cy="990310"/>
          </a:xfrm>
          <a:prstGeom prst="rect">
            <a:avLst/>
          </a:prstGeom>
        </p:spPr>
      </p:pic>
      <p:sp>
        <p:nvSpPr>
          <p:cNvPr id="8" name="TextBox 7">
            <a:extLst>
              <a:ext uri="{FF2B5EF4-FFF2-40B4-BE49-F238E27FC236}">
                <a16:creationId xmlns:a16="http://schemas.microsoft.com/office/drawing/2014/main" id="{88D2B048-4746-8F87-1D6A-C9C66CACF91D}"/>
              </a:ext>
            </a:extLst>
          </p:cNvPr>
          <p:cNvSpPr txBox="1"/>
          <p:nvPr/>
        </p:nvSpPr>
        <p:spPr>
          <a:xfrm>
            <a:off x="640080" y="4722541"/>
            <a:ext cx="10881360" cy="375552"/>
          </a:xfrm>
          <a:prstGeom prst="rect">
            <a:avLst/>
          </a:prstGeom>
          <a:noFill/>
        </p:spPr>
        <p:txBody>
          <a:bodyPr wrap="square">
            <a:spAutoFit/>
          </a:bodyPr>
          <a:lstStyle/>
          <a:p>
            <a:pPr algn="l">
              <a:lnSpc>
                <a:spcPct val="115000"/>
              </a:lnSpc>
            </a:pPr>
            <a:r>
              <a:rPr lang="es-419" sz="1700" b="0" i="0" dirty="0">
                <a:solidFill>
                  <a:srgbClr val="5B594C"/>
                </a:solidFill>
                <a:latin typeface="Calibri"/>
              </a:rPr>
              <a:t>Felipe Ahumada Silva – Francisca Carrasco Lozano</a:t>
            </a:r>
            <a:endParaRPr sz="1700" b="0" i="0" dirty="0">
              <a:solidFill>
                <a:srgbClr val="5B594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AUDIENCIA Y ESTRATEGIA DE COMUNICACIÓN</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¿Para quién es esta charla?</a:t>
            </a:r>
          </a:p>
        </p:txBody>
      </p:sp>
      <p:sp>
        <p:nvSpPr>
          <p:cNvPr id="5" name="Rectangle 4"/>
          <p:cNvSpPr/>
          <p:nvPr/>
        </p:nvSpPr>
        <p:spPr>
          <a:xfrm>
            <a:off x="640080" y="1874519"/>
            <a:ext cx="3474720" cy="1417320"/>
          </a:xfrm>
          <a:prstGeom prst="rect">
            <a:avLst/>
          </a:prstGeom>
          <a:solidFill>
            <a:srgbClr val="FFFFFF"/>
          </a:solidFill>
          <a:ln w="25400">
            <a:solidFill>
              <a:srgbClr val="C85526"/>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37160" rtlCol="0" anchor="ctr"/>
          <a:lstStyle/>
          <a:p>
            <a:pPr algn="ctr"/>
            <a:r>
              <a:rPr sz="1400" b="1">
                <a:solidFill>
                  <a:srgbClr val="15150F"/>
                </a:solidFill>
              </a:rPr>
              <a:t>Directorio</a:t>
            </a:r>
          </a:p>
          <a:p>
            <a:pPr>
              <a:lnSpc>
                <a:spcPct val="110000"/>
              </a:lnSpc>
            </a:pPr>
            <a:r>
              <a:rPr sz="1050">
                <a:solidFill>
                  <a:srgbClr val="5B594C"/>
                </a:solidFill>
              </a:rPr>
              <a:t>Indicadores consolidados, tendencias, comparaciones,
recomendaciones ejecutivas.</a:t>
            </a:r>
          </a:p>
        </p:txBody>
      </p:sp>
      <p:sp>
        <p:nvSpPr>
          <p:cNvPr id="6" name="Rectangle 5"/>
          <p:cNvSpPr/>
          <p:nvPr/>
        </p:nvSpPr>
        <p:spPr>
          <a:xfrm>
            <a:off x="4343400" y="1874519"/>
            <a:ext cx="3474720" cy="1417320"/>
          </a:xfrm>
          <a:prstGeom prst="rect">
            <a:avLst/>
          </a:prstGeom>
          <a:solidFill>
            <a:srgbClr val="FFFFFF"/>
          </a:solidFill>
          <a:ln w="25400">
            <a:solidFill>
              <a:srgbClr val="C85526"/>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37160" rtlCol="0" anchor="ctr"/>
          <a:lstStyle/>
          <a:p>
            <a:pPr algn="ctr"/>
            <a:r>
              <a:rPr sz="1400" b="1">
                <a:solidFill>
                  <a:srgbClr val="15150F"/>
                </a:solidFill>
              </a:rPr>
              <a:t>Gerencia General</a:t>
            </a:r>
          </a:p>
          <a:p>
            <a:pPr>
              <a:lnSpc>
                <a:spcPct val="110000"/>
              </a:lnSpc>
            </a:pPr>
            <a:r>
              <a:rPr sz="1050">
                <a:solidFill>
                  <a:srgbClr val="5B594C"/>
                </a:solidFill>
              </a:rPr>
              <a:t>Visión global del catálogo para la planificación
estratégica.</a:t>
            </a:r>
          </a:p>
        </p:txBody>
      </p:sp>
      <p:sp>
        <p:nvSpPr>
          <p:cNvPr id="7" name="Rectangle 6"/>
          <p:cNvSpPr/>
          <p:nvPr/>
        </p:nvSpPr>
        <p:spPr>
          <a:xfrm>
            <a:off x="8046720" y="1874519"/>
            <a:ext cx="3474720" cy="1417320"/>
          </a:xfrm>
          <a:prstGeom prst="rect">
            <a:avLst/>
          </a:prstGeom>
          <a:solidFill>
            <a:srgbClr val="FFFFFF"/>
          </a:solid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37160" rtlCol="0" anchor="ctr"/>
          <a:lstStyle/>
          <a:p>
            <a:pPr algn="ctr"/>
            <a:r>
              <a:rPr sz="1400" b="1">
                <a:solidFill>
                  <a:srgbClr val="15150F"/>
                </a:solidFill>
              </a:rPr>
              <a:t>Contenidos y Adquisición</a:t>
            </a:r>
          </a:p>
          <a:p>
            <a:pPr>
              <a:lnSpc>
                <a:spcPct val="110000"/>
              </a:lnSpc>
            </a:pPr>
            <a:r>
              <a:rPr sz="1050">
                <a:solidFill>
                  <a:srgbClr val="5B594C"/>
                </a:solidFill>
              </a:rPr>
              <a:t>Géneros, países y títulos con mayor potencial
estratégico.</a:t>
            </a:r>
          </a:p>
        </p:txBody>
      </p:sp>
      <p:sp>
        <p:nvSpPr>
          <p:cNvPr id="8" name="Rectangle 7"/>
          <p:cNvSpPr/>
          <p:nvPr/>
        </p:nvSpPr>
        <p:spPr>
          <a:xfrm>
            <a:off x="640080" y="3520439"/>
            <a:ext cx="3474720" cy="1417320"/>
          </a:xfrm>
          <a:prstGeom prst="rect">
            <a:avLst/>
          </a:prstGeom>
          <a:solidFill>
            <a:srgbClr val="FFFFFF"/>
          </a:solid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37160" rtlCol="0" anchor="ctr"/>
          <a:lstStyle/>
          <a:p>
            <a:pPr algn="ctr"/>
            <a:r>
              <a:rPr sz="1400" b="1">
                <a:solidFill>
                  <a:srgbClr val="15150F"/>
                </a:solidFill>
              </a:rPr>
              <a:t>Marketing</a:t>
            </a:r>
          </a:p>
          <a:p>
            <a:pPr>
              <a:lnSpc>
                <a:spcPct val="110000"/>
              </a:lnSpc>
            </a:pPr>
            <a:r>
              <a:rPr sz="1050">
                <a:solidFill>
                  <a:srgbClr val="5B594C"/>
                </a:solidFill>
              </a:rPr>
              <a:t>Contenidos populares, categorías con potencial,
oportunidades comerciales.</a:t>
            </a:r>
          </a:p>
        </p:txBody>
      </p:sp>
      <p:sp>
        <p:nvSpPr>
          <p:cNvPr id="9" name="Rectangle 8"/>
          <p:cNvSpPr/>
          <p:nvPr/>
        </p:nvSpPr>
        <p:spPr>
          <a:xfrm>
            <a:off x="4343400" y="3520439"/>
            <a:ext cx="3474720" cy="1417320"/>
          </a:xfrm>
          <a:prstGeom prst="rect">
            <a:avLst/>
          </a:prstGeom>
          <a:solidFill>
            <a:srgbClr val="FFFFFF"/>
          </a:solid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37160" rtlCol="0" anchor="ctr"/>
          <a:lstStyle/>
          <a:p>
            <a:pPr algn="ctr"/>
            <a:r>
              <a:rPr sz="1400" b="1">
                <a:solidFill>
                  <a:srgbClr val="15150F"/>
                </a:solidFill>
              </a:rPr>
              <a:t>Producto</a:t>
            </a:r>
          </a:p>
          <a:p>
            <a:pPr>
              <a:lnSpc>
                <a:spcPct val="110000"/>
              </a:lnSpc>
            </a:pPr>
            <a:r>
              <a:rPr sz="1050">
                <a:solidFill>
                  <a:srgbClr val="5B594C"/>
                </a:solidFill>
              </a:rPr>
              <a:t>Características del catálogo para la experiencia
de navegación.</a:t>
            </a:r>
          </a:p>
        </p:txBody>
      </p:sp>
      <p:sp>
        <p:nvSpPr>
          <p:cNvPr id="10" name="Rectangle 9"/>
          <p:cNvSpPr/>
          <p:nvPr/>
        </p:nvSpPr>
        <p:spPr>
          <a:xfrm>
            <a:off x="8046720" y="3520439"/>
            <a:ext cx="3474720" cy="1417320"/>
          </a:xfrm>
          <a:prstGeom prst="rect">
            <a:avLst/>
          </a:prstGeom>
          <a:solidFill>
            <a:srgbClr val="FFFFFF"/>
          </a:solid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wrap="square" lIns="164592" tIns="109728" rIns="137160" rtlCol="0" anchor="ctr"/>
          <a:lstStyle/>
          <a:p>
            <a:pPr algn="ctr"/>
            <a:r>
              <a:rPr sz="1400" b="1">
                <a:solidFill>
                  <a:srgbClr val="15150F"/>
                </a:solidFill>
              </a:rPr>
              <a:t>Data &amp; Analytics</a:t>
            </a:r>
          </a:p>
          <a:p>
            <a:pPr>
              <a:lnSpc>
                <a:spcPct val="110000"/>
              </a:lnSpc>
            </a:pPr>
            <a:r>
              <a:rPr sz="1050">
                <a:solidFill>
                  <a:srgbClr val="5B594C"/>
                </a:solidFill>
              </a:rPr>
              <a:t>Mantener los dashboards y asegurar la calidad
de los datos.</a:t>
            </a:r>
          </a:p>
        </p:txBody>
      </p:sp>
      <p:sp>
        <p:nvSpPr>
          <p:cNvPr id="11" name="TextBox 10"/>
          <p:cNvSpPr txBox="1"/>
          <p:nvPr/>
        </p:nvSpPr>
        <p:spPr>
          <a:xfrm>
            <a:off x="640080" y="5074920"/>
            <a:ext cx="10881360" cy="914400"/>
          </a:xfrm>
          <a:prstGeom prst="rect">
            <a:avLst/>
          </a:prstGeom>
          <a:noFill/>
        </p:spPr>
        <p:txBody>
          <a:bodyPr wrap="square">
            <a:spAutoFit/>
          </a:bodyPr>
          <a:lstStyle/>
          <a:p>
            <a:pPr algn="l">
              <a:lnSpc>
                <a:spcPct val="115000"/>
              </a:lnSpc>
            </a:pPr>
            <a:r>
              <a:rPr sz="1350" b="0" i="0">
                <a:solidFill>
                  <a:srgbClr val="5B594C"/>
                </a:solidFill>
                <a:latin typeface="Calibri"/>
              </a:rPr>
              <a:t>Esta charla se diseñó para Directorio y Gerencia General, quienes piden explícitamente indicadores consolidados y recomendaciones ejecutivas.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PROPÓSITO Y ESTRATEGIA DE COMUNICACIÓN</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Por qué esta charla profundiza en un solo hallazgo</a:t>
            </a:r>
          </a:p>
        </p:txBody>
      </p:sp>
      <p:sp>
        <p:nvSpPr>
          <p:cNvPr id="5" name="TextBox 4"/>
          <p:cNvSpPr txBox="1"/>
          <p:nvPr/>
        </p:nvSpPr>
        <p:spPr>
          <a:xfrm>
            <a:off x="640080" y="1874519"/>
            <a:ext cx="10881360" cy="320040"/>
          </a:xfrm>
          <a:prstGeom prst="rect">
            <a:avLst/>
          </a:prstGeom>
          <a:noFill/>
        </p:spPr>
        <p:txBody>
          <a:bodyPr wrap="square">
            <a:spAutoFit/>
          </a:bodyPr>
          <a:lstStyle/>
          <a:p>
            <a:pPr algn="l">
              <a:lnSpc>
                <a:spcPct val="115000"/>
              </a:lnSpc>
            </a:pPr>
            <a:r>
              <a:rPr sz="1200" b="1" i="0">
                <a:solidFill>
                  <a:srgbClr val="15150F"/>
                </a:solidFill>
                <a:latin typeface="Calibri"/>
              </a:rPr>
              <a:t>PROPÓSITO</a:t>
            </a:r>
          </a:p>
        </p:txBody>
      </p:sp>
      <p:sp>
        <p:nvSpPr>
          <p:cNvPr id="6" name="TextBox 5"/>
          <p:cNvSpPr txBox="1"/>
          <p:nvPr/>
        </p:nvSpPr>
        <p:spPr>
          <a:xfrm>
            <a:off x="640080" y="2240280"/>
            <a:ext cx="10881360" cy="914400"/>
          </a:xfrm>
          <a:prstGeom prst="rect">
            <a:avLst/>
          </a:prstGeom>
          <a:noFill/>
        </p:spPr>
        <p:txBody>
          <a:bodyPr wrap="square">
            <a:spAutoFit/>
          </a:bodyPr>
          <a:lstStyle/>
          <a:p>
            <a:pPr algn="l">
              <a:lnSpc>
                <a:spcPct val="115000"/>
              </a:lnSpc>
            </a:pPr>
            <a:r>
              <a:rPr sz="1400" b="0" i="0">
                <a:solidFill>
                  <a:srgbClr val="5B594C"/>
                </a:solidFill>
                <a:latin typeface="Calibri"/>
              </a:rPr>
              <a:t>Los dashboards actuales de StreamView Analytics tienen exceso de información y poca interacción, lo que dificulta decidir. El propósito de esta charla es comunicar un hallazgo accionable con evidencia suficiente para decidir, no repetir ese exceso de información.</a:t>
            </a:r>
          </a:p>
        </p:txBody>
      </p:sp>
      <p:sp>
        <p:nvSpPr>
          <p:cNvPr id="7" name="TextBox 6"/>
          <p:cNvSpPr txBox="1"/>
          <p:nvPr/>
        </p:nvSpPr>
        <p:spPr>
          <a:xfrm>
            <a:off x="640080" y="3703320"/>
            <a:ext cx="10881360" cy="320040"/>
          </a:xfrm>
          <a:prstGeom prst="rect">
            <a:avLst/>
          </a:prstGeom>
          <a:noFill/>
        </p:spPr>
        <p:txBody>
          <a:bodyPr wrap="square">
            <a:spAutoFit/>
          </a:bodyPr>
          <a:lstStyle/>
          <a:p>
            <a:pPr algn="l">
              <a:lnSpc>
                <a:spcPct val="115000"/>
              </a:lnSpc>
            </a:pPr>
            <a:r>
              <a:rPr sz="1200" b="1" i="0">
                <a:solidFill>
                  <a:srgbClr val="15150F"/>
                </a:solidFill>
                <a:latin typeface="Calibri"/>
              </a:rPr>
              <a:t>ESTRATEGIA</a:t>
            </a:r>
          </a:p>
        </p:txBody>
      </p:sp>
      <p:sp>
        <p:nvSpPr>
          <p:cNvPr id="8" name="TextBox 7"/>
          <p:cNvSpPr txBox="1"/>
          <p:nvPr/>
        </p:nvSpPr>
        <p:spPr>
          <a:xfrm>
            <a:off x="640080" y="4069080"/>
            <a:ext cx="10881360" cy="914400"/>
          </a:xfrm>
          <a:prstGeom prst="rect">
            <a:avLst/>
          </a:prstGeom>
          <a:noFill/>
        </p:spPr>
        <p:txBody>
          <a:bodyPr wrap="square">
            <a:spAutoFit/>
          </a:bodyPr>
          <a:lstStyle/>
          <a:p>
            <a:pPr algn="l">
              <a:lnSpc>
                <a:spcPct val="115000"/>
              </a:lnSpc>
            </a:pPr>
            <a:r>
              <a:rPr sz="1400" b="0" i="0">
                <a:solidFill>
                  <a:srgbClr val="5B594C"/>
                </a:solidFill>
                <a:latin typeface="Calibri"/>
              </a:rPr>
              <a:t>Directorio y Gerencia General piden indicadores consolidados y recomendaciones ejecutivas, no un inventario de los 8 objetivos específicos del caso. Por eso se eligió profundidad sobre amplitud, un hallazgo, cuatro evidencias, una recomendación. Los 8 objetivos sí se cubren en detalle en el notebook (17 visualizaciones) y el dashboard (3 perfiles de usuario) que acompañan esta charla.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EL CATÁLOGO</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Antes de responder, un vistazo a los datos</a:t>
            </a:r>
          </a:p>
        </p:txBody>
      </p:sp>
      <p:sp>
        <p:nvSpPr>
          <p:cNvPr id="5" name="Rectangle 4"/>
          <p:cNvSpPr/>
          <p:nvPr/>
        </p:nvSpPr>
        <p:spPr>
          <a:xfrm>
            <a:off x="640080" y="2377440"/>
            <a:ext cx="2103120" cy="1463040"/>
          </a:xfrm>
          <a:prstGeom prst="rect">
            <a:avLst/>
          </a:prstGeom>
          <a:solidFill>
            <a:srgbClr val="FFFFFF"/>
          </a:solid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ctr"/>
            <a:r>
              <a:rPr sz="2400" b="1">
                <a:solidFill>
                  <a:srgbClr val="2A78D6"/>
                </a:solidFill>
              </a:rPr>
              <a:t>31.991</a:t>
            </a:r>
          </a:p>
          <a:p>
            <a:pPr algn="ctr"/>
            <a:r>
              <a:rPr sz="1000">
                <a:solidFill>
                  <a:srgbClr val="918F7F"/>
                </a:solidFill>
              </a:rPr>
              <a:t>TÍTULOS</a:t>
            </a:r>
          </a:p>
        </p:txBody>
      </p:sp>
      <p:sp>
        <p:nvSpPr>
          <p:cNvPr id="6" name="Rectangle 5"/>
          <p:cNvSpPr/>
          <p:nvPr/>
        </p:nvSpPr>
        <p:spPr>
          <a:xfrm>
            <a:off x="2834640" y="2377440"/>
            <a:ext cx="2103120" cy="1463040"/>
          </a:xfrm>
          <a:prstGeom prst="rect">
            <a:avLst/>
          </a:prstGeom>
          <a:solidFill>
            <a:srgbClr val="FFFFFF"/>
          </a:solid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ctr"/>
            <a:r>
              <a:rPr sz="2400" b="1">
                <a:solidFill>
                  <a:srgbClr val="2A78D6"/>
                </a:solidFill>
              </a:rPr>
              <a:t>16.000 / 15.991</a:t>
            </a:r>
          </a:p>
          <a:p>
            <a:pPr algn="ctr"/>
            <a:r>
              <a:rPr sz="1000">
                <a:solidFill>
                  <a:srgbClr val="918F7F"/>
                </a:solidFill>
              </a:rPr>
              <a:t>PELÍCULAS / SERIES</a:t>
            </a:r>
          </a:p>
        </p:txBody>
      </p:sp>
      <p:sp>
        <p:nvSpPr>
          <p:cNvPr id="7" name="Rectangle 6"/>
          <p:cNvSpPr/>
          <p:nvPr/>
        </p:nvSpPr>
        <p:spPr>
          <a:xfrm>
            <a:off x="5029200" y="2377440"/>
            <a:ext cx="2103120" cy="1463040"/>
          </a:xfrm>
          <a:prstGeom prst="rect">
            <a:avLst/>
          </a:prstGeom>
          <a:solidFill>
            <a:srgbClr val="FFFFFF"/>
          </a:solid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ctr"/>
            <a:r>
              <a:rPr sz="2400" b="1">
                <a:solidFill>
                  <a:srgbClr val="2A78D6"/>
                </a:solidFill>
              </a:rPr>
              <a:t>147</a:t>
            </a:r>
          </a:p>
          <a:p>
            <a:pPr algn="ctr"/>
            <a:r>
              <a:rPr sz="1000">
                <a:solidFill>
                  <a:srgbClr val="918F7F"/>
                </a:solidFill>
              </a:rPr>
              <a:t>PAÍSES</a:t>
            </a:r>
          </a:p>
        </p:txBody>
      </p:sp>
      <p:sp>
        <p:nvSpPr>
          <p:cNvPr id="8" name="Rectangle 7"/>
          <p:cNvSpPr/>
          <p:nvPr/>
        </p:nvSpPr>
        <p:spPr>
          <a:xfrm>
            <a:off x="7223760" y="2377440"/>
            <a:ext cx="2103120" cy="1463040"/>
          </a:xfrm>
          <a:prstGeom prst="rect">
            <a:avLst/>
          </a:prstGeom>
          <a:solidFill>
            <a:srgbClr val="FFFFFF"/>
          </a:solid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ctr"/>
            <a:r>
              <a:rPr sz="2400" b="1">
                <a:solidFill>
                  <a:srgbClr val="2A78D6"/>
                </a:solidFill>
              </a:rPr>
              <a:t>83</a:t>
            </a:r>
          </a:p>
          <a:p>
            <a:pPr algn="ctr"/>
            <a:r>
              <a:rPr sz="1000">
                <a:solidFill>
                  <a:srgbClr val="918F7F"/>
                </a:solidFill>
              </a:rPr>
              <a:t>IDIOMAS</a:t>
            </a:r>
          </a:p>
        </p:txBody>
      </p:sp>
      <p:sp>
        <p:nvSpPr>
          <p:cNvPr id="9" name="Rectangle 8"/>
          <p:cNvSpPr/>
          <p:nvPr/>
        </p:nvSpPr>
        <p:spPr>
          <a:xfrm>
            <a:off x="9418320" y="2377440"/>
            <a:ext cx="2103120" cy="1463040"/>
          </a:xfrm>
          <a:prstGeom prst="rect">
            <a:avLst/>
          </a:prstGeom>
          <a:solidFill>
            <a:srgbClr val="FFFFFF"/>
          </a:solid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wrap="square" lIns="137160" rtlCol="0" anchor="ctr"/>
          <a:lstStyle/>
          <a:p>
            <a:pPr algn="ctr"/>
            <a:r>
              <a:rPr sz="2400" b="1">
                <a:solidFill>
                  <a:srgbClr val="2A78D6"/>
                </a:solidFill>
              </a:rPr>
              <a:t>24</a:t>
            </a:r>
          </a:p>
          <a:p>
            <a:pPr algn="ctr"/>
            <a:r>
              <a:rPr sz="1000">
                <a:solidFill>
                  <a:srgbClr val="918F7F"/>
                </a:solidFill>
              </a:rPr>
              <a:t>GÉNEROS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CARACTERIZACIÓN · GÉNERO</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Drama y Comedia dominan, el resto se reparte gradual</a:t>
            </a:r>
          </a:p>
        </p:txBody>
      </p:sp>
      <p:pic>
        <p:nvPicPr>
          <p:cNvPr id="5" name="Picture 4" descr="v3_top_generos.png"/>
          <p:cNvPicPr>
            <a:picLocks noChangeAspect="1"/>
          </p:cNvPicPr>
          <p:nvPr/>
        </p:nvPicPr>
        <p:blipFill>
          <a:blip r:embed="rId3"/>
          <a:stretch>
            <a:fillRect/>
          </a:stretch>
        </p:blipFill>
        <p:spPr>
          <a:xfrm>
            <a:off x="640080" y="1737360"/>
            <a:ext cx="10881360" cy="4062374"/>
          </a:xfrm>
          <a:prstGeom prst="rect">
            <a:avLst/>
          </a:prstGeom>
        </p:spPr>
      </p:pic>
      <p:sp>
        <p:nvSpPr>
          <p:cNvPr id="6" name="Rectangle 5"/>
          <p:cNvSpPr/>
          <p:nvPr/>
        </p:nvSpPr>
        <p:spPr>
          <a:xfrm>
            <a:off x="640080" y="1737360"/>
            <a:ext cx="10881360" cy="4062374"/>
          </a:xfrm>
          <a:prstGeom prst="rect">
            <a:avLst/>
          </a:prstGeom>
          <a:no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CARACTERIZACIÓN · PAÍS E IDIOMA</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147 países y 83 idiomas, pero el catálogo se concentra fuerte</a:t>
            </a:r>
          </a:p>
        </p:txBody>
      </p:sp>
      <p:pic>
        <p:nvPicPr>
          <p:cNvPr id="5" name="Picture 4" descr="v5_top_paises.png"/>
          <p:cNvPicPr>
            <a:picLocks noChangeAspect="1"/>
          </p:cNvPicPr>
          <p:nvPr/>
        </p:nvPicPr>
        <p:blipFill>
          <a:blip r:embed="rId3"/>
          <a:stretch>
            <a:fillRect/>
          </a:stretch>
        </p:blipFill>
        <p:spPr>
          <a:xfrm>
            <a:off x="457200" y="1737360"/>
            <a:ext cx="5577840" cy="2082394"/>
          </a:xfrm>
          <a:prstGeom prst="rect">
            <a:avLst/>
          </a:prstGeom>
        </p:spPr>
      </p:pic>
      <p:sp>
        <p:nvSpPr>
          <p:cNvPr id="6" name="Rectangle 5"/>
          <p:cNvSpPr/>
          <p:nvPr/>
        </p:nvSpPr>
        <p:spPr>
          <a:xfrm>
            <a:off x="457200" y="1737360"/>
            <a:ext cx="5577840" cy="2082394"/>
          </a:xfrm>
          <a:prstGeom prst="rect">
            <a:avLst/>
          </a:prstGeom>
          <a:no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v17_idiomas_predominantes.png"/>
          <p:cNvPicPr>
            <a:picLocks noChangeAspect="1"/>
          </p:cNvPicPr>
          <p:nvPr/>
        </p:nvPicPr>
        <p:blipFill>
          <a:blip r:embed="rId4"/>
          <a:stretch>
            <a:fillRect/>
          </a:stretch>
        </p:blipFill>
        <p:spPr>
          <a:xfrm>
            <a:off x="6172200" y="1737360"/>
            <a:ext cx="5577840" cy="3123590"/>
          </a:xfrm>
          <a:prstGeom prst="rect">
            <a:avLst/>
          </a:prstGeom>
        </p:spPr>
      </p:pic>
      <p:sp>
        <p:nvSpPr>
          <p:cNvPr id="8" name="Rectangle 7"/>
          <p:cNvSpPr/>
          <p:nvPr/>
        </p:nvSpPr>
        <p:spPr>
          <a:xfrm>
            <a:off x="6172200" y="1737360"/>
            <a:ext cx="5577840" cy="3123590"/>
          </a:xfrm>
          <a:prstGeom prst="rect">
            <a:avLst/>
          </a:prstGeom>
          <a:no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ANTES DE SEGUIR · CALIDAD DE DATOS</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Un catálogo perfectamente parejo no es una tendencia, es una alerta</a:t>
            </a:r>
          </a:p>
        </p:txBody>
      </p:sp>
      <p:pic>
        <p:nvPicPr>
          <p:cNvPr id="5" name="Picture 4" descr="v10_uniformidad_anual.png"/>
          <p:cNvPicPr>
            <a:picLocks noChangeAspect="1"/>
          </p:cNvPicPr>
          <p:nvPr/>
        </p:nvPicPr>
        <p:blipFill>
          <a:blip r:embed="rId3"/>
          <a:stretch>
            <a:fillRect/>
          </a:stretch>
        </p:blipFill>
        <p:spPr>
          <a:xfrm>
            <a:off x="1463040" y="1837075"/>
            <a:ext cx="9235440" cy="4243685"/>
          </a:xfrm>
          <a:prstGeom prst="rect">
            <a:avLst/>
          </a:prstGeom>
        </p:spPr>
      </p:pic>
      <p:sp>
        <p:nvSpPr>
          <p:cNvPr id="6" name="Rectangle 5"/>
          <p:cNvSpPr/>
          <p:nvPr/>
        </p:nvSpPr>
        <p:spPr>
          <a:xfrm>
            <a:off x="1463040" y="1737360"/>
            <a:ext cx="9235440" cy="4243685"/>
          </a:xfrm>
          <a:prstGeom prst="rect">
            <a:avLst/>
          </a:prstGeom>
          <a:no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LA RESPUESTA</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La popularidad no depende de la calificación</a:t>
            </a:r>
          </a:p>
        </p:txBody>
      </p:sp>
      <p:pic>
        <p:nvPicPr>
          <p:cNvPr id="5" name="Picture 4" descr="v6_dispersion_popularidad_calificacion.png"/>
          <p:cNvPicPr>
            <a:picLocks noChangeAspect="1"/>
          </p:cNvPicPr>
          <p:nvPr/>
        </p:nvPicPr>
        <p:blipFill>
          <a:blip r:embed="rId3"/>
          <a:stretch>
            <a:fillRect/>
          </a:stretch>
        </p:blipFill>
        <p:spPr>
          <a:xfrm>
            <a:off x="1783080" y="1737360"/>
            <a:ext cx="8595360" cy="4813402"/>
          </a:xfrm>
          <a:prstGeom prst="rect">
            <a:avLst/>
          </a:prstGeom>
        </p:spPr>
      </p:pic>
      <p:sp>
        <p:nvSpPr>
          <p:cNvPr id="6" name="Rectangle 5"/>
          <p:cNvSpPr/>
          <p:nvPr/>
        </p:nvSpPr>
        <p:spPr>
          <a:xfrm>
            <a:off x="1783080" y="1737360"/>
            <a:ext cx="8595360" cy="4813402"/>
          </a:xfrm>
          <a:prstGeom prst="rect">
            <a:avLst/>
          </a:prstGeom>
          <a:no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EVIDENCIA 1 DE 4</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Lo más visto no es lo mejor evaluado</a:t>
            </a:r>
          </a:p>
        </p:txBody>
      </p:sp>
      <p:pic>
        <p:nvPicPr>
          <p:cNvPr id="5" name="Picture 4" descr="v7_top10_populares.png"/>
          <p:cNvPicPr>
            <a:picLocks noChangeAspect="1"/>
          </p:cNvPicPr>
          <p:nvPr/>
        </p:nvPicPr>
        <p:blipFill>
          <a:blip r:embed="rId3"/>
          <a:stretch>
            <a:fillRect/>
          </a:stretch>
        </p:blipFill>
        <p:spPr>
          <a:xfrm>
            <a:off x="2103120" y="1600200"/>
            <a:ext cx="7955279" cy="4394345"/>
          </a:xfrm>
          <a:prstGeom prst="rect">
            <a:avLst/>
          </a:prstGeom>
        </p:spPr>
      </p:pic>
      <p:sp>
        <p:nvSpPr>
          <p:cNvPr id="6" name="Rectangle 5"/>
          <p:cNvSpPr/>
          <p:nvPr/>
        </p:nvSpPr>
        <p:spPr>
          <a:xfrm>
            <a:off x="2103120" y="1600200"/>
            <a:ext cx="7955279" cy="4394345"/>
          </a:xfrm>
          <a:prstGeom prst="rect">
            <a:avLst/>
          </a:prstGeom>
          <a:no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EVIDENCIA 2 DE 4</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Los géneros más populares son los peor evaluados</a:t>
            </a:r>
          </a:p>
        </p:txBody>
      </p:sp>
      <p:pic>
        <p:nvPicPr>
          <p:cNvPr id="5" name="Picture 4" descr="v16_calificacion_por_genero.png"/>
          <p:cNvPicPr>
            <a:picLocks noChangeAspect="1"/>
          </p:cNvPicPr>
          <p:nvPr/>
        </p:nvPicPr>
        <p:blipFill>
          <a:blip r:embed="rId3"/>
          <a:stretch>
            <a:fillRect/>
          </a:stretch>
        </p:blipFill>
        <p:spPr>
          <a:xfrm>
            <a:off x="2103120" y="1600200"/>
            <a:ext cx="7955279" cy="4454956"/>
          </a:xfrm>
          <a:prstGeom prst="rect">
            <a:avLst/>
          </a:prstGeom>
        </p:spPr>
      </p:pic>
      <p:sp>
        <p:nvSpPr>
          <p:cNvPr id="6" name="Rectangle 5"/>
          <p:cNvSpPr/>
          <p:nvPr/>
        </p:nvSpPr>
        <p:spPr>
          <a:xfrm>
            <a:off x="2103120" y="1600200"/>
            <a:ext cx="7955279" cy="4454956"/>
          </a:xfrm>
          <a:prstGeom prst="rect">
            <a:avLst/>
          </a:prstGeom>
          <a:no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EVIDENCIA 3 DE 4</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Nicho contra blockbuster, dos rankings que no se cruzan</a:t>
            </a:r>
          </a:p>
        </p:txBody>
      </p:sp>
      <p:pic>
        <p:nvPicPr>
          <p:cNvPr id="5" name="Picture 4" descr="v14_top10_mejor_evaluados.png"/>
          <p:cNvPicPr>
            <a:picLocks noChangeAspect="1"/>
          </p:cNvPicPr>
          <p:nvPr/>
        </p:nvPicPr>
        <p:blipFill>
          <a:blip r:embed="rId3"/>
          <a:stretch>
            <a:fillRect/>
          </a:stretch>
        </p:blipFill>
        <p:spPr>
          <a:xfrm>
            <a:off x="457200" y="1737360"/>
            <a:ext cx="5577840" cy="3081093"/>
          </a:xfrm>
          <a:prstGeom prst="rect">
            <a:avLst/>
          </a:prstGeom>
        </p:spPr>
      </p:pic>
      <p:sp>
        <p:nvSpPr>
          <p:cNvPr id="6" name="Rectangle 5"/>
          <p:cNvSpPr/>
          <p:nvPr/>
        </p:nvSpPr>
        <p:spPr>
          <a:xfrm>
            <a:off x="457200" y="1737360"/>
            <a:ext cx="5577840" cy="3081093"/>
          </a:xfrm>
          <a:prstGeom prst="rect">
            <a:avLst/>
          </a:prstGeom>
          <a:no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v15_top10_mas_votados.png"/>
          <p:cNvPicPr>
            <a:picLocks noChangeAspect="1"/>
          </p:cNvPicPr>
          <p:nvPr/>
        </p:nvPicPr>
        <p:blipFill>
          <a:blip r:embed="rId4"/>
          <a:stretch>
            <a:fillRect/>
          </a:stretch>
        </p:blipFill>
        <p:spPr>
          <a:xfrm>
            <a:off x="6172200" y="1737360"/>
            <a:ext cx="5577840" cy="3081093"/>
          </a:xfrm>
          <a:prstGeom prst="rect">
            <a:avLst/>
          </a:prstGeom>
        </p:spPr>
      </p:pic>
      <p:sp>
        <p:nvSpPr>
          <p:cNvPr id="8" name="Rectangle 7"/>
          <p:cNvSpPr/>
          <p:nvPr/>
        </p:nvSpPr>
        <p:spPr>
          <a:xfrm>
            <a:off x="6172200" y="1737360"/>
            <a:ext cx="5577840" cy="3081093"/>
          </a:xfrm>
          <a:prstGeom prst="rect">
            <a:avLst/>
          </a:prstGeom>
          <a:no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EVIDENCIA 4 DE 4</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El mismo patrón se repite por país</a:t>
            </a:r>
          </a:p>
        </p:txBody>
      </p:sp>
      <p:pic>
        <p:nvPicPr>
          <p:cNvPr id="5" name="Picture 4" descr="v11_popularidad_por_pais.png"/>
          <p:cNvPicPr>
            <a:picLocks noChangeAspect="1"/>
          </p:cNvPicPr>
          <p:nvPr/>
        </p:nvPicPr>
        <p:blipFill>
          <a:blip r:embed="rId3"/>
          <a:stretch>
            <a:fillRect/>
          </a:stretch>
        </p:blipFill>
        <p:spPr>
          <a:xfrm>
            <a:off x="457200" y="1737360"/>
            <a:ext cx="5577840" cy="3123590"/>
          </a:xfrm>
          <a:prstGeom prst="rect">
            <a:avLst/>
          </a:prstGeom>
        </p:spPr>
      </p:pic>
      <p:sp>
        <p:nvSpPr>
          <p:cNvPr id="6" name="Rectangle 5"/>
          <p:cNvSpPr/>
          <p:nvPr/>
        </p:nvSpPr>
        <p:spPr>
          <a:xfrm>
            <a:off x="457200" y="1737360"/>
            <a:ext cx="5577840" cy="3123590"/>
          </a:xfrm>
          <a:prstGeom prst="rect">
            <a:avLst/>
          </a:prstGeom>
          <a:no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v13_calificacion_por_pais.png"/>
          <p:cNvPicPr>
            <a:picLocks noChangeAspect="1"/>
          </p:cNvPicPr>
          <p:nvPr/>
        </p:nvPicPr>
        <p:blipFill>
          <a:blip r:embed="rId4"/>
          <a:stretch>
            <a:fillRect/>
          </a:stretch>
        </p:blipFill>
        <p:spPr>
          <a:xfrm>
            <a:off x="6172200" y="1737360"/>
            <a:ext cx="5577840" cy="3123590"/>
          </a:xfrm>
          <a:prstGeom prst="rect">
            <a:avLst/>
          </a:prstGeom>
        </p:spPr>
      </p:pic>
      <p:sp>
        <p:nvSpPr>
          <p:cNvPr id="8" name="Rectangle 7"/>
          <p:cNvSpPr/>
          <p:nvPr/>
        </p:nvSpPr>
        <p:spPr>
          <a:xfrm>
            <a:off x="6172200" y="1737360"/>
            <a:ext cx="5577840" cy="3123590"/>
          </a:xfrm>
          <a:prstGeom prst="rect">
            <a:avLst/>
          </a:prstGeom>
          <a:noFill/>
          <a:ln w="9525">
            <a:solidFill>
              <a:srgbClr val="DDD8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JUSTIFICACIÓN TÉCNICA</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Por qué estos tipos de gráfico</a:t>
            </a:r>
          </a:p>
        </p:txBody>
      </p:sp>
      <p:sp>
        <p:nvSpPr>
          <p:cNvPr id="5" name="TextBox 4"/>
          <p:cNvSpPr txBox="1"/>
          <p:nvPr/>
        </p:nvSpPr>
        <p:spPr>
          <a:xfrm>
            <a:off x="640080" y="1874519"/>
            <a:ext cx="228600" cy="365760"/>
          </a:xfrm>
          <a:prstGeom prst="rect">
            <a:avLst/>
          </a:prstGeom>
          <a:noFill/>
        </p:spPr>
        <p:txBody>
          <a:bodyPr wrap="square">
            <a:spAutoFit/>
          </a:bodyPr>
          <a:lstStyle/>
          <a:p>
            <a:pPr algn="l">
              <a:lnSpc>
                <a:spcPct val="115000"/>
              </a:lnSpc>
            </a:pPr>
            <a:r>
              <a:rPr sz="1400" b="1" i="0">
                <a:solidFill>
                  <a:srgbClr val="C85526"/>
                </a:solidFill>
                <a:latin typeface="Calibri"/>
              </a:rPr>
              <a:t>•</a:t>
            </a:r>
          </a:p>
        </p:txBody>
      </p:sp>
      <p:sp>
        <p:nvSpPr>
          <p:cNvPr id="6" name="TextBox 5"/>
          <p:cNvSpPr txBox="1"/>
          <p:nvPr/>
        </p:nvSpPr>
        <p:spPr>
          <a:xfrm>
            <a:off x="914400" y="1874519"/>
            <a:ext cx="10607040" cy="777240"/>
          </a:xfrm>
          <a:prstGeom prst="rect">
            <a:avLst/>
          </a:prstGeom>
          <a:noFill/>
        </p:spPr>
        <p:txBody>
          <a:bodyPr wrap="square">
            <a:spAutoFit/>
          </a:bodyPr>
          <a:lstStyle/>
          <a:p>
            <a:pPr algn="l">
              <a:lnSpc>
                <a:spcPct val="115000"/>
              </a:lnSpc>
            </a:pPr>
            <a:r>
              <a:rPr sz="1350" b="0" i="0">
                <a:solidFill>
                  <a:srgbClr val="5B594C"/>
                </a:solidFill>
                <a:latin typeface="Calibri"/>
              </a:rPr>
              <a:t>Barras horizontales para rankings de categorías, la posición en un eje común es lo que el ojo compara con más precisión, y permite etiquetas de texto largas sin rotarlas.</a:t>
            </a:r>
          </a:p>
        </p:txBody>
      </p:sp>
      <p:sp>
        <p:nvSpPr>
          <p:cNvPr id="7" name="TextBox 6"/>
          <p:cNvSpPr txBox="1"/>
          <p:nvPr/>
        </p:nvSpPr>
        <p:spPr>
          <a:xfrm>
            <a:off x="640080" y="2715767"/>
            <a:ext cx="228600" cy="365760"/>
          </a:xfrm>
          <a:prstGeom prst="rect">
            <a:avLst/>
          </a:prstGeom>
          <a:noFill/>
        </p:spPr>
        <p:txBody>
          <a:bodyPr wrap="square">
            <a:spAutoFit/>
          </a:bodyPr>
          <a:lstStyle/>
          <a:p>
            <a:pPr algn="l">
              <a:lnSpc>
                <a:spcPct val="115000"/>
              </a:lnSpc>
            </a:pPr>
            <a:r>
              <a:rPr sz="1400" b="1" i="0">
                <a:solidFill>
                  <a:srgbClr val="C85526"/>
                </a:solidFill>
                <a:latin typeface="Calibri"/>
              </a:rPr>
              <a:t>•</a:t>
            </a:r>
          </a:p>
        </p:txBody>
      </p:sp>
      <p:sp>
        <p:nvSpPr>
          <p:cNvPr id="8" name="TextBox 7"/>
          <p:cNvSpPr txBox="1"/>
          <p:nvPr/>
        </p:nvSpPr>
        <p:spPr>
          <a:xfrm>
            <a:off x="914400" y="2715767"/>
            <a:ext cx="10607040" cy="777240"/>
          </a:xfrm>
          <a:prstGeom prst="rect">
            <a:avLst/>
          </a:prstGeom>
          <a:noFill/>
        </p:spPr>
        <p:txBody>
          <a:bodyPr wrap="square">
            <a:spAutoFit/>
          </a:bodyPr>
          <a:lstStyle/>
          <a:p>
            <a:pPr algn="l">
              <a:lnSpc>
                <a:spcPct val="115000"/>
              </a:lnSpc>
            </a:pPr>
            <a:r>
              <a:rPr sz="1350" b="0" i="0">
                <a:solidFill>
                  <a:srgbClr val="5B594C"/>
                </a:solidFill>
                <a:latin typeface="Calibri"/>
              </a:rPr>
              <a:t>Dispersión para la relación popularidad-calificación, el único tipo de gráfico que muestra si dos variables continuas están o no relacionadas, sin presuponer una tendencia.</a:t>
            </a:r>
          </a:p>
        </p:txBody>
      </p:sp>
      <p:sp>
        <p:nvSpPr>
          <p:cNvPr id="9" name="TextBox 8"/>
          <p:cNvSpPr txBox="1"/>
          <p:nvPr/>
        </p:nvSpPr>
        <p:spPr>
          <a:xfrm>
            <a:off x="640080" y="3557015"/>
            <a:ext cx="228600" cy="365760"/>
          </a:xfrm>
          <a:prstGeom prst="rect">
            <a:avLst/>
          </a:prstGeom>
          <a:noFill/>
        </p:spPr>
        <p:txBody>
          <a:bodyPr wrap="square">
            <a:spAutoFit/>
          </a:bodyPr>
          <a:lstStyle/>
          <a:p>
            <a:pPr algn="l">
              <a:lnSpc>
                <a:spcPct val="115000"/>
              </a:lnSpc>
            </a:pPr>
            <a:r>
              <a:rPr sz="1400" b="1" i="0">
                <a:solidFill>
                  <a:srgbClr val="C85526"/>
                </a:solidFill>
                <a:latin typeface="Calibri"/>
              </a:rPr>
              <a:t>•</a:t>
            </a:r>
          </a:p>
        </p:txBody>
      </p:sp>
      <p:sp>
        <p:nvSpPr>
          <p:cNvPr id="10" name="TextBox 9"/>
          <p:cNvSpPr txBox="1"/>
          <p:nvPr/>
        </p:nvSpPr>
        <p:spPr>
          <a:xfrm>
            <a:off x="914400" y="3557015"/>
            <a:ext cx="10607040" cy="777240"/>
          </a:xfrm>
          <a:prstGeom prst="rect">
            <a:avLst/>
          </a:prstGeom>
          <a:noFill/>
        </p:spPr>
        <p:txBody>
          <a:bodyPr wrap="square">
            <a:spAutoFit/>
          </a:bodyPr>
          <a:lstStyle/>
          <a:p>
            <a:pPr algn="l">
              <a:lnSpc>
                <a:spcPct val="115000"/>
              </a:lnSpc>
            </a:pPr>
            <a:r>
              <a:rPr sz="1350" b="0" i="0">
                <a:solidFill>
                  <a:srgbClr val="5B594C"/>
                </a:solidFill>
                <a:latin typeface="Calibri"/>
              </a:rPr>
              <a:t>Líneas para tendencias en el tiempo, preservan el orden temporal y hacen evidente la forma de la serie, incluida la caída artificial de 2025.</a:t>
            </a:r>
          </a:p>
        </p:txBody>
      </p:sp>
      <p:sp>
        <p:nvSpPr>
          <p:cNvPr id="11" name="TextBox 10"/>
          <p:cNvSpPr txBox="1"/>
          <p:nvPr/>
        </p:nvSpPr>
        <p:spPr>
          <a:xfrm>
            <a:off x="640080" y="4398263"/>
            <a:ext cx="228600" cy="365760"/>
          </a:xfrm>
          <a:prstGeom prst="rect">
            <a:avLst/>
          </a:prstGeom>
          <a:noFill/>
        </p:spPr>
        <p:txBody>
          <a:bodyPr wrap="square">
            <a:spAutoFit/>
          </a:bodyPr>
          <a:lstStyle/>
          <a:p>
            <a:pPr algn="l">
              <a:lnSpc>
                <a:spcPct val="115000"/>
              </a:lnSpc>
            </a:pPr>
            <a:r>
              <a:rPr sz="1400" b="1" i="0">
                <a:solidFill>
                  <a:srgbClr val="C85526"/>
                </a:solidFill>
                <a:latin typeface="Calibri"/>
              </a:rPr>
              <a:t>•</a:t>
            </a:r>
          </a:p>
        </p:txBody>
      </p:sp>
      <p:sp>
        <p:nvSpPr>
          <p:cNvPr id="12" name="TextBox 11"/>
          <p:cNvSpPr txBox="1"/>
          <p:nvPr/>
        </p:nvSpPr>
        <p:spPr>
          <a:xfrm>
            <a:off x="914400" y="4398263"/>
            <a:ext cx="10607040" cy="777240"/>
          </a:xfrm>
          <a:prstGeom prst="rect">
            <a:avLst/>
          </a:prstGeom>
          <a:noFill/>
        </p:spPr>
        <p:txBody>
          <a:bodyPr wrap="square">
            <a:spAutoFit/>
          </a:bodyPr>
          <a:lstStyle/>
          <a:p>
            <a:pPr algn="l">
              <a:lnSpc>
                <a:spcPct val="115000"/>
              </a:lnSpc>
            </a:pPr>
            <a:r>
              <a:rPr sz="1350" b="0" i="0">
                <a:solidFill>
                  <a:srgbClr val="5B594C"/>
                </a:solidFill>
                <a:latin typeface="Calibri"/>
              </a:rPr>
              <a:t>Mediana, no promedio, en los rankings de popularidad por país e idioma, esa variable tiene outliers extremos conocidos y un puñado de títulos virales puede definir un promedio sin representar a la categoría.</a:t>
            </a:r>
          </a:p>
        </p:txBody>
      </p:sp>
      <p:sp>
        <p:nvSpPr>
          <p:cNvPr id="13" name="TextBox 12"/>
          <p:cNvSpPr txBox="1"/>
          <p:nvPr/>
        </p:nvSpPr>
        <p:spPr>
          <a:xfrm>
            <a:off x="640080" y="5239511"/>
            <a:ext cx="228600" cy="365760"/>
          </a:xfrm>
          <a:prstGeom prst="rect">
            <a:avLst/>
          </a:prstGeom>
          <a:noFill/>
        </p:spPr>
        <p:txBody>
          <a:bodyPr wrap="square">
            <a:spAutoFit/>
          </a:bodyPr>
          <a:lstStyle/>
          <a:p>
            <a:pPr algn="l">
              <a:lnSpc>
                <a:spcPct val="115000"/>
              </a:lnSpc>
            </a:pPr>
            <a:r>
              <a:rPr sz="1400" b="1" i="0">
                <a:solidFill>
                  <a:srgbClr val="C85526"/>
                </a:solidFill>
                <a:latin typeface="Calibri"/>
              </a:rPr>
              <a:t>•</a:t>
            </a:r>
          </a:p>
        </p:txBody>
      </p:sp>
      <p:sp>
        <p:nvSpPr>
          <p:cNvPr id="14" name="TextBox 13"/>
          <p:cNvSpPr txBox="1"/>
          <p:nvPr/>
        </p:nvSpPr>
        <p:spPr>
          <a:xfrm>
            <a:off x="914400" y="5239511"/>
            <a:ext cx="10607040" cy="777240"/>
          </a:xfrm>
          <a:prstGeom prst="rect">
            <a:avLst/>
          </a:prstGeom>
          <a:noFill/>
        </p:spPr>
        <p:txBody>
          <a:bodyPr wrap="square">
            <a:spAutoFit/>
          </a:bodyPr>
          <a:lstStyle/>
          <a:p>
            <a:pPr algn="l">
              <a:lnSpc>
                <a:spcPct val="115000"/>
              </a:lnSpc>
            </a:pPr>
            <a:r>
              <a:rPr sz="1350" b="0" i="0">
                <a:solidFill>
                  <a:srgbClr val="5B594C"/>
                </a:solidFill>
                <a:latin typeface="Calibri"/>
              </a:rPr>
              <a:t>Un color por rol (azul película, naranjo serie) solo donde el gráfico compara ambos formatos; gris neutro en rankings combinados, para no sugerir un tipo que no corresponde.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45720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RECOMENDACIÓN EJECUTIVA · DIRECTORIO Y GERENCIA GENERAL</a:t>
            </a:r>
          </a:p>
        </p:txBody>
      </p:sp>
      <p:sp>
        <p:nvSpPr>
          <p:cNvPr id="4" name="TextBox 3"/>
          <p:cNvSpPr txBox="1"/>
          <p:nvPr/>
        </p:nvSpPr>
        <p:spPr>
          <a:xfrm>
            <a:off x="640080" y="777240"/>
            <a:ext cx="10881360" cy="1005840"/>
          </a:xfrm>
          <a:prstGeom prst="rect">
            <a:avLst/>
          </a:prstGeom>
          <a:noFill/>
        </p:spPr>
        <p:txBody>
          <a:bodyPr wrap="square">
            <a:spAutoFit/>
          </a:bodyPr>
          <a:lstStyle/>
          <a:p>
            <a:pPr algn="l">
              <a:lnSpc>
                <a:spcPct val="115000"/>
              </a:lnSpc>
            </a:pPr>
            <a:r>
              <a:rPr sz="3000" b="1" i="0">
                <a:solidFill>
                  <a:srgbClr val="15150F"/>
                </a:solidFill>
                <a:latin typeface="Calibri"/>
              </a:rPr>
              <a:t>Popularidad y calidad son dos métricas distintas</a:t>
            </a:r>
          </a:p>
        </p:txBody>
      </p:sp>
      <p:sp>
        <p:nvSpPr>
          <p:cNvPr id="5" name="Oval 4"/>
          <p:cNvSpPr/>
          <p:nvPr/>
        </p:nvSpPr>
        <p:spPr>
          <a:xfrm>
            <a:off x="640080" y="2103120"/>
            <a:ext cx="457200" cy="457200"/>
          </a:xfrm>
          <a:prstGeom prst="ellipse">
            <a:avLst/>
          </a:prstGeom>
          <a:solidFill>
            <a:srgbClr val="C855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1</a:t>
            </a:r>
          </a:p>
        </p:txBody>
      </p:sp>
      <p:sp>
        <p:nvSpPr>
          <p:cNvPr id="6" name="TextBox 5"/>
          <p:cNvSpPr txBox="1"/>
          <p:nvPr/>
        </p:nvSpPr>
        <p:spPr>
          <a:xfrm>
            <a:off x="1325880" y="2084832"/>
            <a:ext cx="10058400" cy="822960"/>
          </a:xfrm>
          <a:prstGeom prst="rect">
            <a:avLst/>
          </a:prstGeom>
          <a:noFill/>
        </p:spPr>
        <p:txBody>
          <a:bodyPr wrap="square">
            <a:spAutoFit/>
          </a:bodyPr>
          <a:lstStyle/>
          <a:p>
            <a:pPr algn="l">
              <a:lnSpc>
                <a:spcPct val="115000"/>
              </a:lnSpc>
            </a:pPr>
            <a:r>
              <a:rPr sz="1500" b="0" i="0">
                <a:solidFill>
                  <a:srgbClr val="5B594C"/>
                </a:solidFill>
                <a:latin typeface="Calibri"/>
              </a:rPr>
              <a:t>No usar vote_average como proxy de éxito, mide algo distinto a lo que la audiencia realmente consume.</a:t>
            </a:r>
          </a:p>
        </p:txBody>
      </p:sp>
      <p:sp>
        <p:nvSpPr>
          <p:cNvPr id="7" name="Oval 6"/>
          <p:cNvSpPr/>
          <p:nvPr/>
        </p:nvSpPr>
        <p:spPr>
          <a:xfrm>
            <a:off x="640080" y="3246120"/>
            <a:ext cx="457200" cy="457200"/>
          </a:xfrm>
          <a:prstGeom prst="ellipse">
            <a:avLst/>
          </a:prstGeom>
          <a:solidFill>
            <a:srgbClr val="C855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2</a:t>
            </a:r>
          </a:p>
        </p:txBody>
      </p:sp>
      <p:sp>
        <p:nvSpPr>
          <p:cNvPr id="8" name="TextBox 7"/>
          <p:cNvSpPr txBox="1"/>
          <p:nvPr/>
        </p:nvSpPr>
        <p:spPr>
          <a:xfrm>
            <a:off x="1325880" y="3227832"/>
            <a:ext cx="10058400" cy="822960"/>
          </a:xfrm>
          <a:prstGeom prst="rect">
            <a:avLst/>
          </a:prstGeom>
          <a:noFill/>
        </p:spPr>
        <p:txBody>
          <a:bodyPr wrap="square">
            <a:spAutoFit/>
          </a:bodyPr>
          <a:lstStyle/>
          <a:p>
            <a:pPr algn="l">
              <a:lnSpc>
                <a:spcPct val="115000"/>
              </a:lnSpc>
            </a:pPr>
            <a:r>
              <a:rPr sz="1500" b="0" i="0">
                <a:solidFill>
                  <a:srgbClr val="5B594C"/>
                </a:solidFill>
                <a:latin typeface="Calibri"/>
              </a:rPr>
              <a:t>La estrategia de adquisición y promoción debería mirar popularidad y calificación por separado, no combinadas.</a:t>
            </a:r>
          </a:p>
        </p:txBody>
      </p:sp>
      <p:sp>
        <p:nvSpPr>
          <p:cNvPr id="9" name="Oval 8"/>
          <p:cNvSpPr/>
          <p:nvPr/>
        </p:nvSpPr>
        <p:spPr>
          <a:xfrm>
            <a:off x="640080" y="4389120"/>
            <a:ext cx="457200" cy="457200"/>
          </a:xfrm>
          <a:prstGeom prst="ellipse">
            <a:avLst/>
          </a:prstGeom>
          <a:solidFill>
            <a:srgbClr val="C855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rPr>
              <a:t>3</a:t>
            </a:r>
          </a:p>
        </p:txBody>
      </p:sp>
      <p:sp>
        <p:nvSpPr>
          <p:cNvPr id="10" name="TextBox 9"/>
          <p:cNvSpPr txBox="1"/>
          <p:nvPr/>
        </p:nvSpPr>
        <p:spPr>
          <a:xfrm>
            <a:off x="1325880" y="4370832"/>
            <a:ext cx="10058400" cy="822960"/>
          </a:xfrm>
          <a:prstGeom prst="rect">
            <a:avLst/>
          </a:prstGeom>
          <a:noFill/>
        </p:spPr>
        <p:txBody>
          <a:bodyPr wrap="square">
            <a:spAutoFit/>
          </a:bodyPr>
          <a:lstStyle/>
          <a:p>
            <a:pPr algn="l">
              <a:lnSpc>
                <a:spcPct val="115000"/>
              </a:lnSpc>
            </a:pPr>
            <a:r>
              <a:rPr sz="1500" b="0" i="0">
                <a:solidFill>
                  <a:srgbClr val="5B594C"/>
                </a:solidFill>
                <a:latin typeface="Calibri"/>
              </a:rPr>
              <a:t>El contenido de nicho y el viral necesitan objetivos de negocio distintos.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5240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2377440"/>
            <a:ext cx="10881360" cy="365760"/>
          </a:xfrm>
          <a:prstGeom prst="rect">
            <a:avLst/>
          </a:prstGeom>
          <a:noFill/>
        </p:spPr>
        <p:txBody>
          <a:bodyPr wrap="square">
            <a:spAutoFit/>
          </a:bodyPr>
          <a:lstStyle/>
          <a:p>
            <a:pPr algn="l">
              <a:lnSpc>
                <a:spcPct val="115000"/>
              </a:lnSpc>
            </a:pPr>
            <a:r>
              <a:rPr sz="1300" b="1" i="0">
                <a:solidFill>
                  <a:srgbClr val="C85526"/>
                </a:solidFill>
                <a:latin typeface="Calibri"/>
              </a:rPr>
              <a:t>CIERRE</a:t>
            </a:r>
          </a:p>
        </p:txBody>
      </p:sp>
      <p:sp>
        <p:nvSpPr>
          <p:cNvPr id="4" name="TextBox 3"/>
          <p:cNvSpPr txBox="1"/>
          <p:nvPr/>
        </p:nvSpPr>
        <p:spPr>
          <a:xfrm>
            <a:off x="640080" y="2834640"/>
            <a:ext cx="10881360" cy="1463040"/>
          </a:xfrm>
          <a:prstGeom prst="rect">
            <a:avLst/>
          </a:prstGeom>
          <a:noFill/>
        </p:spPr>
        <p:txBody>
          <a:bodyPr wrap="square">
            <a:spAutoFit/>
          </a:bodyPr>
          <a:lstStyle/>
          <a:p>
            <a:pPr algn="l">
              <a:lnSpc>
                <a:spcPct val="115000"/>
              </a:lnSpc>
            </a:pPr>
            <a:r>
              <a:rPr sz="3600" b="1" i="0">
                <a:solidFill>
                  <a:srgbClr val="15150F"/>
                </a:solidFill>
                <a:latin typeface="Calibri"/>
              </a:rPr>
              <a:t>Entonces, ¿qué hace que un título sea popular?</a:t>
            </a:r>
          </a:p>
        </p:txBody>
      </p:sp>
      <p:sp>
        <p:nvSpPr>
          <p:cNvPr id="5" name="TextBox 4"/>
          <p:cNvSpPr txBox="1"/>
          <p:nvPr/>
        </p:nvSpPr>
        <p:spPr>
          <a:xfrm>
            <a:off x="640080" y="4206240"/>
            <a:ext cx="10881360" cy="914400"/>
          </a:xfrm>
          <a:prstGeom prst="rect">
            <a:avLst/>
          </a:prstGeom>
          <a:noFill/>
        </p:spPr>
        <p:txBody>
          <a:bodyPr wrap="square">
            <a:spAutoFit/>
          </a:bodyPr>
          <a:lstStyle/>
          <a:p>
            <a:pPr algn="l">
              <a:lnSpc>
                <a:spcPct val="115000"/>
              </a:lnSpc>
            </a:pPr>
            <a:r>
              <a:rPr sz="1700" b="0" i="0">
                <a:solidFill>
                  <a:srgbClr val="5B594C"/>
                </a:solidFill>
                <a:latin typeface="Calibri"/>
              </a:rPr>
              <a:t>No es la calidad. Es otra cosa, y se puede medir por separado. Gracias.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1126</Words>
  <Application>Microsoft Macintosh PowerPoint</Application>
  <PresentationFormat>Widescreen</PresentationFormat>
  <Paragraphs>91</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Presentacion EV1 StreamView Analytics</dc:title>
  <dc:subject/>
  <dc:creator/>
  <cp:keywords/>
  <dc:description/>
  <cp:lastModifiedBy>FRANCISCA ANTONIA CARRASCO LOZANO</cp:lastModifiedBy>
  <cp:revision>2</cp:revision>
  <dcterms:created xsi:type="dcterms:W3CDTF">2026-09-09T11:31:51Z</dcterms:created>
  <dcterms:modified xsi:type="dcterms:W3CDTF">2026-09-09T14:45:03Z</dcterms:modified>
  <cp:category/>
</cp:coreProperties>
</file>