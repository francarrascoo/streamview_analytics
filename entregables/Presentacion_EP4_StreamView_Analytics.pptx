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a6fd7f0f-ce73-cb9f-b667-49037bfb023f}">
          <p14:sldIdLst>
            <p14:sldId id="256"/>
          </p14:sldIdLst>
        </p14:section>
        <p14:section name="Problema y datos" id="{2ad689df-0ac9-2ea6-47b9-d8179123d961}">
          <p14:sldIdLst>
            <p14:sldId id="257"/>
            <p14:sldId id="258"/>
          </p14:sldIdLst>
        </p14:section>
        <p14:section name="Hallazgos" id="{5bcf725e-c781-e9f1-2d25-632fea9fcd32}">
          <p14:sldIdLst>
            <p14:sldId id="259"/>
            <p14:sldId id="260"/>
            <p14:sldId id="261"/>
            <p14:sldId id="262"/>
          </p14:sldIdLst>
        </p14:section>
        <p14:section name="Recomendaciones" id="{790fb422-45c6-4e33-2525-b9b6b942f952}">
          <p14:sldIdLst>
            <p14:sldId id="263"/>
          </p14:sldIdLst>
        </p14:section>
        <p14:section name="Solución" id="{8e4ebdba-9444-800e-ba03-82dee9c0ea7a}">
          <p14:sldIdLst>
            <p14:sldId id="264"/>
            <p14:sldId id="265"/>
            <p14:sldId id="266"/>
          </p14:sldIdLst>
        </p14:section>
        <p14:section name="Evaluación" id="{fad06a9b-2b8f-7f0c-68f8-c676f480cad6}">
          <p14:sldIdLst>
            <p14:sldId id="267"/>
            <p14:sldId id="268"/>
          </p14:sldIdLst>
        </p14:section>
        <p14:section name="Cierre" id="{49d11294-9d4c-25fd-d95f-42b8e3f3bc9d}">
          <p14:sldIdLst>
            <p14:sldId id="269"/>
            <p14:sldId id="270"/>
          </p14:sldIdLst>
        </p14:section>
        <p14:section name="Anexos (respaldo para la defensa)" id="{37ad579c-34f2-9c18-b280-e34f610aff4d}">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g0</c:v>
                </c:pt>
              </c:strCache>
            </c:strRef>
          </c:tx>
          <c:spPr>
            <a:solidFill>
              <a:srgbClr val="0F766E"/>
            </a:solidFill>
            <a:effectLst/>
          </c:spPr>
          <c:invertIfNegative val="0"/>
          <c:dLbls>
            <c:numFmt formatCode="#,##0;;;" sourceLinked="0"/>
            <c:txPr>
              <a:bodyPr/>
              <a:lstStyle/>
              <a:p>
                <a:pPr>
                  <a:defRPr b="0" i="0" strike="noStrike" sz="1200" u="none">
                    <a:solidFill>
                      <a:srgbClr val="3D3C38"/>
                    </a:solidFill>
                    <a:latin typeface="+mn-lt"/>
                  </a:defRPr>
                </a:pPr>
              </a:p>
            </c:txPr>
            <c:showLegendKey val="0"/>
            <c:showVal val="1"/>
            <c:showCatName val="0"/>
            <c:showSerName val="0"/>
            <c:showPercent val="0"/>
            <c:showBubbleSize val="0"/>
            <c:showLeaderLines val="0"/>
          </c:dLbls>
          <c:cat>
            <c:multiLvlStrRef>
              <c:f>Sheet1!$A$2:$A$8</c:f>
              <c:multiLvlStrCache>
                <c:ptCount val="7"/>
                <c:lvl>
                  <c:pt idx="0">
                    <c:v>EE.UU.</c:v>
                  </c:pt>
                  <c:pt idx="1">
                    <c:v>Reino Unido</c:v>
                  </c:pt>
                  <c:pt idx="2">
                    <c:v>Francia</c:v>
                  </c:pt>
                  <c:pt idx="3">
                    <c:v>Canadá</c:v>
                  </c:pt>
                  <c:pt idx="4">
                    <c:v>Japón</c:v>
                  </c:pt>
                  <c:pt idx="5">
                    <c:v>Corea del Sur</c:v>
                  </c:pt>
                  <c:pt idx="6">
                    <c:v>México</c:v>
                  </c:pt>
                </c:lvl>
              </c:multiLvlStrCache>
            </c:multiLvlStrRef>
          </c:cat>
          <c:val>
            <c:numRef>
              <c:f>Sheet1!$B$2:$B$8</c:f>
              <c:numCache>
                <c:formatCode>General</c:formatCode>
                <c:ptCount val="7"/>
                <c:pt idx="0">
                  <c:v>0</c:v>
                </c:pt>
                <c:pt idx="1">
                  <c:v>0</c:v>
                </c:pt>
                <c:pt idx="2">
                  <c:v>0</c:v>
                </c:pt>
                <c:pt idx="3">
                  <c:v>0</c:v>
                </c:pt>
                <c:pt idx="4">
                  <c:v>990</c:v>
                </c:pt>
                <c:pt idx="5">
                  <c:v>875</c:v>
                </c:pt>
                <c:pt idx="6">
                  <c:v>253</c:v>
                </c:pt>
              </c:numCache>
            </c:numRef>
          </c:val>
        </c:ser>
        <c:ser>
          <c:idx val="1"/>
          <c:order val="1"/>
          <c:tx>
            <c:strRef>
              <c:f>Sheet1!$C$1</c:f>
              <c:strCache>
                <c:ptCount val="1"/>
                <c:pt idx="0">
                  <c:v>g1</c:v>
                </c:pt>
              </c:strCache>
            </c:strRef>
          </c:tx>
          <c:spPr>
            <a:solidFill>
              <a:srgbClr val="3D3C38"/>
            </a:solidFill>
            <a:effectLst/>
          </c:spPr>
          <c:invertIfNegative val="0"/>
          <c:dLbls>
            <c:numFmt formatCode="#,##0;;;" sourceLinked="0"/>
            <c:txPr>
              <a:bodyPr/>
              <a:lstStyle/>
              <a:p>
                <a:pPr>
                  <a:defRPr b="0" i="0" strike="noStrike" sz="1200" u="none">
                    <a:solidFill>
                      <a:srgbClr val="3D3C38"/>
                    </a:solidFill>
                    <a:latin typeface="+mn-lt"/>
                  </a:defRPr>
                </a:pPr>
              </a:p>
            </c:txPr>
            <c:showLegendKey val="0"/>
            <c:showVal val="1"/>
            <c:showCatName val="0"/>
            <c:showSerName val="0"/>
            <c:showPercent val="0"/>
            <c:showBubbleSize val="0"/>
            <c:showLeaderLines val="0"/>
          </c:dLbls>
          <c:cat>
            <c:multiLvlStrRef>
              <c:f>Sheet1!$A$2:$A$8</c:f>
              <c:multiLvlStrCache>
                <c:ptCount val="7"/>
                <c:lvl>
                  <c:pt idx="0">
                    <c:v>EE.UU.</c:v>
                  </c:pt>
                  <c:pt idx="1">
                    <c:v>Reino Unido</c:v>
                  </c:pt>
                  <c:pt idx="2">
                    <c:v>Francia</c:v>
                  </c:pt>
                  <c:pt idx="3">
                    <c:v>Canadá</c:v>
                  </c:pt>
                  <c:pt idx="4">
                    <c:v>Japón</c:v>
                  </c:pt>
                  <c:pt idx="5">
                    <c:v>Corea del Sur</c:v>
                  </c:pt>
                  <c:pt idx="6">
                    <c:v>México</c:v>
                  </c:pt>
                </c:lvl>
              </c:multiLvlStrCache>
            </c:multiLvlStrRef>
          </c:cat>
          <c:val>
            <c:numRef>
              <c:f>Sheet1!$C$2:$C$8</c:f>
              <c:numCache>
                <c:formatCode>General</c:formatCode>
                <c:ptCount val="7"/>
                <c:pt idx="0">
                  <c:v>7762</c:v>
                </c:pt>
                <c:pt idx="1">
                  <c:v>0</c:v>
                </c:pt>
                <c:pt idx="2">
                  <c:v>0</c:v>
                </c:pt>
                <c:pt idx="3">
                  <c:v>0</c:v>
                </c:pt>
                <c:pt idx="4">
                  <c:v>0</c:v>
                </c:pt>
                <c:pt idx="5">
                  <c:v>0</c:v>
                </c:pt>
                <c:pt idx="6">
                  <c:v>0</c:v>
                </c:pt>
              </c:numCache>
            </c:numRef>
          </c:val>
        </c:ser>
        <c:ser>
          <c:idx val="2"/>
          <c:order val="2"/>
          <c:tx>
            <c:strRef>
              <c:f>Sheet1!$D$1</c:f>
              <c:strCache>
                <c:ptCount val="1"/>
                <c:pt idx="0">
                  <c:v>g2</c:v>
                </c:pt>
              </c:strCache>
            </c:strRef>
          </c:tx>
          <c:spPr>
            <a:solidFill>
              <a:srgbClr val="C9C7BF"/>
            </a:solidFill>
            <a:effectLst/>
          </c:spPr>
          <c:invertIfNegative val="0"/>
          <c:dLbls>
            <c:numFmt formatCode="#,##0;;;" sourceLinked="0"/>
            <c:txPr>
              <a:bodyPr/>
              <a:lstStyle/>
              <a:p>
                <a:pPr>
                  <a:defRPr b="0" i="0" strike="noStrike" sz="1200" u="none">
                    <a:solidFill>
                      <a:srgbClr val="3D3C38"/>
                    </a:solidFill>
                    <a:latin typeface="+mn-lt"/>
                  </a:defRPr>
                </a:pPr>
              </a:p>
            </c:txPr>
            <c:showLegendKey val="0"/>
            <c:showVal val="1"/>
            <c:showCatName val="0"/>
            <c:showSerName val="0"/>
            <c:showPercent val="0"/>
            <c:showBubbleSize val="0"/>
            <c:showLeaderLines val="0"/>
          </c:dLbls>
          <c:cat>
            <c:multiLvlStrRef>
              <c:f>Sheet1!$A$2:$A$8</c:f>
              <c:multiLvlStrCache>
                <c:ptCount val="7"/>
                <c:lvl>
                  <c:pt idx="0">
                    <c:v>EE.UU.</c:v>
                  </c:pt>
                  <c:pt idx="1">
                    <c:v>Reino Unido</c:v>
                  </c:pt>
                  <c:pt idx="2">
                    <c:v>Francia</c:v>
                  </c:pt>
                  <c:pt idx="3">
                    <c:v>Canadá</c:v>
                  </c:pt>
                  <c:pt idx="4">
                    <c:v>Japón</c:v>
                  </c:pt>
                  <c:pt idx="5">
                    <c:v>Corea del Sur</c:v>
                  </c:pt>
                  <c:pt idx="6">
                    <c:v>México</c:v>
                  </c:pt>
                </c:lvl>
              </c:multiLvlStrCache>
            </c:multiLvlStrRef>
          </c:cat>
          <c:val>
            <c:numRef>
              <c:f>Sheet1!$D$2:$D$8</c:f>
              <c:numCache>
                <c:formatCode>General</c:formatCode>
                <c:ptCount val="7"/>
                <c:pt idx="0">
                  <c:v>0</c:v>
                </c:pt>
                <c:pt idx="1">
                  <c:v>1743</c:v>
                </c:pt>
                <c:pt idx="2">
                  <c:v>1701</c:v>
                </c:pt>
                <c:pt idx="3">
                  <c:v>1063</c:v>
                </c:pt>
                <c:pt idx="4">
                  <c:v>0</c:v>
                </c:pt>
                <c:pt idx="5">
                  <c:v>0</c:v>
                </c:pt>
                <c:pt idx="6">
                  <c:v>0</c:v>
                </c:pt>
              </c:numCache>
            </c:numRef>
          </c:val>
        </c:ser>
        <c:dLbls>
          <c:numFmt formatCode="#,##0;;;" sourceLinked="0"/>
          <c:txPr>
            <a:bodyPr/>
            <a:lstStyle/>
            <a:p>
              <a:pPr>
                <a:defRPr b="0" i="0" strike="noStrike" sz="1200" u="none">
                  <a:solidFill>
                    <a:srgbClr val="3D3C38"/>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D3C38"/>
                </a:solidFill>
                <a:latin typeface="+mn-lt"/>
              </a:defRPr>
            </a:pPr>
            <a:endParaRPr lang="en-US"/>
          </a:p>
        </c:txPr>
        <c:crossAx val="2094734552"/>
        <c:crosses val="autoZero"/>
        <c:auto val="1"/>
        <c:lblAlgn val="ctr"/>
        <c:noMultiLvlLbl val="1"/>
      </c:catAx>
      <c:valAx>
        <c:axId val="2094734552"/>
        <c:scaling>
          <c:orientation val="minMax"/>
          <c:max val="9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g0</c:v>
                </c:pt>
              </c:strCache>
            </c:strRef>
          </c:tx>
          <c:spPr>
            <a:solidFill>
              <a:srgbClr val="0F766E"/>
            </a:solidFill>
            <a:effectLst/>
          </c:spPr>
          <c:invertIfNegative val="0"/>
          <c:dLbls>
            <c:numFmt formatCode="0%;;;" sourceLinked="0"/>
            <c:txPr>
              <a:bodyPr/>
              <a:lstStyle/>
              <a:p>
                <a:pPr>
                  <a:defRPr b="0" i="0" strike="noStrike" sz="1100" u="none">
                    <a:solidFill>
                      <a:srgbClr val="3D3C38"/>
                    </a:solidFill>
                    <a:latin typeface="+mn-lt"/>
                  </a:defRPr>
                </a:pPr>
              </a:p>
            </c:txPr>
            <c:showLegendKey val="0"/>
            <c:showVal val="1"/>
            <c:showCatName val="0"/>
            <c:showSerName val="0"/>
            <c:showPercent val="0"/>
            <c:showBubbleSize val="0"/>
            <c:showLeaderLines val="0"/>
          </c:dLbls>
          <c:cat>
            <c:multiLvlStrRef>
              <c:f>Sheet1!$A$2:$A$17</c:f>
              <c:multiLvlStrCache>
                <c:ptCount val="16"/>
                <c:lvl>
                  <c:pt idx="0">
                    <c:v>Japón</c:v>
                  </c:pt>
                  <c:pt idx="1">
                    <c:v>Corea del Sur</c:v>
                  </c:pt>
                  <c:pt idx="2">
                    <c:v>México</c:v>
                  </c:pt>
                  <c:pt idx="3">
                    <c:v>India</c:v>
                  </c:pt>
                  <c:pt idx="4">
                    <c:v>Suecia</c:v>
                  </c:pt>
                  <c:pt idx="5">
                    <c:v>China</c:v>
                  </c:pt>
                  <c:pt idx="6">
                    <c:v>Alemania</c:v>
                  </c:pt>
                  <c:pt idx="7">
                    <c:v>España</c:v>
                  </c:pt>
                  <c:pt idx="8">
                    <c:v>Reino Unido</c:v>
                  </c:pt>
                  <c:pt idx="9">
                    <c:v>EE.UU.</c:v>
                  </c:pt>
                  <c:pt idx="10">
                    <c:v>Hong Kong</c:v>
                  </c:pt>
                  <c:pt idx="11">
                    <c:v>Francia</c:v>
                  </c:pt>
                  <c:pt idx="12">
                    <c:v>Bélgica</c:v>
                  </c:pt>
                  <c:pt idx="13">
                    <c:v>Italia</c:v>
                  </c:pt>
                  <c:pt idx="14">
                    <c:v>Canadá</c:v>
                  </c:pt>
                  <c:pt idx="15">
                    <c:v>Australia</c:v>
                  </c:pt>
                </c:lvl>
              </c:multiLvlStrCache>
            </c:multiLvlStrRef>
          </c:cat>
          <c:val>
            <c:numRef>
              <c:f>Sheet1!$B$2:$B$17</c:f>
              <c:numCache>
                <c:formatCode>General</c:formatCode>
                <c:ptCount val="16"/>
                <c:pt idx="0">
                  <c:v>0.5098</c:v>
                </c:pt>
                <c:pt idx="1">
                  <c:v>0.4682</c:v>
                </c:pt>
                <c:pt idx="2">
                  <c:v>0.428</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er>
        <c:ser>
          <c:idx val="1"/>
          <c:order val="1"/>
          <c:tx>
            <c:strRef>
              <c:f>Sheet1!$C$1</c:f>
              <c:strCache>
                <c:ptCount val="1"/>
                <c:pt idx="0">
                  <c:v>g1</c:v>
                </c:pt>
              </c:strCache>
            </c:strRef>
          </c:tx>
          <c:spPr>
            <a:solidFill>
              <a:srgbClr val="3D3C38"/>
            </a:solidFill>
            <a:effectLst/>
          </c:spPr>
          <c:invertIfNegative val="0"/>
          <c:dLbls>
            <c:numFmt formatCode="0%;;;" sourceLinked="0"/>
            <c:txPr>
              <a:bodyPr/>
              <a:lstStyle/>
              <a:p>
                <a:pPr>
                  <a:defRPr b="0" i="0" strike="noStrike" sz="1100" u="none">
                    <a:solidFill>
                      <a:srgbClr val="3D3C38"/>
                    </a:solidFill>
                    <a:latin typeface="+mn-lt"/>
                  </a:defRPr>
                </a:pPr>
              </a:p>
            </c:txPr>
            <c:showLegendKey val="0"/>
            <c:showVal val="1"/>
            <c:showCatName val="0"/>
            <c:showSerName val="0"/>
            <c:showPercent val="0"/>
            <c:showBubbleSize val="0"/>
            <c:showLeaderLines val="0"/>
          </c:dLbls>
          <c:cat>
            <c:multiLvlStrRef>
              <c:f>Sheet1!$A$2:$A$17</c:f>
              <c:multiLvlStrCache>
                <c:ptCount val="16"/>
                <c:lvl>
                  <c:pt idx="0">
                    <c:v>Japón</c:v>
                  </c:pt>
                  <c:pt idx="1">
                    <c:v>Corea del Sur</c:v>
                  </c:pt>
                  <c:pt idx="2">
                    <c:v>México</c:v>
                  </c:pt>
                  <c:pt idx="3">
                    <c:v>India</c:v>
                  </c:pt>
                  <c:pt idx="4">
                    <c:v>Suecia</c:v>
                  </c:pt>
                  <c:pt idx="5">
                    <c:v>China</c:v>
                  </c:pt>
                  <c:pt idx="6">
                    <c:v>Alemania</c:v>
                  </c:pt>
                  <c:pt idx="7">
                    <c:v>España</c:v>
                  </c:pt>
                  <c:pt idx="8">
                    <c:v>Reino Unido</c:v>
                  </c:pt>
                  <c:pt idx="9">
                    <c:v>EE.UU.</c:v>
                  </c:pt>
                  <c:pt idx="10">
                    <c:v>Hong Kong</c:v>
                  </c:pt>
                  <c:pt idx="11">
                    <c:v>Francia</c:v>
                  </c:pt>
                  <c:pt idx="12">
                    <c:v>Bélgica</c:v>
                  </c:pt>
                  <c:pt idx="13">
                    <c:v>Italia</c:v>
                  </c:pt>
                  <c:pt idx="14">
                    <c:v>Canadá</c:v>
                  </c:pt>
                  <c:pt idx="15">
                    <c:v>Australia</c:v>
                  </c:pt>
                </c:lvl>
              </c:multiLvlStrCache>
            </c:multiLvlStrRef>
          </c:cat>
          <c:val>
            <c:numRef>
              <c:f>Sheet1!$C$2:$C$17</c:f>
              <c:numCache>
                <c:formatCode>General</c:formatCode>
                <c:ptCount val="16"/>
                <c:pt idx="0">
                  <c:v>0</c:v>
                </c:pt>
                <c:pt idx="1">
                  <c:v>0</c:v>
                </c:pt>
                <c:pt idx="2">
                  <c:v>0</c:v>
                </c:pt>
                <c:pt idx="3">
                  <c:v>0</c:v>
                </c:pt>
                <c:pt idx="4">
                  <c:v>0</c:v>
                </c:pt>
                <c:pt idx="5">
                  <c:v>0</c:v>
                </c:pt>
                <c:pt idx="6">
                  <c:v>0</c:v>
                </c:pt>
                <c:pt idx="7">
                  <c:v>0</c:v>
                </c:pt>
                <c:pt idx="8">
                  <c:v>0</c:v>
                </c:pt>
                <c:pt idx="9">
                  <c:v>0.2272</c:v>
                </c:pt>
                <c:pt idx="10">
                  <c:v>0</c:v>
                </c:pt>
                <c:pt idx="11">
                  <c:v>0</c:v>
                </c:pt>
                <c:pt idx="12">
                  <c:v>0</c:v>
                </c:pt>
                <c:pt idx="13">
                  <c:v>0</c:v>
                </c:pt>
                <c:pt idx="14">
                  <c:v>0</c:v>
                </c:pt>
                <c:pt idx="15">
                  <c:v>0</c:v>
                </c:pt>
              </c:numCache>
            </c:numRef>
          </c:val>
        </c:ser>
        <c:ser>
          <c:idx val="2"/>
          <c:order val="2"/>
          <c:tx>
            <c:strRef>
              <c:f>Sheet1!$D$1</c:f>
              <c:strCache>
                <c:ptCount val="1"/>
                <c:pt idx="0">
                  <c:v>g2</c:v>
                </c:pt>
              </c:strCache>
            </c:strRef>
          </c:tx>
          <c:spPr>
            <a:solidFill>
              <a:srgbClr val="C9C7BF"/>
            </a:solidFill>
            <a:effectLst/>
          </c:spPr>
          <c:invertIfNegative val="0"/>
          <c:dLbls>
            <c:numFmt formatCode="0%;;;" sourceLinked="0"/>
            <c:txPr>
              <a:bodyPr/>
              <a:lstStyle/>
              <a:p>
                <a:pPr>
                  <a:defRPr b="0" i="0" strike="noStrike" sz="1100" u="none">
                    <a:solidFill>
                      <a:srgbClr val="3D3C38"/>
                    </a:solidFill>
                    <a:latin typeface="+mn-lt"/>
                  </a:defRPr>
                </a:pPr>
              </a:p>
            </c:txPr>
            <c:showLegendKey val="0"/>
            <c:showVal val="1"/>
            <c:showCatName val="0"/>
            <c:showSerName val="0"/>
            <c:showPercent val="0"/>
            <c:showBubbleSize val="0"/>
            <c:showLeaderLines val="0"/>
          </c:dLbls>
          <c:cat>
            <c:multiLvlStrRef>
              <c:f>Sheet1!$A$2:$A$17</c:f>
              <c:multiLvlStrCache>
                <c:ptCount val="16"/>
                <c:lvl>
                  <c:pt idx="0">
                    <c:v>Japón</c:v>
                  </c:pt>
                  <c:pt idx="1">
                    <c:v>Corea del Sur</c:v>
                  </c:pt>
                  <c:pt idx="2">
                    <c:v>México</c:v>
                  </c:pt>
                  <c:pt idx="3">
                    <c:v>India</c:v>
                  </c:pt>
                  <c:pt idx="4">
                    <c:v>Suecia</c:v>
                  </c:pt>
                  <c:pt idx="5">
                    <c:v>China</c:v>
                  </c:pt>
                  <c:pt idx="6">
                    <c:v>Alemania</c:v>
                  </c:pt>
                  <c:pt idx="7">
                    <c:v>España</c:v>
                  </c:pt>
                  <c:pt idx="8">
                    <c:v>Reino Unido</c:v>
                  </c:pt>
                  <c:pt idx="9">
                    <c:v>EE.UU.</c:v>
                  </c:pt>
                  <c:pt idx="10">
                    <c:v>Hong Kong</c:v>
                  </c:pt>
                  <c:pt idx="11">
                    <c:v>Francia</c:v>
                  </c:pt>
                  <c:pt idx="12">
                    <c:v>Bélgica</c:v>
                  </c:pt>
                  <c:pt idx="13">
                    <c:v>Italia</c:v>
                  </c:pt>
                  <c:pt idx="14">
                    <c:v>Canadá</c:v>
                  </c:pt>
                  <c:pt idx="15">
                    <c:v>Australia</c:v>
                  </c:pt>
                </c:lvl>
              </c:multiLvlStrCache>
            </c:multiLvlStrRef>
          </c:cat>
          <c:val>
            <c:numRef>
              <c:f>Sheet1!$D$2:$D$17</c:f>
              <c:numCache>
                <c:formatCode>General</c:formatCode>
                <c:ptCount val="16"/>
                <c:pt idx="0">
                  <c:v>0</c:v>
                </c:pt>
                <c:pt idx="1">
                  <c:v>0</c:v>
                </c:pt>
                <c:pt idx="2">
                  <c:v>0</c:v>
                </c:pt>
                <c:pt idx="3">
                  <c:v>0.3659</c:v>
                </c:pt>
                <c:pt idx="4">
                  <c:v>0.2767</c:v>
                </c:pt>
                <c:pt idx="5">
                  <c:v>0.2594</c:v>
                </c:pt>
                <c:pt idx="6">
                  <c:v>0.2549</c:v>
                </c:pt>
                <c:pt idx="7">
                  <c:v>0.2428</c:v>
                </c:pt>
                <c:pt idx="8">
                  <c:v>0.2395</c:v>
                </c:pt>
                <c:pt idx="9">
                  <c:v>0</c:v>
                </c:pt>
                <c:pt idx="10">
                  <c:v>0.2262</c:v>
                </c:pt>
                <c:pt idx="11">
                  <c:v>0.2193</c:v>
                </c:pt>
                <c:pt idx="12">
                  <c:v>0.2186</c:v>
                </c:pt>
                <c:pt idx="13">
                  <c:v>0.2118</c:v>
                </c:pt>
                <c:pt idx="14">
                  <c:v>0.1792</c:v>
                </c:pt>
                <c:pt idx="15">
                  <c:v>0.1763</c:v>
                </c:pt>
              </c:numCache>
            </c:numRef>
          </c:val>
        </c:ser>
        <c:dLbls>
          <c:numFmt formatCode="0%;;;" sourceLinked="0"/>
          <c:txPr>
            <a:bodyPr/>
            <a:lstStyle/>
            <a:p>
              <a:pPr>
                <a:defRPr b="0" i="0" strike="noStrike" sz="1100" u="none">
                  <a:solidFill>
                    <a:srgbClr val="3D3C38"/>
                  </a:solidFill>
                  <a:latin typeface="+mn-lt"/>
                </a:defRPr>
              </a:pPr>
            </a:p>
          </c:txP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3D3C38"/>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g0</c:v>
                </c:pt>
              </c:strCache>
            </c:strRef>
          </c:tx>
          <c:spPr>
            <a:solidFill>
              <a:srgbClr val="0F766E"/>
            </a:solidFill>
            <a:effectLst/>
          </c:spPr>
          <c:invertIfNegative val="0"/>
          <c:dLbls>
            <c:numFmt formatCode="0.0;;;" sourceLinked="0"/>
            <c:txPr>
              <a:bodyPr/>
              <a:lstStyle/>
              <a:p>
                <a:pPr>
                  <a:defRPr b="0" i="0" strike="noStrike" sz="1300" u="none">
                    <a:solidFill>
                      <a:srgbClr val="3D3C38"/>
                    </a:solidFill>
                    <a:latin typeface="+mn-lt"/>
                  </a:defRPr>
                </a:pPr>
              </a:p>
            </c:txPr>
            <c:showLegendKey val="0"/>
            <c:showVal val="1"/>
            <c:showCatName val="0"/>
            <c:showSerName val="0"/>
            <c:showPercent val="0"/>
            <c:showBubbleSize val="0"/>
            <c:showLeaderLines val="0"/>
          </c:dLbls>
          <c:cat>
            <c:multiLvlStrRef>
              <c:f>Sheet1!$A$2:$A$6</c:f>
              <c:multiLvlStrCache>
                <c:ptCount val="5"/>
                <c:lvl>
                  <c:pt idx="0">
                    <c:v>5 o menos</c:v>
                  </c:pt>
                  <c:pt idx="1">
                    <c:v>5 a 6</c:v>
                  </c:pt>
                  <c:pt idx="2">
                    <c:v>6 a 7</c:v>
                  </c:pt>
                  <c:pt idx="3">
                    <c:v>7 a 8</c:v>
                  </c:pt>
                  <c:pt idx="4">
                    <c:v>8 o más</c:v>
                  </c:pt>
                </c:lvl>
              </c:multiLvlStrCache>
            </c:multiLvlStrRef>
          </c:cat>
          <c:val>
            <c:numRef>
              <c:f>Sheet1!$B$2:$B$6</c:f>
              <c:numCache>
                <c:formatCode>General</c:formatCode>
                <c:ptCount val="5"/>
                <c:pt idx="0">
                  <c:v>0</c:v>
                </c:pt>
                <c:pt idx="1">
                  <c:v>0</c:v>
                </c:pt>
                <c:pt idx="2">
                  <c:v>0</c:v>
                </c:pt>
                <c:pt idx="3">
                  <c:v>0</c:v>
                </c:pt>
                <c:pt idx="4">
                  <c:v>15.9</c:v>
                </c:pt>
              </c:numCache>
            </c:numRef>
          </c:val>
        </c:ser>
        <c:ser>
          <c:idx val="1"/>
          <c:order val="1"/>
          <c:tx>
            <c:strRef>
              <c:f>Sheet1!$C$1</c:f>
              <c:strCache>
                <c:ptCount val="1"/>
                <c:pt idx="0">
                  <c:v>g1</c:v>
                </c:pt>
              </c:strCache>
            </c:strRef>
          </c:tx>
          <c:spPr>
            <a:solidFill>
              <a:srgbClr val="C9C7BF"/>
            </a:solidFill>
            <a:effectLst/>
          </c:spPr>
          <c:invertIfNegative val="0"/>
          <c:dLbls>
            <c:numFmt formatCode="0.0;;;" sourceLinked="0"/>
            <c:txPr>
              <a:bodyPr/>
              <a:lstStyle/>
              <a:p>
                <a:pPr>
                  <a:defRPr b="0" i="0" strike="noStrike" sz="1300" u="none">
                    <a:solidFill>
                      <a:srgbClr val="3D3C38"/>
                    </a:solidFill>
                    <a:latin typeface="+mn-lt"/>
                  </a:defRPr>
                </a:pPr>
              </a:p>
            </c:txPr>
            <c:showLegendKey val="0"/>
            <c:showVal val="1"/>
            <c:showCatName val="0"/>
            <c:showSerName val="0"/>
            <c:showPercent val="0"/>
            <c:showBubbleSize val="0"/>
            <c:showLeaderLines val="0"/>
          </c:dLbls>
          <c:cat>
            <c:multiLvlStrRef>
              <c:f>Sheet1!$A$2:$A$6</c:f>
              <c:multiLvlStrCache>
                <c:ptCount val="5"/>
                <c:lvl>
                  <c:pt idx="0">
                    <c:v>5 o menos</c:v>
                  </c:pt>
                  <c:pt idx="1">
                    <c:v>5 a 6</c:v>
                  </c:pt>
                  <c:pt idx="2">
                    <c:v>6 a 7</c:v>
                  </c:pt>
                  <c:pt idx="3">
                    <c:v>7 a 8</c:v>
                  </c:pt>
                  <c:pt idx="4">
                    <c:v>8 o más</c:v>
                  </c:pt>
                </c:lvl>
              </c:multiLvlStrCache>
            </c:multiLvlStrRef>
          </c:cat>
          <c:val>
            <c:numRef>
              <c:f>Sheet1!$C$2:$C$6</c:f>
              <c:numCache>
                <c:formatCode>General</c:formatCode>
                <c:ptCount val="5"/>
                <c:pt idx="0">
                  <c:v>8.2</c:v>
                </c:pt>
                <c:pt idx="1">
                  <c:v>10.1</c:v>
                </c:pt>
                <c:pt idx="2">
                  <c:v>11.7</c:v>
                </c:pt>
                <c:pt idx="3">
                  <c:v>13.1</c:v>
                </c:pt>
                <c:pt idx="4">
                  <c:v>0</c:v>
                </c:pt>
              </c:numCache>
            </c:numRef>
          </c:val>
        </c:ser>
        <c:dLbls>
          <c:numFmt formatCode="0.0;;;" sourceLinked="0"/>
          <c:txPr>
            <a:bodyPr/>
            <a:lstStyle/>
            <a:p>
              <a:pPr>
                <a:defRPr b="0" i="0" strike="noStrike" sz="1300" u="none">
                  <a:solidFill>
                    <a:srgbClr val="3D3C38"/>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3D3C38"/>
                </a:solidFill>
                <a:latin typeface="+mn-lt"/>
              </a:defRPr>
            </a:pPr>
            <a:endParaRPr lang="en-US"/>
          </a:p>
        </c:txPr>
        <c:crossAx val="2094734552"/>
        <c:crosses val="autoZero"/>
        <c:auto val="1"/>
        <c:lblAlgn val="ctr"/>
        <c:noMultiLvlLbl val="1"/>
      </c:catAx>
      <c:valAx>
        <c:axId val="2094734552"/>
        <c:scaling>
          <c:orientation val="minMax"/>
          <c:max val="19"/>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Felipe]
Buenos días. Somos el equipo consultor que StreamView contrató para ordenar la información de su catálogo. En diez minutos les vamos a mostrar dónde está la calidad del catálogo, por qué no coincide con dónde está el volumen, y qué decisión proponemos. Después mostramos la solución que lo hace visible para cada área.
Transición: partamos por el problema que nos plantearon.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Felipe]
El problema no es falta de datos: es que cada área los mira con criterios distintos y las decisiones de adquisición se toman con información parcial.
Por eso definimos tres públicos según la decisión que toman. El Directorio necesita la respuesta, no el método. Marketing necesita comparar segmentos. Data &amp; Analytics necesita poder auditar cada cifra. Eso define qué ve cada uno: comunicación explicativa para los dos primeros y exploratoria para el tercero, como propone Storytelling with Data.
Si preguntan por qué tres y no seis perfiles: agrupamos por tipo de decisión. Gerencia General decide lo mismo que el Directorio; Contenidos y Marketing comparan los mismos segmentos; Producto necesita el detalle técnico.
Transición: ¿con qué datos trabajamos?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Felipe]
Integramos las dos fuentes en una sola tabla con una columna de tipo. Para que fuera consistente deduplicamos 9 series, unificamos la taxonomía de géneros (TMDB usa listas distintas para películas y series) y unificamos dos códigos del chino mandarín.
Lo importante son estas tres reglas, porque sin ellas los resultados eran falsos. Las encontramos en la evaluación crítica de la etapa anterior: la calificación promediaba títulos sin votos como si fueran ceros, y comparábamos países mezclando películas con series.
Si preguntan por qué 10 votos: con 1 voto, el 20% de los títulos tiene nota 0 o 10 por azar; desde 6 votos eso desaparece. 10 es un margen de seguridad (notebook, sección 2.7).
Si preguntan por la variable rating: es una copia exacta de la calificación, no la clasificación por edad; por eso ese análisis queda fuera de alcance.
Transición: con los datos limpios, esto es lo que encontramos.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Felipe]
Primero, el contexto. EE.UU. aporta casi la mitad de las películas: 7.762 de 16.000. Le siguen Reino Unido, Francia y Canadá. Japón, Corea del Sur y México —en verde— suman apenas el 13%.
Hasta aquí nada extraño: el catálogo sigue la oferta de los grandes estudios. Pero miren qué pasa cuando, en vez de contar películas, miramos cómo las evalúa el público.
Dato para la defensa: el catálogo tiene exactamente 1.000 películas y 1.000 series por año entre 2010 y 2025, es una muestra curada; por eso no hablamos de crecimiento.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Felipe]
Este es el hallazgo central. De los 16 países con al menos 200 películas calificadas, los tres primeros en proporción de películas bien evaluadas son Japón (51%), Corea del Sur (47%) y México (43%). EE.UU. está en el lugar 10, con 23%. En palabras simples: la mitad de las películas japonesas está bien evaluada; en EE.UU., dos de cada diez.
Elegimos el porcentaje de bien evaluadas, y no el promedio, porque '5 de cada 10' se entiende de inmediato; '+0,6 puntos' no.
Si preguntan por qué 7 como umbral: es el mismo de 'bien evaluado' en todo el dashboard; con promedios el orden de los tres primeros es el mismo (anexo).
Si preguntan por qué solo países con 200 películas: para que un puñado de títulos no defina el ranking.
Transición: un hallazgo así hay que probarlo antes de recomendar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Felipe]
Lo probamos de tres formas. Uno, comparación directa. Dos, una regresión que compara películas del mismo género y año: así descartamos que Japón gane solo porque produce más animación, que es un género bien evaluado. Tres, un promedio bayesiano que incluye películas con pocos votos, para descartar que el umbral de 10 votos seleccione solo lo más visible. Los tres países quedan entre los tres primeros con los tres métodos, y sus intervalos de confianza no tocan el cero.
En series, en cambio, el resultado cambia de signo según el método, porque muchas series asiáticas casi no tienen votos. Por eso acotamos el hallazgo a películas: preferimos decir menos y que sea cierto.
Cifras de respaldo (anexo A1): ventaja sobre EE.UU. en puntos de calificación — Japón +0,64 / +0,39 / +0,29; Corea +0,57 / +0,54 / +0,27; México +0,53 / +0,52 / +0,42.
Si preguntan por comparaciones múltiples: con corrección de Bonferroni también superan a EE.UU. India, Suecia y China, con menor margen.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Felipe]
Este hallazgo matiza el anterior y define la segunda recomendación. Las películas muy bien evaluadas son 1,9 veces más populares que las mal evaluadas, así que la calidad ayuda. Pero la relación es débil: la correlación de Spearman es 0,23 en películas y 0,17 en series. Una buena película no tiene su audiencia asegurada.
En la etapa 1 habíamos concluido que no había relación. Usábamos Pearson, que se distorsiona con los títulos virales; con Spearman y con medianas la relación aparece. Ese fue uno de los errores que corregimos.
Transición: con esto, ¿qué recomendamos?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Felipe]
Tres decisiones, cada una con responsable y forma de medirla.
Uno: priorizar películas de Japón, Corea del Sur y México en las próximas licencias. Hoy son el 13% y el público las evalúa el doble de bien.
Dos: acompañarlo con visibilidad, porque la calidad no garantiza audiencia; su popularidad típica es similar o algo menor que la de EE.UU.
Tres: medir mejor. Sin datos propios de reproducción no podemos medir retención, y la calificación viene de usuarios de TMDB, no de nuestros suscriptores.
Lo que no recomendamos: decidir sobre series con estos datos, ni basar decisiones en rentabilidad, porque solo el 22% de las películas tiene datos financieros confiables.
Transición (cambio de expositora): Francisca les muestra cómo cada área ve esto en el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Francisca]
El dashboard está hecho en Streamlit con gráficos Plotly. Tiene un selector de perfil arriba y, para cada perfil, pestañas distintas: el Directorio parte en Resumen, que responde su pregunta en una pantalla; Marketing parte en Oportunidades; Data &amp; Analytics ve todo, incluidas las vistas técnicas.
La experiencia de usuario se diseñó con tres criterios: cada vista abre diciendo qué pregunta responde; los títulos dicen la conclusión y se recalculan con los filtros; y el color se usa solo para el mensaje. El gerente no ve dispersiones ni estadísticos: esas vistas existen, pero solo en Data &amp; Analytics.
[DEMO EN VIVO, si hay tiempo] cambiar de perfil Directorio → Marketing → Data &amp; Analytics y mostrar cómo cambian las pestañas.
Si preguntan cómo evaluaron la UX: con los principios de Storytelling with Data y revisando cada vista con la pregunta '¿el público encuentra su respuesta sin ayuda?'. La validación con usuarios reales es una mejora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Francisca · DEMO EN VIVO]
Guion de demo (perfil Directorio, pestaña Resumen):
1) En la barra lateral, País → escribir 'Japón' y luego 'México'. El gráfico de mercados no se reduce a esos dos países: los destaca y dice que Japón es 1° y México 3° de 16. Si filtráramos de verdad, solo veríamos coproducciones, una comparación sin sentido; por eso lo diseñamos así.
2) Mostrar que los KPIs de 'Cómo responde el público' cambiaron (ahora describen solo títulos de esos países).
3) Cambiar a perfil Marketing → selector 'Comparar dentro de: Series' → los rankings se recalculan dentro de series.
4) Botón 'Reiniciar filtros' para volver al catálogo completo.
Si la demo en vivo falla, esta captura muestra el paso 1.
Si preguntan qué pasa con un país chico, como Chile: el dashboard avisa que no alcanza el mínimo de películas calificadas para compararse con confianza, en vez de mostrar un ranking basado en pocos títulos. El mínimo es 200 títulos por categoría y baja en proporción a los filtros, nunca bajo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Francisca]
El criterio fue un solo lenguaje y una sola lógica de cálculo. pandas limpia e integra; el mismo código alimenta el notebook, el dashboard y los gráficos del informe, así que las cifras no pueden divergir: fue el problema que nos planteó el cliente.
Streamlit nos da interacción sin reescribir la lógica en otra herramienta; Plotly da el detalle al pasar el cursor. matplotlib se usa para piezas estáticas de impresión, porque exporta vectorial.
Limitaciones honestas: Streamlit necesita un servidor y no maneja permisos por usuario; para producción habría que desplegarlo con autenticación.
Si preguntan por versiones: Streamlit 1.51 o superior (usamos el parámetro width de los gráficos, que no existe en 1.50). Probamos que el proyecto corre sin scipy, solo con las dependencias declaradas.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Francisca]
En la evaluación crítica revisamos la etapa anterior con dos lentes: auditar cada cifra y revisar si cada gráfico correspondía a su público.
Encontramos que cuatro hallazgos de la etapa 1 eran falsos. La causa principal: 4.560 títulos sin votos se promediaban como nota cero, y comparábamos países mezclando películas con series, que tienen escalas distintas.
Y en comunicación, le mostrábamos al Directorio una dispersión en escala logarítmica y estadísticos como Spearman. Ahora ve barras ordenadas, el mensaje en color y títulos que dicen la conclusión.
Fortalezas que quedan: las cifras son las mismas en notebook, dashboard, infografía e informe, porque salen del mismo código, y cada hallazgo se probó antes de comunicarlo.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Francisca]
Somos explícitas con lo que no se puede concluir. La retención no se puede medir porque no hay datos de consumo. La calificación es de usuarios de TMDB y puede estar sesgada: audiencias de nicho tienden a calificar más alto. Y las finanzas cubren solo el 22% de las películas, sesgado hacia grandes estudios.
Cada limitación tiene una mejora concreta. Otras mejoras: publicar el dashboard en un servidor permanente y validarlo con usuarios reales del Directorio.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Francisca]
Entregamos seis productos. Todos salen de los mismos CSV originales con las mismas reglas, y por eso las cifras coinciden en todos.
Criterios de calidad de exportación: el informe y la infografía en PDF vectorial, que se imprime sin perder nitidez; las imágenes en PNG a 200 dpi; tipografía y paleta consistentes; y cada pieza declara fuente, período y alcance.
Lista para publicar significa que se puede enviar al Directorio tal como está, sin edición adicional.
Si preguntan cómo se reproduce: notebook ejecutando todas sus celdas y dashboard con streamlit run app.py (anexo A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Felipe o Francisca]
Cerramos con la decisión: priorizar películas de Japón, Corea del Sur y México en el próximo ciclo de adquisición y darles visibilidad. La mitad de sus películas está bien evaluada; en EE.UU., que aporta casi la mitad de las películas, dos de cada diez. Y hoy son solo el 13%. Gracias.
TIEMPO TOTAL ESTIMADO: 9 min 30 s. Si van atrasados, la lámina 13 (limitaciones) se puede resumir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RESPALDO (no se presenta; se muestra si preguntan).
PREGUNTAS PROBABLES Y RESPUESTAS
• ¿Por qué no usaron el promedio de calificación en la lámina principal? — Porque '5 de cada 10 bien evaluadas' es comprensible para el Directorio; con promedios el resultado es el mismo (esta tabla).
• ¿Qué es el promedio bayesiano? — Un promedio que acerca a la media general las películas con pocos votos, según cuántos votos tienen (peso equivalente a 10 votos). Evita excluir títulos y evita que una nota con 2 votos pese igual que una con 2.000.
• ¿Por qué Japón baja de +0,64 a +0,39 al controlar? — Parte de su ventaja viene de producir géneros bien evaluados, como animación. Aun así la ventaja se mantiene.
• ¿Correlación implica causalidad? — No. No afirmamos que el país cause la calidad; afirmamos que, en este catálogo, las películas de esos países son mejor evaluadas, de forma consistente.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RESPALDO.
PREGUNTAS PROBABLES
• ¿Por qué la popularidad con mediana? — El índice llega a 6.422 con una mediana de 22: unos pocos títulos virales inflan el promedio (casi el doble de la mediana).
• ¿Cómo miden engagement si no hay reproducciones? — Con aproximaciones: proporción de títulos que el público califica y votos por título, en TMDB. Lo decimos explícitamente en el dashboard.
• ¿Qué es el ROI aquí? — Taquilla / presupuesto, como define el caso. No descuenta marketing ni distribución; por eso hablamos de 'retorno aproximado'.
• ¿Por qué la clasificación etaria no está? — La columna rating es una copia exacta de la calificación (100% de coincidencia), no la clasificación por 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LÁMINA DE RESPALDO.
PREGUNTAS PROBABLES
• ¿Por qué se excluye 2025? — Menos del 10% de sus títulos tiene 10+ votos (8,6% películas, 6,7% series); la mediana de votos es 0. No es baja calidad, es que aún no acumulan votos.
• ¿Cómo integraron las fuentes? — Una tabla con columna de tipo; deduplicación de 9 series; taxonomía de géneros unificada (Action &amp; Adventure → Action, Adventure; Sci-Fi &amp; Fantasy → Science Fiction, Fantasy; War &amp; Politics → War); 'cn' unificado con 'zh'.
• ¿Por qué el catálogo no muestra crecimiento? — Tiene exactamente 1.000 películas y 1.000 series por año: es una muestra curada.
• ¿Qué error fue el más grave de la etapa 1? — Promediar títulos sin votos como nota 0: hundía la calificación (5,7 en vez de 6,3 / 7,3) y generaba hallazgos falsos sobre géneros y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1F1E1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1F1E1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607040" cy="20116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4114800"/>
            <a:ext cx="9601200" cy="914400"/>
          </a:xfrm>
          <a:prstGeom prst="rect">
            <a:avLst/>
          </a:prstGeom>
          <a:noFill/>
          <a:ln/>
        </p:spPr>
        <p:txBody>
          <a:bodyPr wrap="square" rtlCol="0"/>
          <a:lstStyle>
            <a:lvl1pPr algn="l" indent="0" marL="0">
              <a:buNone/>
              <a:defRPr lang="en-US" sz="1800" dirty="0">
                <a:solidFill>
                  <a:schemeClr val="accent4"/>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chemeClr val="accent5"/>
                </a:solidFill>
              </a:rPr>
              <a:t>StreamView Analytics · Presentación ejecutiva</a:t>
            </a:r>
            <a:endParaRPr lang="en-US" sz="900" dirty="0"/>
          </a:p>
        </p:txBody>
      </p:sp>
      <p:sp>
        <p:nvSpPr>
          <p:cNvPr id="3" name="Text 1"/>
          <p:cNvSpPr/>
          <p:nvPr>
            <p:ph idx="101" type="title" hasCustomPrompt="1"/>
          </p:nvPr>
        </p:nvSpPr>
        <p:spPr>
          <a:xfrm>
            <a:off x="548640" y="685800"/>
            <a:ext cx="11094415" cy="10515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9144000" cy="365760"/>
          </a:xfrm>
          <a:prstGeom prst="rect">
            <a:avLst/>
          </a:prstGeom>
          <a:noFill/>
          <a:ln/>
        </p:spPr>
        <p:txBody>
          <a:bodyPr wrap="square" lIns="0" tIns="0" rIns="0" bIns="0" rtlCol="0" anchor="ctr"/>
          <a:lstStyle/>
          <a:p>
            <a:pPr indent="0" marL="0">
              <a:buNone/>
            </a:pPr>
            <a:r>
              <a:rPr lang="en-US" sz="1300" b="1" spc="200" kern="0" dirty="0">
                <a:solidFill>
                  <a:schemeClr val="accent6"/>
                </a:solidFill>
              </a:rPr>
              <a:t>STREAMVIEW ANALYTICS · VISUAL ANALYTICS 2026</a:t>
            </a:r>
            <a:endParaRPr lang="en-US" sz="1300" dirty="0"/>
          </a:p>
        </p:txBody>
      </p:sp>
      <p:sp>
        <p:nvSpPr>
          <p:cNvPr id="3" name="Text 0"/>
          <p:cNvSpPr/>
          <p:nvPr>
            <p:ph idx="100" type="title" hasCustomPrompt="1"/>
          </p:nvPr>
        </p:nvSpPr>
        <p:spPr>
          <a:xfrm>
            <a:off x="548640" y="1920240"/>
            <a:ext cx="10607040" cy="2011680"/>
          </a:xfrm>
          <a:prstGeom prst="rect">
            <a:avLst/>
          </a:prstGeom>
          <a:noFill/>
          <a:ln/>
        </p:spPr>
        <p:txBody>
          <a:bodyPr wrap="square" lIns="0" tIns="0" rIns="0" bIns="0" rtlCol="0" anchor="t"/>
          <a:lstStyle/>
          <a:p>
            <a:pPr algn="l" indent="0" marL="0">
              <a:buNone/>
            </a:pPr>
            <a:r>
              <a:rPr lang="en-US" sz="4000" b="1" dirty="0">
                <a:solidFill>
                  <a:schemeClr val="bg1"/>
                </a:solidFill>
              </a:rPr>
              <a:t>Dónde está la calidad del catálogo, y por qué no está donde está el volumen</a:t>
            </a:r>
            <a:endParaRPr lang="en-US" sz="4000" dirty="0"/>
          </a:p>
        </p:txBody>
      </p:sp>
      <p:sp>
        <p:nvSpPr>
          <p:cNvPr id="4" name="Text 0"/>
          <p:cNvSpPr/>
          <p:nvPr>
            <p:ph idx="101" type="body" hasCustomPrompt="1"/>
          </p:nvPr>
        </p:nvSpPr>
        <p:spPr>
          <a:xfrm>
            <a:off x="548640" y="4114800"/>
            <a:ext cx="9601200" cy="914400"/>
          </a:xfrm>
          <a:prstGeom prst="rect">
            <a:avLst/>
          </a:prstGeom>
          <a:noFill/>
          <a:ln/>
        </p:spPr>
        <p:txBody>
          <a:bodyPr wrap="square" lIns="0" tIns="0" rIns="0" bIns="0" rtlCol="0" anchor="t"/>
          <a:lstStyle/>
          <a:p>
            <a:pPr algn="l" indent="0" marL="0">
              <a:buNone/>
            </a:pPr>
            <a:r>
              <a:rPr lang="en-US" sz="1800" dirty="0">
                <a:solidFill>
                  <a:schemeClr val="accent4"/>
                </a:solidFill>
              </a:rPr>
              <a:t>Presentación ejecutiva y defensa técnica · ADY1104 Visualización de Datos</a:t>
            </a:r>
            <a:endParaRPr lang="en-US" sz="1800" dirty="0"/>
          </a:p>
        </p:txBody>
      </p:sp>
      <p:sp>
        <p:nvSpPr>
          <p:cNvPr id="5" name="Text 3"/>
          <p:cNvSpPr txBox="1"/>
          <p:nvPr/>
        </p:nvSpPr>
        <p:spPr>
          <a:xfrm>
            <a:off x="548640" y="5806440"/>
            <a:ext cx="7315200" cy="365760"/>
          </a:xfrm>
          <a:prstGeom prst="rect">
            <a:avLst/>
          </a:prstGeom>
          <a:noFill/>
          <a:ln/>
        </p:spPr>
        <p:txBody>
          <a:bodyPr wrap="square" lIns="0" tIns="0" rIns="0" bIns="0" rtlCol="0" anchor="ctr"/>
          <a:lstStyle/>
          <a:p>
            <a:pPr indent="0" marL="0">
              <a:buNone/>
            </a:pPr>
            <a:r>
              <a:rPr lang="en-US" sz="1400" dirty="0">
                <a:solidFill>
                  <a:schemeClr val="bg1"/>
                </a:solidFill>
              </a:rPr>
              <a:t>Felipe Ahumada Silva · Francisca Carrasco Lozano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StreamView decide qué contenidos adquirir con información dispersa</a:t>
            </a:r>
            <a:endParaRPr lang="en-US" sz="3000" dirty="0"/>
          </a:p>
        </p:txBody>
      </p:sp>
      <p:sp>
        <p:nvSpPr>
          <p:cNvPr id="3" name="etiqueta"/>
          <p:cNvSpPr/>
          <p:nvPr/>
        </p:nvSpPr>
        <p:spPr>
          <a:xfrm>
            <a:off x="548640" y="347472"/>
            <a:ext cx="182880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82880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1 · EL PROBLEMA</a:t>
            </a:r>
            <a:endParaRPr lang="en-US" sz="1000" dirty="0"/>
          </a:p>
        </p:txBody>
      </p:sp>
      <p:sp>
        <p:nvSpPr>
          <p:cNvPr id="5" name="Text 3"/>
          <p:cNvSpPr txBox="1"/>
          <p:nvPr/>
        </p:nvSpPr>
        <p:spPr>
          <a:xfrm>
            <a:off x="548640" y="1783080"/>
            <a:ext cx="10789920" cy="731520"/>
          </a:xfrm>
          <a:prstGeom prst="rect">
            <a:avLst/>
          </a:prstGeom>
          <a:noFill/>
          <a:ln/>
        </p:spPr>
        <p:txBody>
          <a:bodyPr wrap="square" lIns="0" tIns="0" rIns="0" bIns="0" rtlCol="0" anchor="t"/>
          <a:lstStyle/>
          <a:p>
            <a:pPr indent="0" marL="0">
              <a:buNone/>
            </a:pPr>
            <a:r>
              <a:rPr lang="en-US" sz="1600" dirty="0">
                <a:solidFill>
                  <a:schemeClr val="tx2"/>
                </a:solidFill>
              </a:rPr>
              <a:t>Cada área usa reportes distintos, hay varias versiones de un mismo indicador y los dashboards existentes tienen exceso de información y poca interacción.</a:t>
            </a:r>
            <a:endParaRPr lang="en-US" sz="1600" dirty="0"/>
          </a:p>
        </p:txBody>
      </p:sp>
      <p:sp>
        <p:nvSpPr>
          <p:cNvPr id="6" name="tarjeta"/>
          <p:cNvSpPr/>
          <p:nvPr/>
        </p:nvSpPr>
        <p:spPr>
          <a:xfrm>
            <a:off x="548640" y="2743200"/>
            <a:ext cx="3474720" cy="2606040"/>
          </a:xfrm>
          <a:prstGeom prst="roundRect">
            <a:avLst>
              <a:gd name="adj" fmla="val 2105"/>
            </a:avLst>
          </a:prstGeom>
          <a:solidFill>
            <a:schemeClr val="bg2"/>
          </a:solidFill>
          <a:ln w="12700">
            <a:solidFill>
              <a:schemeClr val="bg2"/>
            </a:solidFill>
            <a:prstDash val="solid"/>
          </a:ln>
        </p:spPr>
      </p:sp>
      <p:sp>
        <p:nvSpPr>
          <p:cNvPr id="7" name="Text 5"/>
          <p:cNvSpPr txBox="1"/>
          <p:nvPr/>
        </p:nvSpPr>
        <p:spPr>
          <a:xfrm>
            <a:off x="822960" y="3017520"/>
            <a:ext cx="2926080" cy="411480"/>
          </a:xfrm>
          <a:prstGeom prst="rect">
            <a:avLst/>
          </a:prstGeom>
          <a:noFill/>
          <a:ln/>
        </p:spPr>
        <p:txBody>
          <a:bodyPr wrap="square" lIns="0" tIns="0" rIns="0" bIns="0" rtlCol="0" anchor="t"/>
          <a:lstStyle/>
          <a:p>
            <a:pPr indent="0" marL="0">
              <a:buNone/>
            </a:pPr>
            <a:r>
              <a:rPr lang="en-US" sz="1900" b="1" dirty="0">
                <a:solidFill>
                  <a:schemeClr val="tx1"/>
                </a:solidFill>
              </a:rPr>
              <a:t>Directorio</a:t>
            </a:r>
            <a:endParaRPr lang="en-US" sz="1900" dirty="0"/>
          </a:p>
        </p:txBody>
      </p:sp>
      <p:sp>
        <p:nvSpPr>
          <p:cNvPr id="8" name="Text 6"/>
          <p:cNvSpPr txBox="1"/>
          <p:nvPr/>
        </p:nvSpPr>
        <p:spPr>
          <a:xfrm>
            <a:off x="822960" y="3520440"/>
            <a:ext cx="2926080" cy="685800"/>
          </a:xfrm>
          <a:prstGeom prst="rect">
            <a:avLst/>
          </a:prstGeom>
          <a:noFill/>
          <a:ln/>
        </p:spPr>
        <p:txBody>
          <a:bodyPr wrap="square" lIns="0" tIns="0" rIns="0" bIns="0" rtlCol="0" anchor="t"/>
          <a:lstStyle/>
          <a:p>
            <a:pPr indent="0" marL="0">
              <a:buNone/>
            </a:pPr>
            <a:r>
              <a:rPr lang="en-US" sz="1500" dirty="0">
                <a:solidFill>
                  <a:schemeClr val="tx2"/>
                </a:solidFill>
              </a:rPr>
              <a:t>Decide inversión y mercados prioritarios</a:t>
            </a:r>
            <a:endParaRPr lang="en-US" sz="1500" dirty="0"/>
          </a:p>
        </p:txBody>
      </p:sp>
      <p:sp>
        <p:nvSpPr>
          <p:cNvPr id="9" name="Text 7"/>
          <p:cNvSpPr txBox="1"/>
          <p:nvPr/>
        </p:nvSpPr>
        <p:spPr>
          <a:xfrm>
            <a:off x="822960" y="4343400"/>
            <a:ext cx="2926080" cy="822960"/>
          </a:xfrm>
          <a:prstGeom prst="rect">
            <a:avLst/>
          </a:prstGeom>
          <a:noFill/>
          <a:ln/>
        </p:spPr>
        <p:txBody>
          <a:bodyPr wrap="square" lIns="0" tIns="0" rIns="0" bIns="0" rtlCol="0" anchor="t"/>
          <a:lstStyle/>
          <a:p>
            <a:pPr indent="0" marL="0">
              <a:buNone/>
            </a:pPr>
            <a:r>
              <a:rPr lang="en-US" sz="1400" b="1" dirty="0">
                <a:solidFill>
                  <a:schemeClr val="accent1"/>
                </a:solidFill>
              </a:rPr>
              <a:t>Vista explicativa: la respuesta en una pantalla</a:t>
            </a:r>
            <a:endParaRPr lang="en-US" sz="1400" dirty="0"/>
          </a:p>
        </p:txBody>
      </p:sp>
      <p:sp>
        <p:nvSpPr>
          <p:cNvPr id="10" name="tarjeta"/>
          <p:cNvSpPr/>
          <p:nvPr/>
        </p:nvSpPr>
        <p:spPr>
          <a:xfrm>
            <a:off x="4297680" y="2743200"/>
            <a:ext cx="3474720" cy="2606040"/>
          </a:xfrm>
          <a:prstGeom prst="roundRect">
            <a:avLst>
              <a:gd name="adj" fmla="val 2105"/>
            </a:avLst>
          </a:prstGeom>
          <a:solidFill>
            <a:schemeClr val="bg2"/>
          </a:solidFill>
          <a:ln w="12700">
            <a:solidFill>
              <a:schemeClr val="bg2"/>
            </a:solidFill>
            <a:prstDash val="solid"/>
          </a:ln>
        </p:spPr>
      </p:sp>
      <p:sp>
        <p:nvSpPr>
          <p:cNvPr id="11" name="Text 9"/>
          <p:cNvSpPr txBox="1"/>
          <p:nvPr/>
        </p:nvSpPr>
        <p:spPr>
          <a:xfrm>
            <a:off x="4572000" y="3017520"/>
            <a:ext cx="2926080" cy="411480"/>
          </a:xfrm>
          <a:prstGeom prst="rect">
            <a:avLst/>
          </a:prstGeom>
          <a:noFill/>
          <a:ln/>
        </p:spPr>
        <p:txBody>
          <a:bodyPr wrap="square" lIns="0" tIns="0" rIns="0" bIns="0" rtlCol="0" anchor="t"/>
          <a:lstStyle/>
          <a:p>
            <a:pPr indent="0" marL="0">
              <a:buNone/>
            </a:pPr>
            <a:r>
              <a:rPr lang="en-US" sz="1900" b="1" dirty="0">
                <a:solidFill>
                  <a:schemeClr val="tx1"/>
                </a:solidFill>
              </a:rPr>
              <a:t>Marketing y Contenidos</a:t>
            </a:r>
            <a:endParaRPr lang="en-US" sz="1900" dirty="0"/>
          </a:p>
        </p:txBody>
      </p:sp>
      <p:sp>
        <p:nvSpPr>
          <p:cNvPr id="12" name="Text 10"/>
          <p:cNvSpPr txBox="1"/>
          <p:nvPr/>
        </p:nvSpPr>
        <p:spPr>
          <a:xfrm>
            <a:off x="4572000" y="3520440"/>
            <a:ext cx="2926080" cy="685800"/>
          </a:xfrm>
          <a:prstGeom prst="rect">
            <a:avLst/>
          </a:prstGeom>
          <a:noFill/>
          <a:ln/>
        </p:spPr>
        <p:txBody>
          <a:bodyPr wrap="square" lIns="0" tIns="0" rIns="0" bIns="0" rtlCol="0" anchor="t"/>
          <a:lstStyle/>
          <a:p>
            <a:pPr indent="0" marL="0">
              <a:buNone/>
            </a:pPr>
            <a:r>
              <a:rPr lang="en-US" sz="1500" dirty="0">
                <a:solidFill>
                  <a:schemeClr val="tx2"/>
                </a:solidFill>
              </a:rPr>
              <a:t>Decide qué segmentos y títulos promover</a:t>
            </a:r>
            <a:endParaRPr lang="en-US" sz="1500" dirty="0"/>
          </a:p>
        </p:txBody>
      </p:sp>
      <p:sp>
        <p:nvSpPr>
          <p:cNvPr id="13" name="Text 11"/>
          <p:cNvSpPr txBox="1"/>
          <p:nvPr/>
        </p:nvSpPr>
        <p:spPr>
          <a:xfrm>
            <a:off x="4572000" y="4343400"/>
            <a:ext cx="2926080" cy="822960"/>
          </a:xfrm>
          <a:prstGeom prst="rect">
            <a:avLst/>
          </a:prstGeom>
          <a:noFill/>
          <a:ln/>
        </p:spPr>
        <p:txBody>
          <a:bodyPr wrap="square" lIns="0" tIns="0" rIns="0" bIns="0" rtlCol="0" anchor="t"/>
          <a:lstStyle/>
          <a:p>
            <a:pPr indent="0" marL="0">
              <a:buNone/>
            </a:pPr>
            <a:r>
              <a:rPr lang="en-US" sz="1400" b="1" dirty="0">
                <a:solidFill>
                  <a:schemeClr val="accent1"/>
                </a:solidFill>
              </a:rPr>
              <a:t>Rankings dentro de cada formato, con el mensaje en color</a:t>
            </a:r>
            <a:endParaRPr lang="en-US" sz="1400" dirty="0"/>
          </a:p>
        </p:txBody>
      </p:sp>
      <p:sp>
        <p:nvSpPr>
          <p:cNvPr id="14" name="tarjeta"/>
          <p:cNvSpPr/>
          <p:nvPr/>
        </p:nvSpPr>
        <p:spPr>
          <a:xfrm>
            <a:off x="8046720" y="2743200"/>
            <a:ext cx="3474720" cy="2606040"/>
          </a:xfrm>
          <a:prstGeom prst="roundRect">
            <a:avLst>
              <a:gd name="adj" fmla="val 2105"/>
            </a:avLst>
          </a:prstGeom>
          <a:solidFill>
            <a:schemeClr val="bg2"/>
          </a:solidFill>
          <a:ln w="12700">
            <a:solidFill>
              <a:schemeClr val="bg2"/>
            </a:solidFill>
            <a:prstDash val="solid"/>
          </a:ln>
        </p:spPr>
      </p:sp>
      <p:sp>
        <p:nvSpPr>
          <p:cNvPr id="15" name="Text 13"/>
          <p:cNvSpPr txBox="1"/>
          <p:nvPr/>
        </p:nvSpPr>
        <p:spPr>
          <a:xfrm>
            <a:off x="8321040" y="3017520"/>
            <a:ext cx="2926080" cy="411480"/>
          </a:xfrm>
          <a:prstGeom prst="rect">
            <a:avLst/>
          </a:prstGeom>
          <a:noFill/>
          <a:ln/>
        </p:spPr>
        <p:txBody>
          <a:bodyPr wrap="square" lIns="0" tIns="0" rIns="0" bIns="0" rtlCol="0" anchor="t"/>
          <a:lstStyle/>
          <a:p>
            <a:pPr indent="0" marL="0">
              <a:buNone/>
            </a:pPr>
            <a:r>
              <a:rPr lang="en-US" sz="1900" b="1" dirty="0">
                <a:solidFill>
                  <a:schemeClr val="tx1"/>
                </a:solidFill>
              </a:rPr>
              <a:t>Data &amp; Analytics</a:t>
            </a:r>
            <a:endParaRPr lang="en-US" sz="1900" dirty="0"/>
          </a:p>
        </p:txBody>
      </p:sp>
      <p:sp>
        <p:nvSpPr>
          <p:cNvPr id="16" name="Text 14"/>
          <p:cNvSpPr txBox="1"/>
          <p:nvPr/>
        </p:nvSpPr>
        <p:spPr>
          <a:xfrm>
            <a:off x="8321040" y="3520440"/>
            <a:ext cx="2926080" cy="685800"/>
          </a:xfrm>
          <a:prstGeom prst="rect">
            <a:avLst/>
          </a:prstGeom>
          <a:noFill/>
          <a:ln/>
        </p:spPr>
        <p:txBody>
          <a:bodyPr wrap="square" lIns="0" tIns="0" rIns="0" bIns="0" rtlCol="0" anchor="t"/>
          <a:lstStyle/>
          <a:p>
            <a:pPr indent="0" marL="0">
              <a:buNone/>
            </a:pPr>
            <a:r>
              <a:rPr lang="en-US" sz="1500" dirty="0">
                <a:solidFill>
                  <a:schemeClr val="tx2"/>
                </a:solidFill>
              </a:rPr>
              <a:t>Decide si las cifras son confiables</a:t>
            </a:r>
            <a:endParaRPr lang="en-US" sz="1500" dirty="0"/>
          </a:p>
        </p:txBody>
      </p:sp>
      <p:sp>
        <p:nvSpPr>
          <p:cNvPr id="17" name="Text 15"/>
          <p:cNvSpPr txBox="1"/>
          <p:nvPr/>
        </p:nvSpPr>
        <p:spPr>
          <a:xfrm>
            <a:off x="8321040" y="4343400"/>
            <a:ext cx="2926080" cy="822960"/>
          </a:xfrm>
          <a:prstGeom prst="rect">
            <a:avLst/>
          </a:prstGeom>
          <a:noFill/>
          <a:ln/>
        </p:spPr>
        <p:txBody>
          <a:bodyPr wrap="square" lIns="0" tIns="0" rIns="0" bIns="0" rtlCol="0" anchor="t"/>
          <a:lstStyle/>
          <a:p>
            <a:pPr indent="0" marL="0">
              <a:buNone/>
            </a:pPr>
            <a:r>
              <a:rPr lang="en-US" sz="1400" b="1" dirty="0">
                <a:solidFill>
                  <a:schemeClr val="accent1"/>
                </a:solidFill>
              </a:rPr>
              <a:t>Vista exploratoria: cobertura, n y vistas técnicas</a:t>
            </a:r>
            <a:endParaRPr lang="en-US" sz="1400" dirty="0"/>
          </a:p>
        </p:txBody>
      </p:sp>
      <p:sp>
        <p:nvSpPr>
          <p:cNvPr id="18" name="Text 16"/>
          <p:cNvSpPr txBox="1"/>
          <p:nvPr/>
        </p:nvSpPr>
        <p:spPr>
          <a:xfrm>
            <a:off x="548640" y="5669280"/>
            <a:ext cx="10789920" cy="457200"/>
          </a:xfrm>
          <a:prstGeom prst="rect">
            <a:avLst/>
          </a:prstGeom>
          <a:noFill/>
          <a:ln/>
        </p:spPr>
        <p:txBody>
          <a:bodyPr wrap="square" lIns="0" tIns="0" rIns="0" bIns="0" rtlCol="0" anchor="t"/>
          <a:lstStyle/>
          <a:p>
            <a:pPr indent="0" marL="0">
              <a:buNone/>
            </a:pPr>
            <a:r>
              <a:rPr lang="en-US" sz="1500" i="1" dirty="0">
                <a:solidFill>
                  <a:schemeClr val="tx1"/>
                </a:solidFill>
              </a:rPr>
              <a:t>Objetivo: que cada público encuentre, en menos de un minuto, qué está pasando en el catálogo y qué decisión le corresponde.</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Integramos 31.991 títulos con tres reglas que cambian los resultados</a:t>
            </a:r>
            <a:endParaRPr lang="en-US" sz="3000" dirty="0"/>
          </a:p>
        </p:txBody>
      </p:sp>
      <p:sp>
        <p:nvSpPr>
          <p:cNvPr id="3" name="etiqueta"/>
          <p:cNvSpPr/>
          <p:nvPr/>
        </p:nvSpPr>
        <p:spPr>
          <a:xfrm>
            <a:off x="548640" y="347472"/>
            <a:ext cx="164592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64592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2 · LOS DATOS</a:t>
            </a:r>
            <a:endParaRPr lang="en-US" sz="1000" dirty="0"/>
          </a:p>
        </p:txBody>
      </p:sp>
      <p:sp>
        <p:nvSpPr>
          <p:cNvPr id="5" name="tarjeta"/>
          <p:cNvSpPr/>
          <p:nvPr/>
        </p:nvSpPr>
        <p:spPr>
          <a:xfrm>
            <a:off x="548640" y="1920240"/>
            <a:ext cx="3291840" cy="1783080"/>
          </a:xfrm>
          <a:prstGeom prst="roundRect">
            <a:avLst>
              <a:gd name="adj" fmla="val 3077"/>
            </a:avLst>
          </a:prstGeom>
          <a:solidFill>
            <a:schemeClr val="bg2"/>
          </a:solidFill>
          <a:ln w="12700">
            <a:solidFill>
              <a:schemeClr val="bg2"/>
            </a:solidFill>
            <a:prstDash val="solid"/>
          </a:ln>
        </p:spPr>
      </p:sp>
      <p:sp>
        <p:nvSpPr>
          <p:cNvPr id="6" name="tarjeta"/>
          <p:cNvSpPr/>
          <p:nvPr/>
        </p:nvSpPr>
        <p:spPr>
          <a:xfrm>
            <a:off x="548640" y="3886200"/>
            <a:ext cx="3291840" cy="1783080"/>
          </a:xfrm>
          <a:prstGeom prst="roundRect">
            <a:avLst>
              <a:gd name="adj" fmla="val 3077"/>
            </a:avLst>
          </a:prstGeom>
          <a:solidFill>
            <a:schemeClr val="bg2"/>
          </a:solidFill>
          <a:ln w="12700">
            <a:solidFill>
              <a:schemeClr val="bg2"/>
            </a:solidFill>
            <a:prstDash val="solid"/>
          </a:ln>
        </p:spPr>
      </p:sp>
      <p:sp>
        <p:nvSpPr>
          <p:cNvPr id="7" name="Text 5"/>
          <p:cNvSpPr txBox="1"/>
          <p:nvPr/>
        </p:nvSpPr>
        <p:spPr>
          <a:xfrm>
            <a:off x="822960" y="2057400"/>
            <a:ext cx="2743200" cy="640080"/>
          </a:xfrm>
          <a:prstGeom prst="rect">
            <a:avLst/>
          </a:prstGeom>
          <a:noFill/>
          <a:ln/>
        </p:spPr>
        <p:txBody>
          <a:bodyPr wrap="square" lIns="0" tIns="0" rIns="0" bIns="0" rtlCol="0" anchor="t"/>
          <a:lstStyle/>
          <a:p>
            <a:pPr indent="0" marL="0">
              <a:buNone/>
            </a:pPr>
            <a:r>
              <a:rPr lang="en-US" sz="3600" b="1" dirty="0">
                <a:solidFill>
                  <a:schemeClr val="accent2"/>
                </a:solidFill>
              </a:rPr>
              <a:t>16.000</a:t>
            </a:r>
            <a:endParaRPr lang="en-US" sz="3600" dirty="0"/>
          </a:p>
        </p:txBody>
      </p:sp>
      <p:sp>
        <p:nvSpPr>
          <p:cNvPr id="8" name="Text 6"/>
          <p:cNvSpPr txBox="1"/>
          <p:nvPr/>
        </p:nvSpPr>
        <p:spPr>
          <a:xfrm>
            <a:off x="822960" y="2697480"/>
            <a:ext cx="2834640" cy="822960"/>
          </a:xfrm>
          <a:prstGeom prst="rect">
            <a:avLst/>
          </a:prstGeom>
          <a:noFill/>
          <a:ln/>
        </p:spPr>
        <p:txBody>
          <a:bodyPr wrap="square" lIns="0" tIns="0" rIns="0" bIns="0" rtlCol="0" anchor="t"/>
          <a:lstStyle/>
          <a:p>
            <a:pPr indent="0" marL="0">
              <a:buNone/>
            </a:pPr>
            <a:r>
              <a:rPr lang="en-US" sz="1400" dirty="0">
                <a:solidFill>
                  <a:schemeClr val="tx2"/>
                </a:solidFill>
              </a:rPr>
              <a:t>películas · 18 variables, con presupuesto e ingresos</a:t>
            </a:r>
            <a:endParaRPr lang="en-US" sz="1400" dirty="0"/>
          </a:p>
        </p:txBody>
      </p:sp>
      <p:sp>
        <p:nvSpPr>
          <p:cNvPr id="9" name="Text 7"/>
          <p:cNvSpPr txBox="1"/>
          <p:nvPr/>
        </p:nvSpPr>
        <p:spPr>
          <a:xfrm>
            <a:off x="822960" y="4023360"/>
            <a:ext cx="2743200" cy="640080"/>
          </a:xfrm>
          <a:prstGeom prst="rect">
            <a:avLst/>
          </a:prstGeom>
          <a:noFill/>
          <a:ln/>
        </p:spPr>
        <p:txBody>
          <a:bodyPr wrap="square" lIns="0" tIns="0" rIns="0" bIns="0" rtlCol="0" anchor="t"/>
          <a:lstStyle/>
          <a:p>
            <a:pPr indent="0" marL="0">
              <a:buNone/>
            </a:pPr>
            <a:r>
              <a:rPr lang="en-US" sz="3600" b="1" dirty="0">
                <a:solidFill>
                  <a:schemeClr val="accent3"/>
                </a:solidFill>
              </a:rPr>
              <a:t>15.991</a:t>
            </a:r>
            <a:endParaRPr lang="en-US" sz="3600" dirty="0"/>
          </a:p>
        </p:txBody>
      </p:sp>
      <p:sp>
        <p:nvSpPr>
          <p:cNvPr id="10" name="Text 8"/>
          <p:cNvSpPr txBox="1"/>
          <p:nvPr/>
        </p:nvSpPr>
        <p:spPr>
          <a:xfrm>
            <a:off x="822960" y="4663440"/>
            <a:ext cx="2834640" cy="822960"/>
          </a:xfrm>
          <a:prstGeom prst="rect">
            <a:avLst/>
          </a:prstGeom>
          <a:noFill/>
          <a:ln/>
        </p:spPr>
        <p:txBody>
          <a:bodyPr wrap="square" lIns="0" tIns="0" rIns="0" bIns="0" rtlCol="0" anchor="t"/>
          <a:lstStyle/>
          <a:p>
            <a:pPr indent="0" marL="0">
              <a:buNone/>
            </a:pPr>
            <a:r>
              <a:rPr lang="en-US" sz="1400" dirty="0">
                <a:solidFill>
                  <a:schemeClr val="tx2"/>
                </a:solidFill>
              </a:rPr>
              <a:t>series únicas · 16 variables, sin datos financieros</a:t>
            </a:r>
            <a:endParaRPr lang="en-US" sz="1400" dirty="0"/>
          </a:p>
        </p:txBody>
      </p:sp>
      <p:sp>
        <p:nvSpPr>
          <p:cNvPr id="11" name="Text 9"/>
          <p:cNvSpPr txBox="1"/>
          <p:nvPr/>
        </p:nvSpPr>
        <p:spPr>
          <a:xfrm>
            <a:off x="548640" y="5760720"/>
            <a:ext cx="3291840" cy="685800"/>
          </a:xfrm>
          <a:prstGeom prst="rect">
            <a:avLst/>
          </a:prstGeom>
          <a:noFill/>
          <a:ln/>
        </p:spPr>
        <p:txBody>
          <a:bodyPr wrap="square" lIns="0" tIns="0" rIns="0" bIns="0" rtlCol="0" anchor="t"/>
          <a:lstStyle/>
          <a:p>
            <a:pPr indent="0" marL="0">
              <a:buNone/>
            </a:pPr>
            <a:r>
              <a:rPr lang="en-US" sz="1100" dirty="0">
                <a:solidFill>
                  <a:schemeClr val="accent5"/>
                </a:solidFill>
              </a:rPr>
              <a:t>Variables clave: país, idioma, género, año de estreno, popularidad (índice TMDB), votos y calificación (0 a 10), presupuesto e ingresos.</a:t>
            </a:r>
            <a:endParaRPr lang="en-US" sz="1100" dirty="0"/>
          </a:p>
        </p:txBody>
      </p:sp>
      <p:sp>
        <p:nvSpPr>
          <p:cNvPr id="12" name="numero"/>
          <p:cNvSpPr/>
          <p:nvPr/>
        </p:nvSpPr>
        <p:spPr>
          <a:xfrm>
            <a:off x="4343400" y="1965960"/>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4343400" y="1965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4" name="Text 12"/>
          <p:cNvSpPr txBox="1"/>
          <p:nvPr/>
        </p:nvSpPr>
        <p:spPr>
          <a:xfrm>
            <a:off x="5074920" y="1920240"/>
            <a:ext cx="6492240" cy="411480"/>
          </a:xfrm>
          <a:prstGeom prst="rect">
            <a:avLst/>
          </a:prstGeom>
          <a:noFill/>
          <a:ln/>
        </p:spPr>
        <p:txBody>
          <a:bodyPr wrap="square" lIns="0" tIns="0" rIns="0" bIns="0" rtlCol="0" anchor="t"/>
          <a:lstStyle/>
          <a:p>
            <a:pPr indent="0" marL="0">
              <a:buNone/>
            </a:pPr>
            <a:r>
              <a:rPr lang="en-US" sz="1800" b="1" dirty="0">
                <a:solidFill>
                  <a:schemeClr val="tx1"/>
                </a:solidFill>
              </a:rPr>
              <a:t>Calificación solo con 10 o más votos</a:t>
            </a:r>
            <a:endParaRPr lang="en-US" sz="1800" dirty="0"/>
          </a:p>
        </p:txBody>
      </p:sp>
      <p:sp>
        <p:nvSpPr>
          <p:cNvPr id="15" name="Text 13"/>
          <p:cNvSpPr txBox="1"/>
          <p:nvPr/>
        </p:nvSpPr>
        <p:spPr>
          <a:xfrm>
            <a:off x="5074920" y="2359152"/>
            <a:ext cx="6492240" cy="685800"/>
          </a:xfrm>
          <a:prstGeom prst="rect">
            <a:avLst/>
          </a:prstGeom>
          <a:noFill/>
          <a:ln/>
        </p:spPr>
        <p:txBody>
          <a:bodyPr wrap="square" lIns="0" tIns="0" rIns="0" bIns="0" rtlCol="0" anchor="t"/>
          <a:lstStyle/>
          <a:p>
            <a:pPr indent="0" marL="0">
              <a:buNone/>
            </a:pPr>
            <a:r>
              <a:rPr lang="en-US" sz="1400" dirty="0">
                <a:solidFill>
                  <a:schemeClr val="tx2"/>
                </a:solidFill>
              </a:rPr>
              <a:t>4.560 títulos sin votos traían nota 0. Promediarlos hundía la calificación del catálogo a 5,7.</a:t>
            </a:r>
            <a:endParaRPr lang="en-US" sz="1400" dirty="0"/>
          </a:p>
        </p:txBody>
      </p:sp>
      <p:sp>
        <p:nvSpPr>
          <p:cNvPr id="16" name="numero"/>
          <p:cNvSpPr/>
          <p:nvPr/>
        </p:nvSpPr>
        <p:spPr>
          <a:xfrm>
            <a:off x="4343400" y="3246120"/>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4343400" y="3246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8" name="Text 16"/>
          <p:cNvSpPr txBox="1"/>
          <p:nvPr/>
        </p:nvSpPr>
        <p:spPr>
          <a:xfrm>
            <a:off x="5074920" y="3200400"/>
            <a:ext cx="6492240" cy="411480"/>
          </a:xfrm>
          <a:prstGeom prst="rect">
            <a:avLst/>
          </a:prstGeom>
          <a:noFill/>
          <a:ln/>
        </p:spPr>
        <p:txBody>
          <a:bodyPr wrap="square" lIns="0" tIns="0" rIns="0" bIns="0" rtlCol="0" anchor="t"/>
          <a:lstStyle/>
          <a:p>
            <a:pPr indent="0" marL="0">
              <a:buNone/>
            </a:pPr>
            <a:r>
              <a:rPr lang="en-US" sz="1800" b="1" dirty="0">
                <a:solidFill>
                  <a:schemeClr val="tx1"/>
                </a:solidFill>
              </a:rPr>
              <a:t>Comparar dentro de un mismo formato</a:t>
            </a:r>
            <a:endParaRPr lang="en-US" sz="1800" dirty="0"/>
          </a:p>
        </p:txBody>
      </p:sp>
      <p:sp>
        <p:nvSpPr>
          <p:cNvPr id="19" name="Text 17"/>
          <p:cNvSpPr txBox="1"/>
          <p:nvPr/>
        </p:nvSpPr>
        <p:spPr>
          <a:xfrm>
            <a:off x="5074920" y="3639312"/>
            <a:ext cx="6492240" cy="685800"/>
          </a:xfrm>
          <a:prstGeom prst="rect">
            <a:avLst/>
          </a:prstGeom>
          <a:noFill/>
          <a:ln/>
        </p:spPr>
        <p:txBody>
          <a:bodyPr wrap="square" lIns="0" tIns="0" rIns="0" bIns="0" rtlCol="0" anchor="t"/>
          <a:lstStyle/>
          <a:p>
            <a:pPr indent="0" marL="0">
              <a:buNone/>
            </a:pPr>
            <a:r>
              <a:rPr lang="en-US" sz="1400" dirty="0">
                <a:solidFill>
                  <a:schemeClr val="tx2"/>
                </a:solidFill>
              </a:rPr>
              <a:t>Las series tienen 3 veces más popularidad típica que las películas. Mezclarlas premiaba a los países con más series.</a:t>
            </a:r>
            <a:endParaRPr lang="en-US" sz="1400" dirty="0"/>
          </a:p>
        </p:txBody>
      </p:sp>
      <p:sp>
        <p:nvSpPr>
          <p:cNvPr id="20" name="numero"/>
          <p:cNvSpPr/>
          <p:nvPr/>
        </p:nvSpPr>
        <p:spPr>
          <a:xfrm>
            <a:off x="4343400" y="452628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4343400" y="45262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 20"/>
          <p:cNvSpPr txBox="1"/>
          <p:nvPr/>
        </p:nvSpPr>
        <p:spPr>
          <a:xfrm>
            <a:off x="5074920" y="4480560"/>
            <a:ext cx="6492240" cy="411480"/>
          </a:xfrm>
          <a:prstGeom prst="rect">
            <a:avLst/>
          </a:prstGeom>
          <a:noFill/>
          <a:ln/>
        </p:spPr>
        <p:txBody>
          <a:bodyPr wrap="square" lIns="0" tIns="0" rIns="0" bIns="0" rtlCol="0" anchor="t"/>
          <a:lstStyle/>
          <a:p>
            <a:pPr indent="0" marL="0">
              <a:buNone/>
            </a:pPr>
            <a:r>
              <a:rPr lang="en-US" sz="1800" b="1" dirty="0">
                <a:solidFill>
                  <a:schemeClr val="tx1"/>
                </a:solidFill>
              </a:rPr>
              <a:t>Finanzas solo con montos creíbles</a:t>
            </a:r>
            <a:endParaRPr lang="en-US" sz="1800" dirty="0"/>
          </a:p>
        </p:txBody>
      </p:sp>
      <p:sp>
        <p:nvSpPr>
          <p:cNvPr id="23" name="Text 21"/>
          <p:cNvSpPr txBox="1"/>
          <p:nvPr/>
        </p:nvSpPr>
        <p:spPr>
          <a:xfrm>
            <a:off x="5074920" y="4919472"/>
            <a:ext cx="6492240" cy="685800"/>
          </a:xfrm>
          <a:prstGeom prst="rect">
            <a:avLst/>
          </a:prstGeom>
          <a:noFill/>
          <a:ln/>
        </p:spPr>
        <p:txBody>
          <a:bodyPr wrap="square" lIns="0" tIns="0" rIns="0" bIns="0" rtlCol="0" anchor="t"/>
          <a:lstStyle/>
          <a:p>
            <a:pPr indent="0" marL="0">
              <a:buNone/>
            </a:pPr>
            <a:r>
              <a:rPr lang="en-US" sz="1400" dirty="0">
                <a:solidFill>
                  <a:schemeClr val="tx2"/>
                </a:solidFill>
              </a:rPr>
              <a:t>Había presupuestos de US$1 o US$5. Quedan 3.468 películas (22%) con datos confiables.</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Casi la mitad de las películas del catálogo son de EE.UU.</a:t>
            </a:r>
            <a:endParaRPr lang="en-US" sz="3000" dirty="0"/>
          </a:p>
        </p:txBody>
      </p:sp>
      <p:sp>
        <p:nvSpPr>
          <p:cNvPr id="3" name="etiqueta"/>
          <p:cNvSpPr/>
          <p:nvPr/>
        </p:nvSpPr>
        <p:spPr>
          <a:xfrm>
            <a:off x="548640" y="347472"/>
            <a:ext cx="219456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19456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3 · EL CATÁLOGO HOY</a:t>
            </a:r>
            <a:endParaRPr lang="en-US" sz="1000" dirty="0"/>
          </a:p>
        </p:txBody>
      </p:sp>
      <p:sp>
        <p:nvSpPr>
          <p:cNvPr id="5" name="Text 3"/>
          <p:cNvSpPr txBox="1"/>
          <p:nvPr/>
        </p:nvSpPr>
        <p:spPr>
          <a:xfrm>
            <a:off x="548640" y="2103120"/>
            <a:ext cx="3291840" cy="868680"/>
          </a:xfrm>
          <a:prstGeom prst="rect">
            <a:avLst/>
          </a:prstGeom>
          <a:noFill/>
          <a:ln/>
        </p:spPr>
        <p:txBody>
          <a:bodyPr wrap="square" lIns="0" tIns="0" rIns="0" bIns="0" rtlCol="0" anchor="t"/>
          <a:lstStyle/>
          <a:p>
            <a:pPr indent="0" marL="0">
              <a:buNone/>
            </a:pPr>
            <a:r>
              <a:rPr lang="en-US" sz="5400" b="1" dirty="0">
                <a:solidFill>
                  <a:schemeClr val="tx1"/>
                </a:solidFill>
              </a:rPr>
              <a:t>49%</a:t>
            </a:r>
            <a:endParaRPr lang="en-US" sz="5400" dirty="0"/>
          </a:p>
        </p:txBody>
      </p:sp>
      <p:sp>
        <p:nvSpPr>
          <p:cNvPr id="6" name="Text 4"/>
          <p:cNvSpPr txBox="1"/>
          <p:nvPr/>
        </p:nvSpPr>
        <p:spPr>
          <a:xfrm>
            <a:off x="548640" y="2999232"/>
            <a:ext cx="3291840" cy="731520"/>
          </a:xfrm>
          <a:prstGeom prst="rect">
            <a:avLst/>
          </a:prstGeom>
          <a:noFill/>
          <a:ln/>
        </p:spPr>
        <p:txBody>
          <a:bodyPr wrap="square" lIns="0" tIns="0" rIns="0" bIns="0" rtlCol="0" anchor="t"/>
          <a:lstStyle/>
          <a:p>
            <a:pPr indent="0" marL="0">
              <a:buNone/>
            </a:pPr>
            <a:r>
              <a:rPr lang="en-US" sz="1400" dirty="0">
                <a:solidFill>
                  <a:schemeClr val="tx2"/>
                </a:solidFill>
              </a:rPr>
              <a:t>de las 16.000 películas son producciones de EE.UU.</a:t>
            </a:r>
            <a:endParaRPr lang="en-US" sz="1400" dirty="0"/>
          </a:p>
        </p:txBody>
      </p:sp>
      <p:sp>
        <p:nvSpPr>
          <p:cNvPr id="7" name="Text 5"/>
          <p:cNvSpPr txBox="1"/>
          <p:nvPr/>
        </p:nvSpPr>
        <p:spPr>
          <a:xfrm>
            <a:off x="548640" y="3977640"/>
            <a:ext cx="3291840" cy="868680"/>
          </a:xfrm>
          <a:prstGeom prst="rect">
            <a:avLst/>
          </a:prstGeom>
          <a:noFill/>
          <a:ln/>
        </p:spPr>
        <p:txBody>
          <a:bodyPr wrap="square" lIns="0" tIns="0" rIns="0" bIns="0" rtlCol="0" anchor="t"/>
          <a:lstStyle/>
          <a:p>
            <a:pPr indent="0" marL="0">
              <a:buNone/>
            </a:pPr>
            <a:r>
              <a:rPr lang="en-US" sz="5400" b="1" dirty="0">
                <a:solidFill>
                  <a:schemeClr val="accent1"/>
                </a:solidFill>
              </a:rPr>
              <a:t>13%</a:t>
            </a:r>
            <a:endParaRPr lang="en-US" sz="5400" dirty="0"/>
          </a:p>
        </p:txBody>
      </p:sp>
      <p:sp>
        <p:nvSpPr>
          <p:cNvPr id="8" name="Text 6"/>
          <p:cNvSpPr txBox="1"/>
          <p:nvPr/>
        </p:nvSpPr>
        <p:spPr>
          <a:xfrm>
            <a:off x="548640" y="4873752"/>
            <a:ext cx="3291840" cy="731520"/>
          </a:xfrm>
          <a:prstGeom prst="rect">
            <a:avLst/>
          </a:prstGeom>
          <a:noFill/>
          <a:ln/>
        </p:spPr>
        <p:txBody>
          <a:bodyPr wrap="square" lIns="0" tIns="0" rIns="0" bIns="0" rtlCol="0" anchor="t"/>
          <a:lstStyle/>
          <a:p>
            <a:pPr indent="0" marL="0">
              <a:buNone/>
            </a:pPr>
            <a:r>
              <a:rPr lang="en-US" sz="1400" dirty="0">
                <a:solidFill>
                  <a:schemeClr val="tx2"/>
                </a:solidFill>
              </a:rPr>
              <a:t>son de Japón, Corea del Sur y México juntos</a:t>
            </a:r>
            <a:endParaRPr lang="en-US" sz="1400" dirty="0"/>
          </a:p>
        </p:txBody>
      </p:sp>
      <p:sp>
        <p:nvSpPr>
          <p:cNvPr id="9" name="Text 7"/>
          <p:cNvSpPr txBox="1"/>
          <p:nvPr/>
        </p:nvSpPr>
        <p:spPr>
          <a:xfrm>
            <a:off x="4480560" y="1920240"/>
            <a:ext cx="6858000" cy="365760"/>
          </a:xfrm>
          <a:prstGeom prst="rect">
            <a:avLst/>
          </a:prstGeom>
          <a:noFill/>
          <a:ln/>
        </p:spPr>
        <p:txBody>
          <a:bodyPr wrap="square" lIns="0" tIns="0" rIns="0" bIns="0" rtlCol="0" anchor="t"/>
          <a:lstStyle/>
          <a:p>
            <a:pPr indent="0" marL="0">
              <a:buNone/>
            </a:pPr>
            <a:r>
              <a:rPr lang="en-US" sz="1400" b="1" dirty="0">
                <a:solidFill>
                  <a:schemeClr val="tx1"/>
                </a:solidFill>
              </a:rPr>
              <a:t>Películas por país productor</a:t>
            </a:r>
            <a:endParaRPr lang="en-US" sz="1400" dirty="0"/>
          </a:p>
        </p:txBody>
      </p:sp>
      <p:graphicFrame>
        <p:nvGraphicFramePr>
          <p:cNvPr id="10" name="grafico_paises" descr=""/>
          <p:cNvGraphicFramePr/>
          <p:nvPr/>
        </p:nvGraphicFramePr>
        <p:xfrm>
          <a:off x="4389120" y="2286000"/>
          <a:ext cx="7223760" cy="384048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4480560" y="6126480"/>
            <a:ext cx="6400800" cy="274320"/>
          </a:xfrm>
          <a:prstGeom prst="rect">
            <a:avLst/>
          </a:prstGeom>
          <a:noFill/>
          <a:ln/>
        </p:spPr>
        <p:txBody>
          <a:bodyPr wrap="square" lIns="0" tIns="0" rIns="0" bIns="0" rtlCol="0" anchor="t"/>
          <a:lstStyle/>
          <a:p>
            <a:pPr indent="0" marL="0">
              <a:buNone/>
            </a:pPr>
            <a:r>
              <a:rPr lang="en-US" sz="1100" dirty="0">
                <a:solidFill>
                  <a:schemeClr val="accent5"/>
                </a:solidFill>
              </a:rPr>
              <a:t>Las coproducciones suman en cada país.</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Pero las mejor evaluadas vienen de Japón, Corea del Sur y México</a:t>
            </a:r>
            <a:endParaRPr lang="en-US" sz="3000" dirty="0"/>
          </a:p>
        </p:txBody>
      </p:sp>
      <p:sp>
        <p:nvSpPr>
          <p:cNvPr id="3" name="etiqueta"/>
          <p:cNvSpPr/>
          <p:nvPr/>
        </p:nvSpPr>
        <p:spPr>
          <a:xfrm>
            <a:off x="548640" y="347472"/>
            <a:ext cx="182880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82880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4 · EL HALLAZGO</a:t>
            </a:r>
            <a:endParaRPr lang="en-US" sz="1000" dirty="0"/>
          </a:p>
        </p:txBody>
      </p:sp>
      <p:sp>
        <p:nvSpPr>
          <p:cNvPr id="5" name="Text 3"/>
          <p:cNvSpPr txBox="1"/>
          <p:nvPr/>
        </p:nvSpPr>
        <p:spPr>
          <a:xfrm>
            <a:off x="548640" y="1828800"/>
            <a:ext cx="7315200" cy="365760"/>
          </a:xfrm>
          <a:prstGeom prst="rect">
            <a:avLst/>
          </a:prstGeom>
          <a:noFill/>
          <a:ln/>
        </p:spPr>
        <p:txBody>
          <a:bodyPr wrap="square" lIns="0" tIns="0" rIns="0" bIns="0" rtlCol="0" anchor="t"/>
          <a:lstStyle/>
          <a:p>
            <a:pPr indent="0" marL="0">
              <a:buNone/>
            </a:pPr>
            <a:r>
              <a:rPr lang="en-US" sz="1400" b="1" dirty="0">
                <a:solidFill>
                  <a:schemeClr val="tx1"/>
                </a:solidFill>
              </a:rPr>
              <a:t>Películas bien evaluadas (7 o más sobre 10), por país</a:t>
            </a:r>
            <a:endParaRPr lang="en-US" sz="1400" dirty="0"/>
          </a:p>
        </p:txBody>
      </p:sp>
      <p:graphicFrame>
        <p:nvGraphicFramePr>
          <p:cNvPr id="6" name="grafico_mercados" descr=""/>
          <p:cNvGraphicFramePr/>
          <p:nvPr/>
        </p:nvGraphicFramePr>
        <p:xfrm>
          <a:off x="457200" y="2103120"/>
          <a:ext cx="7040880" cy="4251960"/>
        </p:xfrm>
        <a:graphic xmlns:a="http://schemas.openxmlformats.org/drawingml/2006/main">
          <a:graphicData uri="http://schemas.openxmlformats.org/drawingml/2006/chart">
            <c:chart xmlns:c="http://schemas.openxmlformats.org/drawingml/2006/chart" r:id="rId1"/>
          </a:graphicData>
        </a:graphic>
      </p:graphicFrame>
      <p:sp>
        <p:nvSpPr>
          <p:cNvPr id="7" name="tarjeta"/>
          <p:cNvSpPr/>
          <p:nvPr/>
        </p:nvSpPr>
        <p:spPr>
          <a:xfrm>
            <a:off x="7955280" y="2103120"/>
            <a:ext cx="3657600" cy="3931920"/>
          </a:xfrm>
          <a:prstGeom prst="roundRect">
            <a:avLst>
              <a:gd name="adj" fmla="val 1500"/>
            </a:avLst>
          </a:prstGeom>
          <a:solidFill>
            <a:schemeClr val="bg2"/>
          </a:solidFill>
          <a:ln w="12700">
            <a:solidFill>
              <a:schemeClr val="bg2"/>
            </a:solidFill>
            <a:prstDash val="solid"/>
          </a:ln>
        </p:spPr>
      </p:sp>
      <p:sp>
        <p:nvSpPr>
          <p:cNvPr id="8" name="Text 5"/>
          <p:cNvSpPr txBox="1"/>
          <p:nvPr/>
        </p:nvSpPr>
        <p:spPr>
          <a:xfrm>
            <a:off x="8229600" y="2331720"/>
            <a:ext cx="3200400" cy="685800"/>
          </a:xfrm>
          <a:prstGeom prst="rect">
            <a:avLst/>
          </a:prstGeom>
          <a:noFill/>
          <a:ln/>
        </p:spPr>
        <p:txBody>
          <a:bodyPr wrap="square" lIns="0" tIns="0" rIns="0" bIns="0" rtlCol="0" anchor="t"/>
          <a:lstStyle/>
          <a:p>
            <a:pPr indent="0" marL="0">
              <a:buNone/>
            </a:pPr>
            <a:r>
              <a:rPr lang="en-US" sz="3600" b="1" dirty="0">
                <a:solidFill>
                  <a:schemeClr val="accent1"/>
                </a:solidFill>
              </a:rPr>
              <a:t>5 de cada 10</a:t>
            </a:r>
            <a:endParaRPr lang="en-US" sz="3600" dirty="0"/>
          </a:p>
        </p:txBody>
      </p:sp>
      <p:sp>
        <p:nvSpPr>
          <p:cNvPr id="9" name="Text 6"/>
          <p:cNvSpPr txBox="1"/>
          <p:nvPr/>
        </p:nvSpPr>
        <p:spPr>
          <a:xfrm>
            <a:off x="8229600" y="3017520"/>
            <a:ext cx="3200400" cy="685800"/>
          </a:xfrm>
          <a:prstGeom prst="rect">
            <a:avLst/>
          </a:prstGeom>
          <a:noFill/>
          <a:ln/>
        </p:spPr>
        <p:txBody>
          <a:bodyPr wrap="square" lIns="0" tIns="0" rIns="0" bIns="0" rtlCol="0" anchor="t"/>
          <a:lstStyle/>
          <a:p>
            <a:pPr indent="0" marL="0">
              <a:buNone/>
            </a:pPr>
            <a:r>
              <a:rPr lang="en-US" sz="1500" dirty="0">
                <a:solidFill>
                  <a:schemeClr val="tx2"/>
                </a:solidFill>
              </a:rPr>
              <a:t>películas japonesas están bien evaluadas por el público</a:t>
            </a:r>
            <a:endParaRPr lang="en-US" sz="1500" dirty="0"/>
          </a:p>
        </p:txBody>
      </p:sp>
      <p:sp>
        <p:nvSpPr>
          <p:cNvPr id="10" name="Text 7"/>
          <p:cNvSpPr txBox="1"/>
          <p:nvPr/>
        </p:nvSpPr>
        <p:spPr>
          <a:xfrm>
            <a:off x="8229600" y="3977640"/>
            <a:ext cx="3200400" cy="685800"/>
          </a:xfrm>
          <a:prstGeom prst="rect">
            <a:avLst/>
          </a:prstGeom>
          <a:noFill/>
          <a:ln/>
        </p:spPr>
        <p:txBody>
          <a:bodyPr wrap="square" lIns="0" tIns="0" rIns="0" bIns="0" rtlCol="0" anchor="t"/>
          <a:lstStyle/>
          <a:p>
            <a:pPr indent="0" marL="0">
              <a:buNone/>
            </a:pPr>
            <a:r>
              <a:rPr lang="en-US" sz="3600" b="1" dirty="0">
                <a:solidFill>
                  <a:schemeClr val="tx2"/>
                </a:solidFill>
              </a:rPr>
              <a:t>2 de cada 10</a:t>
            </a:r>
            <a:endParaRPr lang="en-US" sz="3600" dirty="0"/>
          </a:p>
        </p:txBody>
      </p:sp>
      <p:sp>
        <p:nvSpPr>
          <p:cNvPr id="11" name="Text 8"/>
          <p:cNvSpPr txBox="1"/>
          <p:nvPr/>
        </p:nvSpPr>
        <p:spPr>
          <a:xfrm>
            <a:off x="8229600" y="4663440"/>
            <a:ext cx="3200400" cy="685800"/>
          </a:xfrm>
          <a:prstGeom prst="rect">
            <a:avLst/>
          </a:prstGeom>
          <a:noFill/>
          <a:ln/>
        </p:spPr>
        <p:txBody>
          <a:bodyPr wrap="square" lIns="0" tIns="0" rIns="0" bIns="0" rtlCol="0" anchor="t"/>
          <a:lstStyle/>
          <a:p>
            <a:pPr indent="0" marL="0">
              <a:buNone/>
            </a:pPr>
            <a:r>
              <a:rPr lang="en-US" sz="1500" dirty="0">
                <a:solidFill>
                  <a:schemeClr val="tx2"/>
                </a:solidFill>
              </a:rPr>
              <a:t>en EE.UU., que aporta casi la mitad de las películas</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La ventaja resiste tres métodos distintos, pero solo en películas</a:t>
            </a:r>
            <a:endParaRPr lang="en-US" sz="3000" dirty="0"/>
          </a:p>
        </p:txBody>
      </p:sp>
      <p:sp>
        <p:nvSpPr>
          <p:cNvPr id="3" name="etiqueta"/>
          <p:cNvSpPr/>
          <p:nvPr/>
        </p:nvSpPr>
        <p:spPr>
          <a:xfrm>
            <a:off x="548640" y="347472"/>
            <a:ext cx="210312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10312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5 · ¿ES CONFIABLE?</a:t>
            </a:r>
            <a:endParaRPr lang="en-US" sz="1000" dirty="0"/>
          </a:p>
        </p:txBody>
      </p:sp>
      <p:sp>
        <p:nvSpPr>
          <p:cNvPr id="5" name="Text 3"/>
          <p:cNvSpPr txBox="1"/>
          <p:nvPr/>
        </p:nvSpPr>
        <p:spPr>
          <a:xfrm>
            <a:off x="548640" y="1874520"/>
            <a:ext cx="2560320" cy="365760"/>
          </a:xfrm>
          <a:prstGeom prst="rect">
            <a:avLst/>
          </a:prstGeom>
          <a:noFill/>
          <a:ln/>
        </p:spPr>
        <p:txBody>
          <a:bodyPr wrap="square" lIns="0" tIns="0" rIns="0" bIns="0" rtlCol="0" anchor="t"/>
          <a:lstStyle/>
          <a:p>
            <a:pPr indent="0" marL="0">
              <a:buNone/>
            </a:pPr>
            <a:r>
              <a:rPr lang="en-US" sz="1600" b="1" dirty="0">
                <a:solidFill>
                  <a:schemeClr val="tx1"/>
                </a:solidFill>
              </a:rPr>
              <a:t>Comparación directa</a:t>
            </a:r>
            <a:endParaRPr lang="en-US" sz="1600" dirty="0"/>
          </a:p>
        </p:txBody>
      </p:sp>
      <p:sp>
        <p:nvSpPr>
          <p:cNvPr id="6" name="Text 4"/>
          <p:cNvSpPr txBox="1"/>
          <p:nvPr/>
        </p:nvSpPr>
        <p:spPr>
          <a:xfrm>
            <a:off x="548640" y="2286000"/>
            <a:ext cx="2560320" cy="822960"/>
          </a:xfrm>
          <a:prstGeom prst="rect">
            <a:avLst/>
          </a:prstGeom>
          <a:noFill/>
          <a:ln/>
        </p:spPr>
        <p:txBody>
          <a:bodyPr wrap="square" lIns="0" tIns="0" rIns="0" bIns="0" rtlCol="0" anchor="t"/>
          <a:lstStyle/>
          <a:p>
            <a:pPr indent="0" marL="0">
              <a:buNone/>
            </a:pPr>
            <a:r>
              <a:rPr lang="en-US" sz="1200" dirty="0">
                <a:solidFill>
                  <a:schemeClr val="accent5"/>
                </a:solidFill>
              </a:rPr>
              <a:t>Películas con 10 o más votos</a:t>
            </a:r>
            <a:endParaRPr lang="en-US" sz="1200" dirty="0"/>
          </a:p>
        </p:txBody>
      </p:sp>
      <p:sp>
        <p:nvSpPr>
          <p:cNvPr id="7" name="Text 5"/>
          <p:cNvSpPr txBox="1"/>
          <p:nvPr/>
        </p:nvSpPr>
        <p:spPr>
          <a:xfrm>
            <a:off x="3291840" y="1874520"/>
            <a:ext cx="2560320" cy="365760"/>
          </a:xfrm>
          <a:prstGeom prst="rect">
            <a:avLst/>
          </a:prstGeom>
          <a:noFill/>
          <a:ln/>
        </p:spPr>
        <p:txBody>
          <a:bodyPr wrap="square" lIns="0" tIns="0" rIns="0" bIns="0" rtlCol="0" anchor="t"/>
          <a:lstStyle/>
          <a:p>
            <a:pPr indent="0" marL="0">
              <a:buNone/>
            </a:pPr>
            <a:r>
              <a:rPr lang="en-US" sz="1600" b="1" dirty="0">
                <a:solidFill>
                  <a:schemeClr val="tx1"/>
                </a:solidFill>
              </a:rPr>
              <a:t>Mismo género y año</a:t>
            </a:r>
            <a:endParaRPr lang="en-US" sz="1600" dirty="0"/>
          </a:p>
        </p:txBody>
      </p:sp>
      <p:sp>
        <p:nvSpPr>
          <p:cNvPr id="8" name="Text 6"/>
          <p:cNvSpPr txBox="1"/>
          <p:nvPr/>
        </p:nvSpPr>
        <p:spPr>
          <a:xfrm>
            <a:off x="3291840" y="2286000"/>
            <a:ext cx="2560320" cy="822960"/>
          </a:xfrm>
          <a:prstGeom prst="rect">
            <a:avLst/>
          </a:prstGeom>
          <a:noFill/>
          <a:ln/>
        </p:spPr>
        <p:txBody>
          <a:bodyPr wrap="square" lIns="0" tIns="0" rIns="0" bIns="0" rtlCol="0" anchor="t"/>
          <a:lstStyle/>
          <a:p>
            <a:pPr indent="0" marL="0">
              <a:buNone/>
            </a:pPr>
            <a:r>
              <a:rPr lang="en-US" sz="1200" dirty="0">
                <a:solidFill>
                  <a:schemeClr val="accent5"/>
                </a:solidFill>
              </a:rPr>
              <a:t>Descarta que sea efecto de producir más animación o estrenos recientes</a:t>
            </a:r>
            <a:endParaRPr lang="en-US" sz="1200" dirty="0"/>
          </a:p>
        </p:txBody>
      </p:sp>
      <p:sp>
        <p:nvSpPr>
          <p:cNvPr id="9" name="Text 7"/>
          <p:cNvSpPr txBox="1"/>
          <p:nvPr/>
        </p:nvSpPr>
        <p:spPr>
          <a:xfrm>
            <a:off x="6035040" y="1874520"/>
            <a:ext cx="2560320" cy="365760"/>
          </a:xfrm>
          <a:prstGeom prst="rect">
            <a:avLst/>
          </a:prstGeom>
          <a:noFill/>
          <a:ln/>
        </p:spPr>
        <p:txBody>
          <a:bodyPr wrap="square" lIns="0" tIns="0" rIns="0" bIns="0" rtlCol="0" anchor="t"/>
          <a:lstStyle/>
          <a:p>
            <a:pPr indent="0" marL="0">
              <a:buNone/>
            </a:pPr>
            <a:r>
              <a:rPr lang="en-US" sz="1600" b="1" dirty="0">
                <a:solidFill>
                  <a:schemeClr val="tx1"/>
                </a:solidFill>
              </a:rPr>
              <a:t>Incluyendo pocos votos</a:t>
            </a:r>
            <a:endParaRPr lang="en-US" sz="1600" dirty="0"/>
          </a:p>
        </p:txBody>
      </p:sp>
      <p:sp>
        <p:nvSpPr>
          <p:cNvPr id="10" name="Text 8"/>
          <p:cNvSpPr txBox="1"/>
          <p:nvPr/>
        </p:nvSpPr>
        <p:spPr>
          <a:xfrm>
            <a:off x="6035040" y="2286000"/>
            <a:ext cx="2560320" cy="822960"/>
          </a:xfrm>
          <a:prstGeom prst="rect">
            <a:avLst/>
          </a:prstGeom>
          <a:noFill/>
          <a:ln/>
        </p:spPr>
        <p:txBody>
          <a:bodyPr wrap="square" lIns="0" tIns="0" rIns="0" bIns="0" rtlCol="0" anchor="t"/>
          <a:lstStyle/>
          <a:p>
            <a:pPr indent="0" marL="0">
              <a:buNone/>
            </a:pPr>
            <a:r>
              <a:rPr lang="en-US" sz="1200" dirty="0">
                <a:solidFill>
                  <a:schemeClr val="accent5"/>
                </a:solidFill>
              </a:rPr>
              <a:t>Descarta que el umbral elija solo lo más visible</a:t>
            </a:r>
            <a:endParaRPr lang="en-US" sz="1200" dirty="0"/>
          </a:p>
        </p:txBody>
      </p:sp>
      <p:sp>
        <p:nvSpPr>
          <p:cNvPr id="11" name="ok"/>
          <p:cNvSpPr/>
          <p:nvPr/>
        </p:nvSpPr>
        <p:spPr>
          <a:xfrm>
            <a:off x="548640" y="3291840"/>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3" name="Text 11"/>
          <p:cNvSpPr txBox="1"/>
          <p:nvPr/>
        </p:nvSpPr>
        <p:spPr>
          <a:xfrm>
            <a:off x="1143000" y="3355848"/>
            <a:ext cx="1920240" cy="365760"/>
          </a:xfrm>
          <a:prstGeom prst="rect">
            <a:avLst/>
          </a:prstGeom>
          <a:noFill/>
          <a:ln/>
        </p:spPr>
        <p:txBody>
          <a:bodyPr wrap="square" lIns="0" tIns="0" rIns="0" bIns="0" rtlCol="0" anchor="t"/>
          <a:lstStyle/>
          <a:p>
            <a:pPr indent="0" marL="0">
              <a:buNone/>
            </a:pPr>
            <a:r>
              <a:rPr lang="en-US" sz="1500" dirty="0">
                <a:solidFill>
                  <a:schemeClr val="tx1"/>
                </a:solidFill>
              </a:rPr>
              <a:t>Japón</a:t>
            </a:r>
            <a:endParaRPr lang="en-US" sz="1500" dirty="0"/>
          </a:p>
        </p:txBody>
      </p:sp>
      <p:sp>
        <p:nvSpPr>
          <p:cNvPr id="14" name="ok"/>
          <p:cNvSpPr/>
          <p:nvPr/>
        </p:nvSpPr>
        <p:spPr>
          <a:xfrm>
            <a:off x="3291840" y="329184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3291840" y="32918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6" name="Text 14"/>
          <p:cNvSpPr txBox="1"/>
          <p:nvPr/>
        </p:nvSpPr>
        <p:spPr>
          <a:xfrm>
            <a:off x="3886200" y="3355848"/>
            <a:ext cx="1920240" cy="365760"/>
          </a:xfrm>
          <a:prstGeom prst="rect">
            <a:avLst/>
          </a:prstGeom>
          <a:noFill/>
          <a:ln/>
        </p:spPr>
        <p:txBody>
          <a:bodyPr wrap="square" lIns="0" tIns="0" rIns="0" bIns="0" rtlCol="0" anchor="t"/>
          <a:lstStyle/>
          <a:p>
            <a:pPr indent="0" marL="0">
              <a:buNone/>
            </a:pPr>
            <a:r>
              <a:rPr lang="en-US" sz="1500" dirty="0">
                <a:solidFill>
                  <a:schemeClr val="tx1"/>
                </a:solidFill>
              </a:rPr>
              <a:t>Japón</a:t>
            </a:r>
            <a:endParaRPr lang="en-US" sz="1500" dirty="0"/>
          </a:p>
        </p:txBody>
      </p:sp>
      <p:sp>
        <p:nvSpPr>
          <p:cNvPr id="17" name="ok"/>
          <p:cNvSpPr/>
          <p:nvPr/>
        </p:nvSpPr>
        <p:spPr>
          <a:xfrm>
            <a:off x="6035040" y="329184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6035040" y="32918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9" name="Text 17"/>
          <p:cNvSpPr txBox="1"/>
          <p:nvPr/>
        </p:nvSpPr>
        <p:spPr>
          <a:xfrm>
            <a:off x="6629400" y="3355848"/>
            <a:ext cx="1920240" cy="365760"/>
          </a:xfrm>
          <a:prstGeom prst="rect">
            <a:avLst/>
          </a:prstGeom>
          <a:noFill/>
          <a:ln/>
        </p:spPr>
        <p:txBody>
          <a:bodyPr wrap="square" lIns="0" tIns="0" rIns="0" bIns="0" rtlCol="0" anchor="t"/>
          <a:lstStyle/>
          <a:p>
            <a:pPr indent="0" marL="0">
              <a:buNone/>
            </a:pPr>
            <a:r>
              <a:rPr lang="en-US" sz="1500" dirty="0">
                <a:solidFill>
                  <a:schemeClr val="tx1"/>
                </a:solidFill>
              </a:rPr>
              <a:t>Japón</a:t>
            </a:r>
            <a:endParaRPr lang="en-US" sz="1500" dirty="0"/>
          </a:p>
        </p:txBody>
      </p:sp>
      <p:sp>
        <p:nvSpPr>
          <p:cNvPr id="20" name="ok"/>
          <p:cNvSpPr/>
          <p:nvPr/>
        </p:nvSpPr>
        <p:spPr>
          <a:xfrm>
            <a:off x="548640" y="4069080"/>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548640" y="4069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2" name="Text 20"/>
          <p:cNvSpPr txBox="1"/>
          <p:nvPr/>
        </p:nvSpPr>
        <p:spPr>
          <a:xfrm>
            <a:off x="1143000" y="4133088"/>
            <a:ext cx="1920240" cy="365760"/>
          </a:xfrm>
          <a:prstGeom prst="rect">
            <a:avLst/>
          </a:prstGeom>
          <a:noFill/>
          <a:ln/>
        </p:spPr>
        <p:txBody>
          <a:bodyPr wrap="square" lIns="0" tIns="0" rIns="0" bIns="0" rtlCol="0" anchor="t"/>
          <a:lstStyle/>
          <a:p>
            <a:pPr indent="0" marL="0">
              <a:buNone/>
            </a:pPr>
            <a:r>
              <a:rPr lang="en-US" sz="1500" dirty="0">
                <a:solidFill>
                  <a:schemeClr val="tx1"/>
                </a:solidFill>
              </a:rPr>
              <a:t>Corea del Sur</a:t>
            </a:r>
            <a:endParaRPr lang="en-US" sz="1500" dirty="0"/>
          </a:p>
        </p:txBody>
      </p:sp>
      <p:sp>
        <p:nvSpPr>
          <p:cNvPr id="23" name="ok"/>
          <p:cNvSpPr/>
          <p:nvPr/>
        </p:nvSpPr>
        <p:spPr>
          <a:xfrm>
            <a:off x="3291840" y="4069080"/>
            <a:ext cx="457200" cy="457200"/>
          </a:xfrm>
          <a:prstGeom prst="ellipse">
            <a:avLst/>
          </a:prstGeom>
          <a:solidFill>
            <a:schemeClr val="accent1"/>
          </a:solidFill>
          <a:ln w="12700">
            <a:solidFill>
              <a:schemeClr val="accent1"/>
            </a:solidFill>
            <a:prstDash val="solid"/>
          </a:ln>
        </p:spPr>
      </p:sp>
      <p:sp>
        <p:nvSpPr>
          <p:cNvPr id="24" name="Text 22"/>
          <p:cNvSpPr txBox="1"/>
          <p:nvPr/>
        </p:nvSpPr>
        <p:spPr>
          <a:xfrm>
            <a:off x="3291840" y="4069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5" name="Text 23"/>
          <p:cNvSpPr txBox="1"/>
          <p:nvPr/>
        </p:nvSpPr>
        <p:spPr>
          <a:xfrm>
            <a:off x="3886200" y="4133088"/>
            <a:ext cx="1920240" cy="365760"/>
          </a:xfrm>
          <a:prstGeom prst="rect">
            <a:avLst/>
          </a:prstGeom>
          <a:noFill/>
          <a:ln/>
        </p:spPr>
        <p:txBody>
          <a:bodyPr wrap="square" lIns="0" tIns="0" rIns="0" bIns="0" rtlCol="0" anchor="t"/>
          <a:lstStyle/>
          <a:p>
            <a:pPr indent="0" marL="0">
              <a:buNone/>
            </a:pPr>
            <a:r>
              <a:rPr lang="en-US" sz="1500" dirty="0">
                <a:solidFill>
                  <a:schemeClr val="tx1"/>
                </a:solidFill>
              </a:rPr>
              <a:t>Corea del Sur</a:t>
            </a:r>
            <a:endParaRPr lang="en-US" sz="1500" dirty="0"/>
          </a:p>
        </p:txBody>
      </p:sp>
      <p:sp>
        <p:nvSpPr>
          <p:cNvPr id="26" name="ok"/>
          <p:cNvSpPr/>
          <p:nvPr/>
        </p:nvSpPr>
        <p:spPr>
          <a:xfrm>
            <a:off x="6035040" y="4069080"/>
            <a:ext cx="457200" cy="457200"/>
          </a:xfrm>
          <a:prstGeom prst="ellipse">
            <a:avLst/>
          </a:prstGeom>
          <a:solidFill>
            <a:schemeClr val="accent1"/>
          </a:solidFill>
          <a:ln w="12700">
            <a:solidFill>
              <a:schemeClr val="accent1"/>
            </a:solidFill>
            <a:prstDash val="solid"/>
          </a:ln>
        </p:spPr>
      </p:sp>
      <p:sp>
        <p:nvSpPr>
          <p:cNvPr id="27" name="Text 25"/>
          <p:cNvSpPr txBox="1"/>
          <p:nvPr/>
        </p:nvSpPr>
        <p:spPr>
          <a:xfrm>
            <a:off x="6035040" y="4069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8" name="Text 26"/>
          <p:cNvSpPr txBox="1"/>
          <p:nvPr/>
        </p:nvSpPr>
        <p:spPr>
          <a:xfrm>
            <a:off x="6629400" y="4133088"/>
            <a:ext cx="1920240" cy="365760"/>
          </a:xfrm>
          <a:prstGeom prst="rect">
            <a:avLst/>
          </a:prstGeom>
          <a:noFill/>
          <a:ln/>
        </p:spPr>
        <p:txBody>
          <a:bodyPr wrap="square" lIns="0" tIns="0" rIns="0" bIns="0" rtlCol="0" anchor="t"/>
          <a:lstStyle/>
          <a:p>
            <a:pPr indent="0" marL="0">
              <a:buNone/>
            </a:pPr>
            <a:r>
              <a:rPr lang="en-US" sz="1500" dirty="0">
                <a:solidFill>
                  <a:schemeClr val="tx1"/>
                </a:solidFill>
              </a:rPr>
              <a:t>Corea del Sur</a:t>
            </a:r>
            <a:endParaRPr lang="en-US" sz="1500" dirty="0"/>
          </a:p>
        </p:txBody>
      </p:sp>
      <p:sp>
        <p:nvSpPr>
          <p:cNvPr id="29" name="ok"/>
          <p:cNvSpPr/>
          <p:nvPr/>
        </p:nvSpPr>
        <p:spPr>
          <a:xfrm>
            <a:off x="548640" y="4846320"/>
            <a:ext cx="457200" cy="457200"/>
          </a:xfrm>
          <a:prstGeom prst="ellipse">
            <a:avLst/>
          </a:prstGeom>
          <a:solidFill>
            <a:schemeClr val="accent1"/>
          </a:solidFill>
          <a:ln w="12700">
            <a:solidFill>
              <a:schemeClr val="accent1"/>
            </a:solidFill>
            <a:prstDash val="solid"/>
          </a:ln>
        </p:spPr>
      </p:sp>
      <p:sp>
        <p:nvSpPr>
          <p:cNvPr id="30" name="Text 28"/>
          <p:cNvSpPr txBox="1"/>
          <p:nvPr/>
        </p:nvSpPr>
        <p:spPr>
          <a:xfrm>
            <a:off x="548640" y="4846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1" name="Text 29"/>
          <p:cNvSpPr txBox="1"/>
          <p:nvPr/>
        </p:nvSpPr>
        <p:spPr>
          <a:xfrm>
            <a:off x="1143000" y="4910328"/>
            <a:ext cx="1920240" cy="365760"/>
          </a:xfrm>
          <a:prstGeom prst="rect">
            <a:avLst/>
          </a:prstGeom>
          <a:noFill/>
          <a:ln/>
        </p:spPr>
        <p:txBody>
          <a:bodyPr wrap="square" lIns="0" tIns="0" rIns="0" bIns="0" rtlCol="0" anchor="t"/>
          <a:lstStyle/>
          <a:p>
            <a:pPr indent="0" marL="0">
              <a:buNone/>
            </a:pPr>
            <a:r>
              <a:rPr lang="en-US" sz="1500" dirty="0">
                <a:solidFill>
                  <a:schemeClr val="tx1"/>
                </a:solidFill>
              </a:rPr>
              <a:t>México</a:t>
            </a:r>
            <a:endParaRPr lang="en-US" sz="1500" dirty="0"/>
          </a:p>
        </p:txBody>
      </p:sp>
      <p:sp>
        <p:nvSpPr>
          <p:cNvPr id="32" name="ok"/>
          <p:cNvSpPr/>
          <p:nvPr/>
        </p:nvSpPr>
        <p:spPr>
          <a:xfrm>
            <a:off x="3291840" y="4846320"/>
            <a:ext cx="457200" cy="457200"/>
          </a:xfrm>
          <a:prstGeom prst="ellipse">
            <a:avLst/>
          </a:prstGeom>
          <a:solidFill>
            <a:schemeClr val="accent1"/>
          </a:solidFill>
          <a:ln w="12700">
            <a:solidFill>
              <a:schemeClr val="accent1"/>
            </a:solidFill>
            <a:prstDash val="solid"/>
          </a:ln>
        </p:spPr>
      </p:sp>
      <p:sp>
        <p:nvSpPr>
          <p:cNvPr id="33" name="Text 31"/>
          <p:cNvSpPr txBox="1"/>
          <p:nvPr/>
        </p:nvSpPr>
        <p:spPr>
          <a:xfrm>
            <a:off x="3291840" y="4846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4" name="Text 32"/>
          <p:cNvSpPr txBox="1"/>
          <p:nvPr/>
        </p:nvSpPr>
        <p:spPr>
          <a:xfrm>
            <a:off x="3886200" y="4910328"/>
            <a:ext cx="1920240" cy="365760"/>
          </a:xfrm>
          <a:prstGeom prst="rect">
            <a:avLst/>
          </a:prstGeom>
          <a:noFill/>
          <a:ln/>
        </p:spPr>
        <p:txBody>
          <a:bodyPr wrap="square" lIns="0" tIns="0" rIns="0" bIns="0" rtlCol="0" anchor="t"/>
          <a:lstStyle/>
          <a:p>
            <a:pPr indent="0" marL="0">
              <a:buNone/>
            </a:pPr>
            <a:r>
              <a:rPr lang="en-US" sz="1500" dirty="0">
                <a:solidFill>
                  <a:schemeClr val="tx1"/>
                </a:solidFill>
              </a:rPr>
              <a:t>México</a:t>
            </a:r>
            <a:endParaRPr lang="en-US" sz="1500" dirty="0"/>
          </a:p>
        </p:txBody>
      </p:sp>
      <p:sp>
        <p:nvSpPr>
          <p:cNvPr id="35" name="ok"/>
          <p:cNvSpPr/>
          <p:nvPr/>
        </p:nvSpPr>
        <p:spPr>
          <a:xfrm>
            <a:off x="6035040" y="4846320"/>
            <a:ext cx="457200" cy="457200"/>
          </a:xfrm>
          <a:prstGeom prst="ellipse">
            <a:avLst/>
          </a:prstGeom>
          <a:solidFill>
            <a:schemeClr val="accent1"/>
          </a:solidFill>
          <a:ln w="12700">
            <a:solidFill>
              <a:schemeClr val="accent1"/>
            </a:solidFill>
            <a:prstDash val="solid"/>
          </a:ln>
        </p:spPr>
      </p:sp>
      <p:sp>
        <p:nvSpPr>
          <p:cNvPr id="36" name="Text 34"/>
          <p:cNvSpPr txBox="1"/>
          <p:nvPr/>
        </p:nvSpPr>
        <p:spPr>
          <a:xfrm>
            <a:off x="6035040" y="4846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7" name="Text 35"/>
          <p:cNvSpPr txBox="1"/>
          <p:nvPr/>
        </p:nvSpPr>
        <p:spPr>
          <a:xfrm>
            <a:off x="6629400" y="4910328"/>
            <a:ext cx="1920240" cy="365760"/>
          </a:xfrm>
          <a:prstGeom prst="rect">
            <a:avLst/>
          </a:prstGeom>
          <a:noFill/>
          <a:ln/>
        </p:spPr>
        <p:txBody>
          <a:bodyPr wrap="square" lIns="0" tIns="0" rIns="0" bIns="0" rtlCol="0" anchor="t"/>
          <a:lstStyle/>
          <a:p>
            <a:pPr indent="0" marL="0">
              <a:buNone/>
            </a:pPr>
            <a:r>
              <a:rPr lang="en-US" sz="1500" dirty="0">
                <a:solidFill>
                  <a:schemeClr val="tx1"/>
                </a:solidFill>
              </a:rPr>
              <a:t>México</a:t>
            </a:r>
            <a:endParaRPr lang="en-US" sz="1500" dirty="0"/>
          </a:p>
        </p:txBody>
      </p:sp>
      <p:sp>
        <p:nvSpPr>
          <p:cNvPr id="38" name="tarjeta"/>
          <p:cNvSpPr/>
          <p:nvPr/>
        </p:nvSpPr>
        <p:spPr>
          <a:xfrm>
            <a:off x="8915400" y="1874520"/>
            <a:ext cx="2697480" cy="3931920"/>
          </a:xfrm>
          <a:prstGeom prst="roundRect">
            <a:avLst>
              <a:gd name="adj" fmla="val 2034"/>
            </a:avLst>
          </a:prstGeom>
          <a:solidFill>
            <a:srgbClr val="F2F1ED"/>
          </a:solidFill>
          <a:ln w="12700">
            <a:solidFill>
              <a:srgbClr val="F2F1ED"/>
            </a:solidFill>
            <a:prstDash val="solid"/>
          </a:ln>
        </p:spPr>
      </p:sp>
      <p:sp>
        <p:nvSpPr>
          <p:cNvPr id="39" name="Text 37"/>
          <p:cNvSpPr txBox="1"/>
          <p:nvPr/>
        </p:nvSpPr>
        <p:spPr>
          <a:xfrm>
            <a:off x="9144000" y="2103120"/>
            <a:ext cx="2286000" cy="411480"/>
          </a:xfrm>
          <a:prstGeom prst="rect">
            <a:avLst/>
          </a:prstGeom>
          <a:noFill/>
          <a:ln/>
        </p:spPr>
        <p:txBody>
          <a:bodyPr wrap="square" lIns="0" tIns="0" rIns="0" bIns="0" rtlCol="0" anchor="t"/>
          <a:lstStyle/>
          <a:p>
            <a:pPr indent="0" marL="0">
              <a:buNone/>
            </a:pPr>
            <a:r>
              <a:rPr lang="en-US" sz="1800" b="1" dirty="0">
                <a:solidFill>
                  <a:schemeClr val="accent3"/>
                </a:solidFill>
              </a:rPr>
              <a:t>En series</a:t>
            </a:r>
            <a:endParaRPr lang="en-US" sz="1800" dirty="0"/>
          </a:p>
        </p:txBody>
      </p:sp>
      <p:sp>
        <p:nvSpPr>
          <p:cNvPr id="40" name="Text 38"/>
          <p:cNvSpPr txBox="1"/>
          <p:nvPr/>
        </p:nvSpPr>
        <p:spPr>
          <a:xfrm>
            <a:off x="9144000" y="2560320"/>
            <a:ext cx="2286000" cy="1188720"/>
          </a:xfrm>
          <a:prstGeom prst="rect">
            <a:avLst/>
          </a:prstGeom>
          <a:noFill/>
          <a:ln/>
        </p:spPr>
        <p:txBody>
          <a:bodyPr wrap="square" lIns="0" tIns="0" rIns="0" bIns="0" rtlCol="0" anchor="t"/>
          <a:lstStyle/>
          <a:p>
            <a:pPr indent="0" marL="0">
              <a:buNone/>
            </a:pPr>
            <a:r>
              <a:rPr lang="en-US" sz="1500" dirty="0">
                <a:solidFill>
                  <a:schemeClr val="tx2"/>
                </a:solidFill>
              </a:rPr>
              <a:t>no hay una diferencia consistente: el resultado cambia según el método.</a:t>
            </a:r>
            <a:endParaRPr lang="en-US" sz="1500" dirty="0"/>
          </a:p>
        </p:txBody>
      </p:sp>
      <p:sp>
        <p:nvSpPr>
          <p:cNvPr id="41" name="Text 39"/>
          <p:cNvSpPr txBox="1"/>
          <p:nvPr/>
        </p:nvSpPr>
        <p:spPr>
          <a:xfrm>
            <a:off x="9144000" y="3840480"/>
            <a:ext cx="2286000" cy="1645920"/>
          </a:xfrm>
          <a:prstGeom prst="rect">
            <a:avLst/>
          </a:prstGeom>
          <a:noFill/>
          <a:ln/>
        </p:spPr>
        <p:txBody>
          <a:bodyPr wrap="square" lIns="0" tIns="0" rIns="0" bIns="0" rtlCol="0" anchor="t"/>
          <a:lstStyle/>
          <a:p>
            <a:pPr indent="0" marL="0">
              <a:buNone/>
            </a:pPr>
            <a:r>
              <a:rPr lang="en-US" sz="1300" dirty="0">
                <a:solidFill>
                  <a:schemeClr val="tx2"/>
                </a:solidFill>
              </a:rPr>
              <a:t>Solo el 15% de las series chinas tiene 10 votos o más. No recomendamos nada sobre series con este dato.</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La calidad atrae audiencia, pero no la garantiza</a:t>
            </a:r>
            <a:endParaRPr lang="en-US" sz="3000" dirty="0"/>
          </a:p>
        </p:txBody>
      </p:sp>
      <p:sp>
        <p:nvSpPr>
          <p:cNvPr id="3" name="etiqueta"/>
          <p:cNvSpPr/>
          <p:nvPr/>
        </p:nvSpPr>
        <p:spPr>
          <a:xfrm>
            <a:off x="548640" y="347472"/>
            <a:ext cx="274320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74320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6 · CALIDAD Y POPULARIDAD</a:t>
            </a:r>
            <a:endParaRPr lang="en-US" sz="1000" dirty="0"/>
          </a:p>
        </p:txBody>
      </p:sp>
      <p:sp>
        <p:nvSpPr>
          <p:cNvPr id="5" name="Text 3"/>
          <p:cNvSpPr txBox="1"/>
          <p:nvPr/>
        </p:nvSpPr>
        <p:spPr>
          <a:xfrm>
            <a:off x="548640" y="1828800"/>
            <a:ext cx="6858000" cy="365760"/>
          </a:xfrm>
          <a:prstGeom prst="rect">
            <a:avLst/>
          </a:prstGeom>
          <a:noFill/>
          <a:ln/>
        </p:spPr>
        <p:txBody>
          <a:bodyPr wrap="square" lIns="0" tIns="0" rIns="0" bIns="0" rtlCol="0" anchor="t"/>
          <a:lstStyle/>
          <a:p>
            <a:pPr indent="0" marL="0">
              <a:buNone/>
            </a:pPr>
            <a:r>
              <a:rPr lang="en-US" sz="1400" b="1" dirty="0">
                <a:solidFill>
                  <a:schemeClr val="tx1"/>
                </a:solidFill>
              </a:rPr>
              <a:t>Popularidad típica de las películas, según su calificación</a:t>
            </a:r>
            <a:endParaRPr lang="en-US" sz="1400" dirty="0"/>
          </a:p>
        </p:txBody>
      </p:sp>
      <p:graphicFrame>
        <p:nvGraphicFramePr>
          <p:cNvPr id="6" name="grafico_calidad" descr=""/>
          <p:cNvGraphicFramePr/>
          <p:nvPr/>
        </p:nvGraphicFramePr>
        <p:xfrm>
          <a:off x="548640" y="22402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863840" y="2194560"/>
            <a:ext cx="3749040" cy="868680"/>
          </a:xfrm>
          <a:prstGeom prst="rect">
            <a:avLst/>
          </a:prstGeom>
          <a:noFill/>
          <a:ln/>
        </p:spPr>
        <p:txBody>
          <a:bodyPr wrap="square" lIns="0" tIns="0" rIns="0" bIns="0" rtlCol="0" anchor="t"/>
          <a:lstStyle/>
          <a:p>
            <a:pPr indent="0" marL="0">
              <a:buNone/>
            </a:pPr>
            <a:r>
              <a:rPr lang="en-US" sz="5400" b="1" dirty="0">
                <a:solidFill>
                  <a:schemeClr val="accent1"/>
                </a:solidFill>
              </a:rPr>
              <a:t>1,9×</a:t>
            </a:r>
            <a:endParaRPr lang="en-US" sz="5400" dirty="0"/>
          </a:p>
        </p:txBody>
      </p:sp>
      <p:sp>
        <p:nvSpPr>
          <p:cNvPr id="8" name="Text 5"/>
          <p:cNvSpPr txBox="1"/>
          <p:nvPr/>
        </p:nvSpPr>
        <p:spPr>
          <a:xfrm>
            <a:off x="7863840" y="3090672"/>
            <a:ext cx="3749040" cy="731520"/>
          </a:xfrm>
          <a:prstGeom prst="rect">
            <a:avLst/>
          </a:prstGeom>
          <a:noFill/>
          <a:ln/>
        </p:spPr>
        <p:txBody>
          <a:bodyPr wrap="square" lIns="0" tIns="0" rIns="0" bIns="0" rtlCol="0" anchor="t"/>
          <a:lstStyle/>
          <a:p>
            <a:pPr indent="0" marL="0">
              <a:buNone/>
            </a:pPr>
            <a:r>
              <a:rPr lang="en-US" sz="1400" dirty="0">
                <a:solidFill>
                  <a:schemeClr val="tx2"/>
                </a:solidFill>
              </a:rPr>
              <a:t>más populares son las películas muy bien evaluadas (8 o más) que las mal evaluadas</a:t>
            </a:r>
            <a:endParaRPr lang="en-US" sz="1400" dirty="0"/>
          </a:p>
        </p:txBody>
      </p:sp>
      <p:sp>
        <p:nvSpPr>
          <p:cNvPr id="9" name="Text 6"/>
          <p:cNvSpPr txBox="1"/>
          <p:nvPr/>
        </p:nvSpPr>
        <p:spPr>
          <a:xfrm>
            <a:off x="7863840" y="4069080"/>
            <a:ext cx="3749040" cy="1737360"/>
          </a:xfrm>
          <a:prstGeom prst="rect">
            <a:avLst/>
          </a:prstGeom>
          <a:noFill/>
          <a:ln/>
        </p:spPr>
        <p:txBody>
          <a:bodyPr wrap="square" lIns="0" tIns="0" rIns="0" bIns="0" rtlCol="0" anchor="t"/>
          <a:lstStyle/>
          <a:p>
            <a:pPr indent="0" marL="0">
              <a:buNone/>
            </a:pPr>
            <a:r>
              <a:rPr lang="en-US" sz="1500" dirty="0">
                <a:solidFill>
                  <a:schemeClr val="tx2"/>
                </a:solidFill>
              </a:rPr>
              <a:t>Pero muchas películas muy bien evaluadas tienen poca audiencia: la relación es débil. Calidad y popularidad deben medirse por separado.</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Tres decisiones para el próximo ciclo de adquisición</a:t>
            </a:r>
            <a:endParaRPr lang="en-US" sz="3000" dirty="0"/>
          </a:p>
        </p:txBody>
      </p:sp>
      <p:sp>
        <p:nvSpPr>
          <p:cNvPr id="3" name="etiqueta"/>
          <p:cNvSpPr/>
          <p:nvPr/>
        </p:nvSpPr>
        <p:spPr>
          <a:xfrm>
            <a:off x="548640" y="347472"/>
            <a:ext cx="164592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64592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7 · QUÉ HACER</a:t>
            </a:r>
            <a:endParaRPr lang="en-US" sz="1000" dirty="0"/>
          </a:p>
        </p:txBody>
      </p:sp>
      <p:sp>
        <p:nvSpPr>
          <p:cNvPr id="5" name="tarjeta"/>
          <p:cNvSpPr/>
          <p:nvPr/>
        </p:nvSpPr>
        <p:spPr>
          <a:xfrm>
            <a:off x="548640" y="1920240"/>
            <a:ext cx="3474720" cy="4206240"/>
          </a:xfrm>
          <a:prstGeom prst="roundRect">
            <a:avLst>
              <a:gd name="adj" fmla="val 1579"/>
            </a:avLst>
          </a:prstGeom>
          <a:solidFill>
            <a:schemeClr val="bg2"/>
          </a:solidFill>
          <a:ln w="12700">
            <a:solidFill>
              <a:schemeClr val="bg2"/>
            </a:solidFill>
            <a:prstDash val="solid"/>
          </a:ln>
        </p:spPr>
      </p:sp>
      <p:sp>
        <p:nvSpPr>
          <p:cNvPr id="6" name="Text 4"/>
          <p:cNvSpPr txBox="1"/>
          <p:nvPr/>
        </p:nvSpPr>
        <p:spPr>
          <a:xfrm>
            <a:off x="822960" y="2148840"/>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7" name="Text 5"/>
          <p:cNvSpPr txBox="1"/>
          <p:nvPr/>
        </p:nvSpPr>
        <p:spPr>
          <a:xfrm>
            <a:off x="822960" y="2834640"/>
            <a:ext cx="2926080" cy="457200"/>
          </a:xfrm>
          <a:prstGeom prst="rect">
            <a:avLst/>
          </a:prstGeom>
          <a:noFill/>
          <a:ln/>
        </p:spPr>
        <p:txBody>
          <a:bodyPr wrap="square" lIns="0" tIns="0" rIns="0" bIns="0" rtlCol="0" anchor="t"/>
          <a:lstStyle/>
          <a:p>
            <a:pPr indent="0" marL="0">
              <a:buNone/>
            </a:pPr>
            <a:r>
              <a:rPr lang="en-US" sz="2200" b="1" dirty="0">
                <a:solidFill>
                  <a:schemeClr val="tx1"/>
                </a:solidFill>
              </a:rPr>
              <a:t>Priorizar</a:t>
            </a:r>
            <a:endParaRPr lang="en-US" sz="2200" dirty="0"/>
          </a:p>
        </p:txBody>
      </p:sp>
      <p:sp>
        <p:nvSpPr>
          <p:cNvPr id="8" name="Text 6"/>
          <p:cNvSpPr txBox="1"/>
          <p:nvPr/>
        </p:nvSpPr>
        <p:spPr>
          <a:xfrm>
            <a:off x="822960" y="3337560"/>
            <a:ext cx="2926080" cy="1097280"/>
          </a:xfrm>
          <a:prstGeom prst="rect">
            <a:avLst/>
          </a:prstGeom>
          <a:noFill/>
          <a:ln/>
        </p:spPr>
        <p:txBody>
          <a:bodyPr wrap="square" lIns="0" tIns="0" rIns="0" bIns="0" rtlCol="0" anchor="t"/>
          <a:lstStyle/>
          <a:p>
            <a:pPr indent="0" marL="0">
              <a:buNone/>
            </a:pPr>
            <a:r>
              <a:rPr lang="en-US" sz="1500" dirty="0">
                <a:solidFill>
                  <a:schemeClr val="tx2"/>
                </a:solidFill>
              </a:rPr>
              <a:t>películas de Japón, Corea del Sur y México en las próximas licencias</a:t>
            </a:r>
            <a:endParaRPr lang="en-US" sz="1500" dirty="0"/>
          </a:p>
        </p:txBody>
      </p:sp>
      <p:sp>
        <p:nvSpPr>
          <p:cNvPr id="9" name="Text 7"/>
          <p:cNvSpPr txBox="1"/>
          <p:nvPr/>
        </p:nvSpPr>
        <p:spPr>
          <a:xfrm>
            <a:off x="822960" y="452628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Responsable</a:t>
            </a:r>
            <a:endParaRPr lang="en-US" sz="1100" dirty="0"/>
          </a:p>
        </p:txBody>
      </p:sp>
      <p:sp>
        <p:nvSpPr>
          <p:cNvPr id="10" name="Text 8"/>
          <p:cNvSpPr txBox="1"/>
          <p:nvPr/>
        </p:nvSpPr>
        <p:spPr>
          <a:xfrm>
            <a:off x="822960" y="4773168"/>
            <a:ext cx="2926080" cy="320040"/>
          </a:xfrm>
          <a:prstGeom prst="rect">
            <a:avLst/>
          </a:prstGeom>
          <a:noFill/>
          <a:ln/>
        </p:spPr>
        <p:txBody>
          <a:bodyPr wrap="square" lIns="0" tIns="0" rIns="0" bIns="0" rtlCol="0" anchor="t"/>
          <a:lstStyle/>
          <a:p>
            <a:pPr indent="0" marL="0">
              <a:buNone/>
            </a:pPr>
            <a:r>
              <a:rPr lang="en-US" sz="1400" dirty="0">
                <a:solidFill>
                  <a:schemeClr val="tx1"/>
                </a:solidFill>
              </a:rPr>
              <a:t>Contenidos y Adquisición</a:t>
            </a:r>
            <a:endParaRPr lang="en-US" sz="1400" dirty="0"/>
          </a:p>
        </p:txBody>
      </p:sp>
      <p:sp>
        <p:nvSpPr>
          <p:cNvPr id="11" name="Text 9"/>
          <p:cNvSpPr txBox="1"/>
          <p:nvPr/>
        </p:nvSpPr>
        <p:spPr>
          <a:xfrm>
            <a:off x="822960" y="516636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Cómo medir</a:t>
            </a:r>
            <a:endParaRPr lang="en-US" sz="1100" dirty="0"/>
          </a:p>
        </p:txBody>
      </p:sp>
      <p:sp>
        <p:nvSpPr>
          <p:cNvPr id="12" name="Text 10"/>
          <p:cNvSpPr txBox="1"/>
          <p:nvPr/>
        </p:nvSpPr>
        <p:spPr>
          <a:xfrm>
            <a:off x="822960" y="5413248"/>
            <a:ext cx="2926080" cy="640080"/>
          </a:xfrm>
          <a:prstGeom prst="rect">
            <a:avLst/>
          </a:prstGeom>
          <a:noFill/>
          <a:ln/>
        </p:spPr>
        <p:txBody>
          <a:bodyPr wrap="square" lIns="0" tIns="0" rIns="0" bIns="0" rtlCol="0" anchor="t"/>
          <a:lstStyle/>
          <a:p>
            <a:pPr indent="0" marL="0">
              <a:buNone/>
            </a:pPr>
            <a:r>
              <a:rPr lang="en-US" sz="1300" dirty="0">
                <a:solidFill>
                  <a:schemeClr val="tx2"/>
                </a:solidFill>
              </a:rPr>
              <a:t>Participación de esos mercados en las películas (hoy 13%)</a:t>
            </a:r>
            <a:endParaRPr lang="en-US" sz="1300" dirty="0"/>
          </a:p>
        </p:txBody>
      </p:sp>
      <p:sp>
        <p:nvSpPr>
          <p:cNvPr id="13" name="tarjeta"/>
          <p:cNvSpPr/>
          <p:nvPr/>
        </p:nvSpPr>
        <p:spPr>
          <a:xfrm>
            <a:off x="4297680" y="1920240"/>
            <a:ext cx="3474720" cy="4206240"/>
          </a:xfrm>
          <a:prstGeom prst="roundRect">
            <a:avLst>
              <a:gd name="adj" fmla="val 1579"/>
            </a:avLst>
          </a:prstGeom>
          <a:solidFill>
            <a:schemeClr val="bg2"/>
          </a:solidFill>
          <a:ln w="12700">
            <a:solidFill>
              <a:schemeClr val="bg2"/>
            </a:solidFill>
            <a:prstDash val="solid"/>
          </a:ln>
        </p:spPr>
      </p:sp>
      <p:sp>
        <p:nvSpPr>
          <p:cNvPr id="14" name="Text 12"/>
          <p:cNvSpPr txBox="1"/>
          <p:nvPr/>
        </p:nvSpPr>
        <p:spPr>
          <a:xfrm>
            <a:off x="4572000" y="2148840"/>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15" name="Text 13"/>
          <p:cNvSpPr txBox="1"/>
          <p:nvPr/>
        </p:nvSpPr>
        <p:spPr>
          <a:xfrm>
            <a:off x="4572000" y="2834640"/>
            <a:ext cx="2926080" cy="457200"/>
          </a:xfrm>
          <a:prstGeom prst="rect">
            <a:avLst/>
          </a:prstGeom>
          <a:noFill/>
          <a:ln/>
        </p:spPr>
        <p:txBody>
          <a:bodyPr wrap="square" lIns="0" tIns="0" rIns="0" bIns="0" rtlCol="0" anchor="t"/>
          <a:lstStyle/>
          <a:p>
            <a:pPr indent="0" marL="0">
              <a:buNone/>
            </a:pPr>
            <a:r>
              <a:rPr lang="en-US" sz="2200" b="1" dirty="0">
                <a:solidFill>
                  <a:schemeClr val="tx1"/>
                </a:solidFill>
              </a:rPr>
              <a:t>Visibilizar</a:t>
            </a:r>
            <a:endParaRPr lang="en-US" sz="2200" dirty="0"/>
          </a:p>
        </p:txBody>
      </p:sp>
      <p:sp>
        <p:nvSpPr>
          <p:cNvPr id="16" name="Text 14"/>
          <p:cNvSpPr txBox="1"/>
          <p:nvPr/>
        </p:nvSpPr>
        <p:spPr>
          <a:xfrm>
            <a:off x="4572000" y="3337560"/>
            <a:ext cx="2926080" cy="1097280"/>
          </a:xfrm>
          <a:prstGeom prst="rect">
            <a:avLst/>
          </a:prstGeom>
          <a:noFill/>
          <a:ln/>
        </p:spPr>
        <p:txBody>
          <a:bodyPr wrap="square" lIns="0" tIns="0" rIns="0" bIns="0" rtlCol="0" anchor="t"/>
          <a:lstStyle/>
          <a:p>
            <a:pPr indent="0" marL="0">
              <a:buNone/>
            </a:pPr>
            <a:r>
              <a:rPr lang="en-US" sz="1500" dirty="0">
                <a:solidFill>
                  <a:schemeClr val="tx2"/>
                </a:solidFill>
              </a:rPr>
              <a:t>esas películas en campañas: su popularidad típica no supera a la de EE.UU.</a:t>
            </a:r>
            <a:endParaRPr lang="en-US" sz="1500" dirty="0"/>
          </a:p>
        </p:txBody>
      </p:sp>
      <p:sp>
        <p:nvSpPr>
          <p:cNvPr id="17" name="Text 15"/>
          <p:cNvSpPr txBox="1"/>
          <p:nvPr/>
        </p:nvSpPr>
        <p:spPr>
          <a:xfrm>
            <a:off x="4572000" y="452628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Responsable</a:t>
            </a:r>
            <a:endParaRPr lang="en-US" sz="1100" dirty="0"/>
          </a:p>
        </p:txBody>
      </p:sp>
      <p:sp>
        <p:nvSpPr>
          <p:cNvPr id="18" name="Text 16"/>
          <p:cNvSpPr txBox="1"/>
          <p:nvPr/>
        </p:nvSpPr>
        <p:spPr>
          <a:xfrm>
            <a:off x="4572000" y="4773168"/>
            <a:ext cx="2926080" cy="320040"/>
          </a:xfrm>
          <a:prstGeom prst="rect">
            <a:avLst/>
          </a:prstGeom>
          <a:noFill/>
          <a:ln/>
        </p:spPr>
        <p:txBody>
          <a:bodyPr wrap="square" lIns="0" tIns="0" rIns="0" bIns="0" rtlCol="0" anchor="t"/>
          <a:lstStyle/>
          <a:p>
            <a:pPr indent="0" marL="0">
              <a:buNone/>
            </a:pPr>
            <a:r>
              <a:rPr lang="en-US" sz="1400" dirty="0">
                <a:solidFill>
                  <a:schemeClr val="tx1"/>
                </a:solidFill>
              </a:rPr>
              <a:t>Marketing</a:t>
            </a:r>
            <a:endParaRPr lang="en-US" sz="1400" dirty="0"/>
          </a:p>
        </p:txBody>
      </p:sp>
      <p:sp>
        <p:nvSpPr>
          <p:cNvPr id="19" name="Text 17"/>
          <p:cNvSpPr txBox="1"/>
          <p:nvPr/>
        </p:nvSpPr>
        <p:spPr>
          <a:xfrm>
            <a:off x="4572000" y="516636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Cómo medir</a:t>
            </a:r>
            <a:endParaRPr lang="en-US" sz="1100" dirty="0"/>
          </a:p>
        </p:txBody>
      </p:sp>
      <p:sp>
        <p:nvSpPr>
          <p:cNvPr id="20" name="Text 18"/>
          <p:cNvSpPr txBox="1"/>
          <p:nvPr/>
        </p:nvSpPr>
        <p:spPr>
          <a:xfrm>
            <a:off x="4572000" y="5413248"/>
            <a:ext cx="2926080" cy="640080"/>
          </a:xfrm>
          <a:prstGeom prst="rect">
            <a:avLst/>
          </a:prstGeom>
          <a:noFill/>
          <a:ln/>
        </p:spPr>
        <p:txBody>
          <a:bodyPr wrap="square" lIns="0" tIns="0" rIns="0" bIns="0" rtlCol="0" anchor="t"/>
          <a:lstStyle/>
          <a:p>
            <a:pPr indent="0" marL="0">
              <a:buNone/>
            </a:pPr>
            <a:r>
              <a:rPr lang="en-US" sz="1300" dirty="0">
                <a:solidFill>
                  <a:schemeClr val="tx2"/>
                </a:solidFill>
              </a:rPr>
              <a:t>Popularidad típica de esas películas frente a las de EE.UU.</a:t>
            </a:r>
            <a:endParaRPr lang="en-US" sz="1300" dirty="0"/>
          </a:p>
        </p:txBody>
      </p:sp>
      <p:sp>
        <p:nvSpPr>
          <p:cNvPr id="21" name="tarjeta"/>
          <p:cNvSpPr/>
          <p:nvPr/>
        </p:nvSpPr>
        <p:spPr>
          <a:xfrm>
            <a:off x="8046720" y="1920240"/>
            <a:ext cx="3474720" cy="4206240"/>
          </a:xfrm>
          <a:prstGeom prst="roundRect">
            <a:avLst>
              <a:gd name="adj" fmla="val 1579"/>
            </a:avLst>
          </a:prstGeom>
          <a:solidFill>
            <a:schemeClr val="bg2"/>
          </a:solidFill>
          <a:ln w="12700">
            <a:solidFill>
              <a:schemeClr val="bg2"/>
            </a:solidFill>
            <a:prstDash val="solid"/>
          </a:ln>
        </p:spPr>
      </p:sp>
      <p:sp>
        <p:nvSpPr>
          <p:cNvPr id="22" name="Text 20"/>
          <p:cNvSpPr txBox="1"/>
          <p:nvPr/>
        </p:nvSpPr>
        <p:spPr>
          <a:xfrm>
            <a:off x="8321040" y="2148840"/>
            <a:ext cx="548640" cy="64008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23" name="Text 21"/>
          <p:cNvSpPr txBox="1"/>
          <p:nvPr/>
        </p:nvSpPr>
        <p:spPr>
          <a:xfrm>
            <a:off x="8321040" y="2834640"/>
            <a:ext cx="2926080" cy="457200"/>
          </a:xfrm>
          <a:prstGeom prst="rect">
            <a:avLst/>
          </a:prstGeom>
          <a:noFill/>
          <a:ln/>
        </p:spPr>
        <p:txBody>
          <a:bodyPr wrap="square" lIns="0" tIns="0" rIns="0" bIns="0" rtlCol="0" anchor="t"/>
          <a:lstStyle/>
          <a:p>
            <a:pPr indent="0" marL="0">
              <a:buNone/>
            </a:pPr>
            <a:r>
              <a:rPr lang="en-US" sz="2200" b="1" dirty="0">
                <a:solidFill>
                  <a:schemeClr val="tx1"/>
                </a:solidFill>
              </a:rPr>
              <a:t>Medir mejor</a:t>
            </a:r>
            <a:endParaRPr lang="en-US" sz="2200" dirty="0"/>
          </a:p>
        </p:txBody>
      </p:sp>
      <p:sp>
        <p:nvSpPr>
          <p:cNvPr id="24" name="Text 22"/>
          <p:cNvSpPr txBox="1"/>
          <p:nvPr/>
        </p:nvSpPr>
        <p:spPr>
          <a:xfrm>
            <a:off x="8321040" y="3337560"/>
            <a:ext cx="2926080" cy="1097280"/>
          </a:xfrm>
          <a:prstGeom prst="rect">
            <a:avLst/>
          </a:prstGeom>
          <a:noFill/>
          <a:ln/>
        </p:spPr>
        <p:txBody>
          <a:bodyPr wrap="square" lIns="0" tIns="0" rIns="0" bIns="0" rtlCol="0" anchor="t"/>
          <a:lstStyle/>
          <a:p>
            <a:pPr indent="0" marL="0">
              <a:buNone/>
            </a:pPr>
            <a:r>
              <a:rPr lang="en-US" sz="1500" dirty="0">
                <a:solidFill>
                  <a:schemeClr val="tx2"/>
                </a:solidFill>
              </a:rPr>
              <a:t>incorporar datos propios de reproducción y suscripción</a:t>
            </a:r>
            <a:endParaRPr lang="en-US" sz="1500" dirty="0"/>
          </a:p>
        </p:txBody>
      </p:sp>
      <p:sp>
        <p:nvSpPr>
          <p:cNvPr id="25" name="Text 23"/>
          <p:cNvSpPr txBox="1"/>
          <p:nvPr/>
        </p:nvSpPr>
        <p:spPr>
          <a:xfrm>
            <a:off x="8321040" y="452628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Responsable</a:t>
            </a:r>
            <a:endParaRPr lang="en-US" sz="1100" dirty="0"/>
          </a:p>
        </p:txBody>
      </p:sp>
      <p:sp>
        <p:nvSpPr>
          <p:cNvPr id="26" name="Text 24"/>
          <p:cNvSpPr txBox="1"/>
          <p:nvPr/>
        </p:nvSpPr>
        <p:spPr>
          <a:xfrm>
            <a:off x="8321040" y="4773168"/>
            <a:ext cx="2926080" cy="320040"/>
          </a:xfrm>
          <a:prstGeom prst="rect">
            <a:avLst/>
          </a:prstGeom>
          <a:noFill/>
          <a:ln/>
        </p:spPr>
        <p:txBody>
          <a:bodyPr wrap="square" lIns="0" tIns="0" rIns="0" bIns="0" rtlCol="0" anchor="t"/>
          <a:lstStyle/>
          <a:p>
            <a:pPr indent="0" marL="0">
              <a:buNone/>
            </a:pPr>
            <a:r>
              <a:rPr lang="en-US" sz="1400" dirty="0">
                <a:solidFill>
                  <a:schemeClr val="tx1"/>
                </a:solidFill>
              </a:rPr>
              <a:t>Data &amp; Analytics</a:t>
            </a:r>
            <a:endParaRPr lang="en-US" sz="1400" dirty="0"/>
          </a:p>
        </p:txBody>
      </p:sp>
      <p:sp>
        <p:nvSpPr>
          <p:cNvPr id="27" name="Text 25"/>
          <p:cNvSpPr txBox="1"/>
          <p:nvPr/>
        </p:nvSpPr>
        <p:spPr>
          <a:xfrm>
            <a:off x="8321040" y="5166360"/>
            <a:ext cx="2926080" cy="274320"/>
          </a:xfrm>
          <a:prstGeom prst="rect">
            <a:avLst/>
          </a:prstGeom>
          <a:noFill/>
          <a:ln/>
        </p:spPr>
        <p:txBody>
          <a:bodyPr wrap="square" lIns="0" tIns="0" rIns="0" bIns="0" rtlCol="0" anchor="t"/>
          <a:lstStyle/>
          <a:p>
            <a:pPr indent="0" marL="0">
              <a:buNone/>
            </a:pPr>
            <a:r>
              <a:rPr lang="en-US" sz="1100" b="1" dirty="0">
                <a:solidFill>
                  <a:schemeClr val="accent5"/>
                </a:solidFill>
              </a:rPr>
              <a:t>Cómo medir</a:t>
            </a:r>
            <a:endParaRPr lang="en-US" sz="1100" dirty="0"/>
          </a:p>
        </p:txBody>
      </p:sp>
      <p:sp>
        <p:nvSpPr>
          <p:cNvPr id="28" name="Text 26"/>
          <p:cNvSpPr txBox="1"/>
          <p:nvPr/>
        </p:nvSpPr>
        <p:spPr>
          <a:xfrm>
            <a:off x="8321040" y="5413248"/>
            <a:ext cx="2926080" cy="640080"/>
          </a:xfrm>
          <a:prstGeom prst="rect">
            <a:avLst/>
          </a:prstGeom>
          <a:noFill/>
          <a:ln/>
        </p:spPr>
        <p:txBody>
          <a:bodyPr wrap="square" lIns="0" tIns="0" rIns="0" bIns="0" rtlCol="0" anchor="t"/>
          <a:lstStyle/>
          <a:p>
            <a:pPr indent="0" marL="0">
              <a:buNone/>
            </a:pPr>
            <a:r>
              <a:rPr lang="en-US" sz="1300" dirty="0">
                <a:solidFill>
                  <a:schemeClr val="tx2"/>
                </a:solidFill>
              </a:rPr>
              <a:t>Contar con un indicador de retención (hoy no existe)</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Una misma base de datos, una vista distinta para cada público</a:t>
            </a:r>
            <a:endParaRPr lang="en-US" sz="3000" dirty="0"/>
          </a:p>
        </p:txBody>
      </p:sp>
      <p:sp>
        <p:nvSpPr>
          <p:cNvPr id="3" name="etiqueta"/>
          <p:cNvSpPr/>
          <p:nvPr/>
        </p:nvSpPr>
        <p:spPr>
          <a:xfrm>
            <a:off x="548640" y="347472"/>
            <a:ext cx="173736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73736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8 · NAVEGACIÓN</a:t>
            </a:r>
            <a:endParaRPr lang="en-US" sz="1000" dirty="0"/>
          </a:p>
        </p:txBody>
      </p:sp>
      <p:sp>
        <p:nvSpPr>
          <p:cNvPr id="5" name="tarjeta"/>
          <p:cNvSpPr/>
          <p:nvPr/>
        </p:nvSpPr>
        <p:spPr>
          <a:xfrm>
            <a:off x="548640" y="1920240"/>
            <a:ext cx="2377440" cy="960120"/>
          </a:xfrm>
          <a:prstGeom prst="roundRect">
            <a:avLst>
              <a:gd name="adj" fmla="val 5714"/>
            </a:avLst>
          </a:prstGeom>
          <a:solidFill>
            <a:srgbClr val="0F766E"/>
          </a:solidFill>
          <a:ln w="12700">
            <a:solidFill>
              <a:srgbClr val="0F766E"/>
            </a:solidFill>
            <a:prstDash val="solid"/>
          </a:ln>
        </p:spPr>
      </p:sp>
      <p:sp>
        <p:nvSpPr>
          <p:cNvPr id="6" name="Text 4"/>
          <p:cNvSpPr txBox="1"/>
          <p:nvPr/>
        </p:nvSpPr>
        <p:spPr>
          <a:xfrm>
            <a:off x="731520" y="2084832"/>
            <a:ext cx="2103120" cy="365760"/>
          </a:xfrm>
          <a:prstGeom prst="rect">
            <a:avLst/>
          </a:prstGeom>
          <a:noFill/>
          <a:ln/>
        </p:spPr>
        <p:txBody>
          <a:bodyPr wrap="square" lIns="0" tIns="0" rIns="0" bIns="0" rtlCol="0" anchor="t"/>
          <a:lstStyle/>
          <a:p>
            <a:pPr indent="0" marL="0">
              <a:buNone/>
            </a:pPr>
            <a:r>
              <a:rPr lang="en-US" sz="1700" b="1" dirty="0">
                <a:solidFill>
                  <a:schemeClr val="bg1"/>
                </a:solidFill>
              </a:rPr>
              <a:t>Directorio</a:t>
            </a:r>
            <a:endParaRPr lang="en-US" sz="1700" dirty="0"/>
          </a:p>
        </p:txBody>
      </p:sp>
      <p:sp>
        <p:nvSpPr>
          <p:cNvPr id="7" name="Text 5"/>
          <p:cNvSpPr txBox="1"/>
          <p:nvPr/>
        </p:nvSpPr>
        <p:spPr>
          <a:xfrm>
            <a:off x="731520" y="2450592"/>
            <a:ext cx="2103120" cy="320040"/>
          </a:xfrm>
          <a:prstGeom prst="rect">
            <a:avLst/>
          </a:prstGeom>
          <a:noFill/>
          <a:ln/>
        </p:spPr>
        <p:txBody>
          <a:bodyPr wrap="square" lIns="0" tIns="0" rIns="0" bIns="0" rtlCol="0" anchor="t"/>
          <a:lstStyle/>
          <a:p>
            <a:pPr indent="0" marL="0">
              <a:buNone/>
            </a:pPr>
            <a:r>
              <a:rPr lang="en-US" sz="1200" dirty="0">
                <a:solidFill>
                  <a:schemeClr val="accent6"/>
                </a:solidFill>
              </a:rPr>
              <a:t>Explicativa</a:t>
            </a:r>
            <a:endParaRPr lang="en-US" sz="1200" dirty="0"/>
          </a:p>
        </p:txBody>
      </p:sp>
      <p:sp>
        <p:nvSpPr>
          <p:cNvPr id="8" name="pestana"/>
          <p:cNvSpPr/>
          <p:nvPr/>
        </p:nvSpPr>
        <p:spPr>
          <a:xfrm>
            <a:off x="3154680" y="2148840"/>
            <a:ext cx="1325880" cy="502920"/>
          </a:xfrm>
          <a:prstGeom prst="roundRect">
            <a:avLst>
              <a:gd name="adj" fmla="val 14545"/>
            </a:avLst>
          </a:prstGeom>
          <a:solidFill>
            <a:schemeClr val="bg1"/>
          </a:solidFill>
          <a:ln w="12700">
            <a:solidFill>
              <a:srgbClr val="C9C7BF"/>
            </a:solidFill>
            <a:prstDash val="solid"/>
          </a:ln>
        </p:spPr>
      </p:sp>
      <p:sp>
        <p:nvSpPr>
          <p:cNvPr id="9" name="Text 7"/>
          <p:cNvSpPr txBox="1"/>
          <p:nvPr/>
        </p:nvSpPr>
        <p:spPr>
          <a:xfrm>
            <a:off x="3154680" y="214884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Resumen</a:t>
            </a:r>
            <a:endParaRPr lang="en-US" sz="1100" dirty="0"/>
          </a:p>
        </p:txBody>
      </p:sp>
      <p:sp>
        <p:nvSpPr>
          <p:cNvPr id="10" name="pestana"/>
          <p:cNvSpPr/>
          <p:nvPr/>
        </p:nvSpPr>
        <p:spPr>
          <a:xfrm>
            <a:off x="4572000" y="2148840"/>
            <a:ext cx="1325880" cy="502920"/>
          </a:xfrm>
          <a:prstGeom prst="roundRect">
            <a:avLst>
              <a:gd name="adj" fmla="val 14545"/>
            </a:avLst>
          </a:prstGeom>
          <a:solidFill>
            <a:schemeClr val="bg1"/>
          </a:solidFill>
          <a:ln w="12700">
            <a:solidFill>
              <a:srgbClr val="C9C7BF"/>
            </a:solidFill>
            <a:prstDash val="solid"/>
          </a:ln>
        </p:spPr>
      </p:sp>
      <p:sp>
        <p:nvSpPr>
          <p:cNvPr id="11" name="Text 9"/>
          <p:cNvSpPr txBox="1"/>
          <p:nvPr/>
        </p:nvSpPr>
        <p:spPr>
          <a:xfrm>
            <a:off x="4572000" y="214884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Catálogo</a:t>
            </a:r>
            <a:endParaRPr lang="en-US" sz="1100" dirty="0"/>
          </a:p>
        </p:txBody>
      </p:sp>
      <p:sp>
        <p:nvSpPr>
          <p:cNvPr id="12" name="pestana"/>
          <p:cNvSpPr/>
          <p:nvPr/>
        </p:nvSpPr>
        <p:spPr>
          <a:xfrm>
            <a:off x="5989320" y="2148840"/>
            <a:ext cx="1325880" cy="502920"/>
          </a:xfrm>
          <a:prstGeom prst="roundRect">
            <a:avLst>
              <a:gd name="adj" fmla="val 14545"/>
            </a:avLst>
          </a:prstGeom>
          <a:solidFill>
            <a:schemeClr val="bg1"/>
          </a:solidFill>
          <a:ln w="12700">
            <a:solidFill>
              <a:srgbClr val="C9C7BF"/>
            </a:solidFill>
            <a:prstDash val="solid"/>
          </a:ln>
        </p:spPr>
      </p:sp>
      <p:sp>
        <p:nvSpPr>
          <p:cNvPr id="13" name="Text 11"/>
          <p:cNvSpPr txBox="1"/>
          <p:nvPr/>
        </p:nvSpPr>
        <p:spPr>
          <a:xfrm>
            <a:off x="5989320" y="214884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Finanzas</a:t>
            </a:r>
            <a:endParaRPr lang="en-US" sz="1100" dirty="0"/>
          </a:p>
        </p:txBody>
      </p:sp>
      <p:sp>
        <p:nvSpPr>
          <p:cNvPr id="14" name="tarjeta"/>
          <p:cNvSpPr/>
          <p:nvPr/>
        </p:nvSpPr>
        <p:spPr>
          <a:xfrm>
            <a:off x="548640" y="3108960"/>
            <a:ext cx="2377440" cy="960120"/>
          </a:xfrm>
          <a:prstGeom prst="roundRect">
            <a:avLst>
              <a:gd name="adj" fmla="val 5714"/>
            </a:avLst>
          </a:prstGeom>
          <a:solidFill>
            <a:srgbClr val="F2F1ED"/>
          </a:solidFill>
          <a:ln w="12700">
            <a:solidFill>
              <a:srgbClr val="F2F1ED"/>
            </a:solidFill>
            <a:prstDash val="solid"/>
          </a:ln>
        </p:spPr>
      </p:sp>
      <p:sp>
        <p:nvSpPr>
          <p:cNvPr id="15" name="Text 13"/>
          <p:cNvSpPr txBox="1"/>
          <p:nvPr/>
        </p:nvSpPr>
        <p:spPr>
          <a:xfrm>
            <a:off x="731520" y="3273552"/>
            <a:ext cx="2103120" cy="365760"/>
          </a:xfrm>
          <a:prstGeom prst="rect">
            <a:avLst/>
          </a:prstGeom>
          <a:noFill/>
          <a:ln/>
        </p:spPr>
        <p:txBody>
          <a:bodyPr wrap="square" lIns="0" tIns="0" rIns="0" bIns="0" rtlCol="0" anchor="t"/>
          <a:lstStyle/>
          <a:p>
            <a:pPr indent="0" marL="0">
              <a:buNone/>
            </a:pPr>
            <a:r>
              <a:rPr lang="en-US" sz="1700" b="1" dirty="0">
                <a:solidFill>
                  <a:schemeClr val="tx1"/>
                </a:solidFill>
              </a:rPr>
              <a:t>Marketing</a:t>
            </a:r>
            <a:endParaRPr lang="en-US" sz="1700" dirty="0"/>
          </a:p>
        </p:txBody>
      </p:sp>
      <p:sp>
        <p:nvSpPr>
          <p:cNvPr id="16" name="Text 14"/>
          <p:cNvSpPr txBox="1"/>
          <p:nvPr/>
        </p:nvSpPr>
        <p:spPr>
          <a:xfrm>
            <a:off x="731520" y="3639312"/>
            <a:ext cx="2103120" cy="320040"/>
          </a:xfrm>
          <a:prstGeom prst="rect">
            <a:avLst/>
          </a:prstGeom>
          <a:noFill/>
          <a:ln/>
        </p:spPr>
        <p:txBody>
          <a:bodyPr wrap="square" lIns="0" tIns="0" rIns="0" bIns="0" rtlCol="0" anchor="t"/>
          <a:lstStyle/>
          <a:p>
            <a:pPr indent="0" marL="0">
              <a:buNone/>
            </a:pPr>
            <a:r>
              <a:rPr lang="en-US" sz="1200" dirty="0">
                <a:solidFill>
                  <a:schemeClr val="accent5"/>
                </a:solidFill>
              </a:rPr>
              <a:t>Explicativa guiada</a:t>
            </a:r>
            <a:endParaRPr lang="en-US" sz="1200" dirty="0"/>
          </a:p>
        </p:txBody>
      </p:sp>
      <p:sp>
        <p:nvSpPr>
          <p:cNvPr id="17" name="pestana"/>
          <p:cNvSpPr/>
          <p:nvPr/>
        </p:nvSpPr>
        <p:spPr>
          <a:xfrm>
            <a:off x="3154680" y="3337560"/>
            <a:ext cx="1325880" cy="502920"/>
          </a:xfrm>
          <a:prstGeom prst="roundRect">
            <a:avLst>
              <a:gd name="adj" fmla="val 14545"/>
            </a:avLst>
          </a:prstGeom>
          <a:solidFill>
            <a:schemeClr val="bg1"/>
          </a:solidFill>
          <a:ln w="12700">
            <a:solidFill>
              <a:srgbClr val="C9C7BF"/>
            </a:solidFill>
            <a:prstDash val="solid"/>
          </a:ln>
        </p:spPr>
      </p:sp>
      <p:sp>
        <p:nvSpPr>
          <p:cNvPr id="18" name="Text 16"/>
          <p:cNvSpPr txBox="1"/>
          <p:nvPr/>
        </p:nvSpPr>
        <p:spPr>
          <a:xfrm>
            <a:off x="3154680" y="333756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Oportunidades</a:t>
            </a:r>
            <a:endParaRPr lang="en-US" sz="1100" dirty="0"/>
          </a:p>
        </p:txBody>
      </p:sp>
      <p:sp>
        <p:nvSpPr>
          <p:cNvPr id="19" name="pestana"/>
          <p:cNvSpPr/>
          <p:nvPr/>
        </p:nvSpPr>
        <p:spPr>
          <a:xfrm>
            <a:off x="4572000" y="3337560"/>
            <a:ext cx="1325880" cy="502920"/>
          </a:xfrm>
          <a:prstGeom prst="roundRect">
            <a:avLst>
              <a:gd name="adj" fmla="val 14545"/>
            </a:avLst>
          </a:prstGeom>
          <a:solidFill>
            <a:schemeClr val="bg1"/>
          </a:solidFill>
          <a:ln w="12700">
            <a:solidFill>
              <a:srgbClr val="C9C7BF"/>
            </a:solidFill>
            <a:prstDash val="solid"/>
          </a:ln>
        </p:spPr>
      </p:sp>
      <p:sp>
        <p:nvSpPr>
          <p:cNvPr id="20" name="Text 18"/>
          <p:cNvSpPr txBox="1"/>
          <p:nvPr/>
        </p:nvSpPr>
        <p:spPr>
          <a:xfrm>
            <a:off x="4572000" y="333756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Títulos destacados</a:t>
            </a:r>
            <a:endParaRPr lang="en-US" sz="1100" dirty="0"/>
          </a:p>
        </p:txBody>
      </p:sp>
      <p:sp>
        <p:nvSpPr>
          <p:cNvPr id="21" name="pestana"/>
          <p:cNvSpPr/>
          <p:nvPr/>
        </p:nvSpPr>
        <p:spPr>
          <a:xfrm>
            <a:off x="5989320" y="3337560"/>
            <a:ext cx="1325880" cy="502920"/>
          </a:xfrm>
          <a:prstGeom prst="roundRect">
            <a:avLst>
              <a:gd name="adj" fmla="val 14545"/>
            </a:avLst>
          </a:prstGeom>
          <a:solidFill>
            <a:schemeClr val="bg1"/>
          </a:solidFill>
          <a:ln w="12700">
            <a:solidFill>
              <a:srgbClr val="C9C7BF"/>
            </a:solidFill>
            <a:prstDash val="solid"/>
          </a:ln>
        </p:spPr>
      </p:sp>
      <p:sp>
        <p:nvSpPr>
          <p:cNvPr id="22" name="Text 20"/>
          <p:cNvSpPr txBox="1"/>
          <p:nvPr/>
        </p:nvSpPr>
        <p:spPr>
          <a:xfrm>
            <a:off x="5989320" y="333756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Catálogo</a:t>
            </a:r>
            <a:endParaRPr lang="en-US" sz="1100" dirty="0"/>
          </a:p>
        </p:txBody>
      </p:sp>
      <p:sp>
        <p:nvSpPr>
          <p:cNvPr id="23" name="tarjeta"/>
          <p:cNvSpPr/>
          <p:nvPr/>
        </p:nvSpPr>
        <p:spPr>
          <a:xfrm>
            <a:off x="548640" y="4297680"/>
            <a:ext cx="2377440" cy="960120"/>
          </a:xfrm>
          <a:prstGeom prst="roundRect">
            <a:avLst>
              <a:gd name="adj" fmla="val 5714"/>
            </a:avLst>
          </a:prstGeom>
          <a:solidFill>
            <a:srgbClr val="F2F1ED"/>
          </a:solidFill>
          <a:ln w="12700">
            <a:solidFill>
              <a:srgbClr val="F2F1ED"/>
            </a:solidFill>
            <a:prstDash val="solid"/>
          </a:ln>
        </p:spPr>
      </p:sp>
      <p:sp>
        <p:nvSpPr>
          <p:cNvPr id="24" name="Text 22"/>
          <p:cNvSpPr txBox="1"/>
          <p:nvPr/>
        </p:nvSpPr>
        <p:spPr>
          <a:xfrm>
            <a:off x="731520" y="4462272"/>
            <a:ext cx="2103120" cy="365760"/>
          </a:xfrm>
          <a:prstGeom prst="rect">
            <a:avLst/>
          </a:prstGeom>
          <a:noFill/>
          <a:ln/>
        </p:spPr>
        <p:txBody>
          <a:bodyPr wrap="square" lIns="0" tIns="0" rIns="0" bIns="0" rtlCol="0" anchor="t"/>
          <a:lstStyle/>
          <a:p>
            <a:pPr indent="0" marL="0">
              <a:buNone/>
            </a:pPr>
            <a:r>
              <a:rPr lang="en-US" sz="1700" b="1" dirty="0">
                <a:solidFill>
                  <a:schemeClr val="tx1"/>
                </a:solidFill>
              </a:rPr>
              <a:t>Data &amp; Analytics</a:t>
            </a:r>
            <a:endParaRPr lang="en-US" sz="1700" dirty="0"/>
          </a:p>
        </p:txBody>
      </p:sp>
      <p:sp>
        <p:nvSpPr>
          <p:cNvPr id="25" name="Text 23"/>
          <p:cNvSpPr txBox="1"/>
          <p:nvPr/>
        </p:nvSpPr>
        <p:spPr>
          <a:xfrm>
            <a:off x="731520" y="4828032"/>
            <a:ext cx="2103120" cy="320040"/>
          </a:xfrm>
          <a:prstGeom prst="rect">
            <a:avLst/>
          </a:prstGeom>
          <a:noFill/>
          <a:ln/>
        </p:spPr>
        <p:txBody>
          <a:bodyPr wrap="square" lIns="0" tIns="0" rIns="0" bIns="0" rtlCol="0" anchor="t"/>
          <a:lstStyle/>
          <a:p>
            <a:pPr indent="0" marL="0">
              <a:buNone/>
            </a:pPr>
            <a:r>
              <a:rPr lang="en-US" sz="1200" dirty="0">
                <a:solidFill>
                  <a:schemeClr val="accent5"/>
                </a:solidFill>
              </a:rPr>
              <a:t>Exploratoria</a:t>
            </a:r>
            <a:endParaRPr lang="en-US" sz="1200" dirty="0"/>
          </a:p>
        </p:txBody>
      </p:sp>
      <p:sp>
        <p:nvSpPr>
          <p:cNvPr id="26" name="pestana"/>
          <p:cNvSpPr/>
          <p:nvPr/>
        </p:nvSpPr>
        <p:spPr>
          <a:xfrm>
            <a:off x="3154680" y="4526280"/>
            <a:ext cx="1325880" cy="502920"/>
          </a:xfrm>
          <a:prstGeom prst="roundRect">
            <a:avLst>
              <a:gd name="adj" fmla="val 14545"/>
            </a:avLst>
          </a:prstGeom>
          <a:solidFill>
            <a:schemeClr val="bg1"/>
          </a:solidFill>
          <a:ln w="12700">
            <a:solidFill>
              <a:srgbClr val="C9C7BF"/>
            </a:solidFill>
            <a:prstDash val="solid"/>
          </a:ln>
        </p:spPr>
      </p:sp>
      <p:sp>
        <p:nvSpPr>
          <p:cNvPr id="27" name="Text 25"/>
          <p:cNvSpPr txBox="1"/>
          <p:nvPr/>
        </p:nvSpPr>
        <p:spPr>
          <a:xfrm>
            <a:off x="3154680" y="452628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Catálogo</a:t>
            </a:r>
            <a:endParaRPr lang="en-US" sz="1100" dirty="0"/>
          </a:p>
        </p:txBody>
      </p:sp>
      <p:sp>
        <p:nvSpPr>
          <p:cNvPr id="28" name="pestana"/>
          <p:cNvSpPr/>
          <p:nvPr/>
        </p:nvSpPr>
        <p:spPr>
          <a:xfrm>
            <a:off x="4572000" y="4526280"/>
            <a:ext cx="1325880" cy="502920"/>
          </a:xfrm>
          <a:prstGeom prst="roundRect">
            <a:avLst>
              <a:gd name="adj" fmla="val 14545"/>
            </a:avLst>
          </a:prstGeom>
          <a:solidFill>
            <a:schemeClr val="bg1"/>
          </a:solidFill>
          <a:ln w="12700">
            <a:solidFill>
              <a:srgbClr val="C9C7BF"/>
            </a:solidFill>
            <a:prstDash val="solid"/>
          </a:ln>
        </p:spPr>
      </p:sp>
      <p:sp>
        <p:nvSpPr>
          <p:cNvPr id="29" name="Text 27"/>
          <p:cNvSpPr txBox="1"/>
          <p:nvPr/>
        </p:nvSpPr>
        <p:spPr>
          <a:xfrm>
            <a:off x="4572000" y="452628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Popularidad y calidad</a:t>
            </a:r>
            <a:endParaRPr lang="en-US" sz="1100" dirty="0"/>
          </a:p>
        </p:txBody>
      </p:sp>
      <p:sp>
        <p:nvSpPr>
          <p:cNvPr id="30" name="pestana"/>
          <p:cNvSpPr/>
          <p:nvPr/>
        </p:nvSpPr>
        <p:spPr>
          <a:xfrm>
            <a:off x="5989320" y="4526280"/>
            <a:ext cx="1325880" cy="502920"/>
          </a:xfrm>
          <a:prstGeom prst="roundRect">
            <a:avLst>
              <a:gd name="adj" fmla="val 14545"/>
            </a:avLst>
          </a:prstGeom>
          <a:solidFill>
            <a:schemeClr val="bg1"/>
          </a:solidFill>
          <a:ln w="12700">
            <a:solidFill>
              <a:srgbClr val="C9C7BF"/>
            </a:solidFill>
            <a:prstDash val="solid"/>
          </a:ln>
        </p:spPr>
      </p:sp>
      <p:sp>
        <p:nvSpPr>
          <p:cNvPr id="31" name="Text 29"/>
          <p:cNvSpPr txBox="1"/>
          <p:nvPr/>
        </p:nvSpPr>
        <p:spPr>
          <a:xfrm>
            <a:off x="5989320" y="4526280"/>
            <a:ext cx="1325880" cy="502920"/>
          </a:xfrm>
          <a:prstGeom prst="rect">
            <a:avLst/>
          </a:prstGeom>
          <a:noFill/>
          <a:ln/>
        </p:spPr>
        <p:txBody>
          <a:bodyPr wrap="square" lIns="0" tIns="0" rIns="0" bIns="0" rtlCol="0" anchor="ctr"/>
          <a:lstStyle/>
          <a:p>
            <a:pPr algn="ctr" indent="0" marL="0">
              <a:buNone/>
            </a:pPr>
            <a:r>
              <a:rPr lang="en-US" sz="1100" dirty="0">
                <a:solidFill>
                  <a:schemeClr val="tx1"/>
                </a:solidFill>
              </a:rPr>
              <a:t>Finanzas</a:t>
            </a:r>
            <a:endParaRPr lang="en-US" sz="1100" dirty="0"/>
          </a:p>
        </p:txBody>
      </p:sp>
      <p:pic>
        <p:nvPicPr>
          <p:cNvPr id="32" name="captura_dashboard" descr="/tmp/claude-0/-home-claude/066c80a2-ccb3-5304-a38f-3a9c669163d1/scratchpad/sv/deck/assets/dashboard_inicio.jpg">    </p:cNvPr>
          <p:cNvPicPr>
            <a:picLocks noChangeAspect="1"/>
          </p:cNvPicPr>
          <p:nvPr/>
        </p:nvPicPr>
        <p:blipFill>
          <a:blip r:embed="rId1"/>
          <a:stretch>
            <a:fillRect/>
          </a:stretch>
        </p:blipFill>
        <p:spPr>
          <a:xfrm>
            <a:off x="7635240" y="1920240"/>
            <a:ext cx="3977640" cy="2487168"/>
          </a:xfrm>
          <a:prstGeom prst="rect">
            <a:avLst/>
          </a:prstGeom>
        </p:spPr>
      </p:pic>
      <p:sp>
        <p:nvSpPr>
          <p:cNvPr id="33" name="Text 30"/>
          <p:cNvSpPr txBox="1"/>
          <p:nvPr/>
        </p:nvSpPr>
        <p:spPr>
          <a:xfrm>
            <a:off x="7635240" y="4572000"/>
            <a:ext cx="4023360" cy="320040"/>
          </a:xfrm>
          <a:prstGeom prst="rect">
            <a:avLst/>
          </a:prstGeom>
          <a:noFill/>
          <a:ln/>
        </p:spPr>
        <p:txBody>
          <a:bodyPr wrap="square" lIns="0" tIns="0" rIns="0" bIns="0" rtlCol="0" anchor="t"/>
          <a:lstStyle/>
          <a:p>
            <a:pPr indent="0" marL="0">
              <a:buNone/>
            </a:pPr>
            <a:r>
              <a:rPr lang="en-US" sz="1500" b="1" dirty="0">
                <a:solidFill>
                  <a:schemeClr val="tx1"/>
                </a:solidFill>
              </a:rPr>
              <a:t>Experiencia de usuario</a:t>
            </a:r>
            <a:endParaRPr lang="en-US" sz="1500" dirty="0"/>
          </a:p>
        </p:txBody>
      </p:sp>
      <p:sp>
        <p:nvSpPr>
          <p:cNvPr id="34" name="Text 31"/>
          <p:cNvSpPr txBox="1"/>
          <p:nvPr/>
        </p:nvSpPr>
        <p:spPr>
          <a:xfrm>
            <a:off x="7635240" y="4919472"/>
            <a:ext cx="4023360" cy="118872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Cada vista abre con la pregunta que responde</a:t>
            </a:r>
            <a:endParaRPr lang="en-US" sz="1300" dirty="0"/>
          </a:p>
          <a:p>
            <a:pPr marL="342900" indent="-342900">
              <a:spcAft>
                <a:spcPts val="300"/>
              </a:spcAft>
              <a:buSzPct val="100000"/>
              <a:buChar char="•"/>
            </a:pPr>
            <a:r>
              <a:rPr lang="en-US" sz="1300" dirty="0">
                <a:solidFill>
                  <a:schemeClr val="tx2"/>
                </a:solidFill>
              </a:rPr>
              <a:t>Títulos que dicen la conclusión, en lenguaje de negocio</a:t>
            </a:r>
            <a:endParaRPr lang="en-US" sz="1300" dirty="0"/>
          </a:p>
          <a:p>
            <a:pPr marL="342900" indent="-342900">
              <a:spcAft>
                <a:spcPts val="300"/>
              </a:spcAft>
              <a:buSzPct val="100000"/>
              <a:buChar char="•"/>
            </a:pPr>
            <a:r>
              <a:rPr lang="en-US" sz="1300" dirty="0">
                <a:solidFill>
                  <a:schemeClr val="tx2"/>
                </a:solidFill>
              </a:rPr>
              <a:t>Color solo en lo importante; el resto en gris</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Los filtros responden preguntas, no solo recortan datos</a:t>
            </a:r>
            <a:endParaRPr lang="en-US" sz="3000" dirty="0"/>
          </a:p>
        </p:txBody>
      </p:sp>
      <p:sp>
        <p:nvSpPr>
          <p:cNvPr id="3" name="etiqueta"/>
          <p:cNvSpPr/>
          <p:nvPr/>
        </p:nvSpPr>
        <p:spPr>
          <a:xfrm>
            <a:off x="548640" y="347472"/>
            <a:ext cx="274320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74320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9 · FILTROS E INTERACCIÓN</a:t>
            </a:r>
            <a:endParaRPr lang="en-US" sz="1000" dirty="0"/>
          </a:p>
        </p:txBody>
      </p:sp>
      <p:pic>
        <p:nvPicPr>
          <p:cNvPr id="5" name="captura_filtros" descr="/tmp/claude-0/-home-claude/066c80a2-ccb3-5304-a38f-3a9c669163d1/scratchpad/sv/deck/assets/demo_filtros.jpg">    </p:cNvPr>
          <p:cNvPicPr>
            <a:picLocks noChangeAspect="1"/>
          </p:cNvPicPr>
          <p:nvPr/>
        </p:nvPicPr>
        <p:blipFill>
          <a:blip r:embed="rId1"/>
          <a:stretch>
            <a:fillRect/>
          </a:stretch>
        </p:blipFill>
        <p:spPr>
          <a:xfrm>
            <a:off x="548640" y="2057400"/>
            <a:ext cx="6949440" cy="2898648"/>
          </a:xfrm>
          <a:prstGeom prst="rect">
            <a:avLst/>
          </a:prstGeom>
        </p:spPr>
      </p:pic>
      <p:sp>
        <p:nvSpPr>
          <p:cNvPr id="6" name="Text 3"/>
          <p:cNvSpPr txBox="1"/>
          <p:nvPr/>
        </p:nvSpPr>
        <p:spPr>
          <a:xfrm>
            <a:off x="548640" y="5074920"/>
            <a:ext cx="6949440" cy="548640"/>
          </a:xfrm>
          <a:prstGeom prst="rect">
            <a:avLst/>
          </a:prstGeom>
          <a:noFill/>
          <a:ln/>
        </p:spPr>
        <p:txBody>
          <a:bodyPr wrap="square" lIns="0" tIns="0" rIns="0" bIns="0" rtlCol="0" anchor="t"/>
          <a:lstStyle/>
          <a:p>
            <a:pPr indent="0" marL="0">
              <a:buNone/>
            </a:pPr>
            <a:r>
              <a:rPr lang="en-US" sz="1200" dirty="0">
                <a:solidFill>
                  <a:schemeClr val="accent5"/>
                </a:solidFill>
              </a:rPr>
              <a:t>Perfil Directorio con País = Japón y México: el ranking compara los 16 países y destaca los elegidos.</a:t>
            </a:r>
            <a:endParaRPr lang="en-US" sz="1200" dirty="0"/>
          </a:p>
        </p:txBody>
      </p:sp>
      <p:sp>
        <p:nvSpPr>
          <p:cNvPr id="7" name="paso"/>
          <p:cNvSpPr/>
          <p:nvPr/>
        </p:nvSpPr>
        <p:spPr>
          <a:xfrm>
            <a:off x="7818120" y="182880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81812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6"/>
          <p:cNvSpPr txBox="1"/>
          <p:nvPr/>
        </p:nvSpPr>
        <p:spPr>
          <a:xfrm>
            <a:off x="8458200" y="1810512"/>
            <a:ext cx="3200400" cy="548640"/>
          </a:xfrm>
          <a:prstGeom prst="rect">
            <a:avLst/>
          </a:prstGeom>
          <a:noFill/>
          <a:ln/>
        </p:spPr>
        <p:txBody>
          <a:bodyPr wrap="square" lIns="0" tIns="0" rIns="0" bIns="0" rtlCol="0" anchor="t"/>
          <a:lstStyle/>
          <a:p>
            <a:pPr indent="0" marL="0">
              <a:buNone/>
            </a:pPr>
            <a:r>
              <a:rPr lang="en-US" sz="1500" b="1" dirty="0">
                <a:solidFill>
                  <a:schemeClr val="tx1"/>
                </a:solidFill>
              </a:rPr>
              <a:t>Filtrar por país destaca, no esconde</a:t>
            </a:r>
            <a:endParaRPr lang="en-US" sz="1500" dirty="0"/>
          </a:p>
        </p:txBody>
      </p:sp>
      <p:sp>
        <p:nvSpPr>
          <p:cNvPr id="10" name="Text 7"/>
          <p:cNvSpPr txBox="1"/>
          <p:nvPr/>
        </p:nvSpPr>
        <p:spPr>
          <a:xfrm>
            <a:off x="8458200" y="2377440"/>
            <a:ext cx="3200400" cy="822960"/>
          </a:xfrm>
          <a:prstGeom prst="rect">
            <a:avLst/>
          </a:prstGeom>
          <a:noFill/>
          <a:ln/>
        </p:spPr>
        <p:txBody>
          <a:bodyPr wrap="square" lIns="0" tIns="0" rIns="0" bIns="0" rtlCol="0" anchor="t"/>
          <a:lstStyle/>
          <a:p>
            <a:pPr indent="0" marL="0">
              <a:buNone/>
            </a:pPr>
            <a:r>
              <a:rPr lang="en-US" sz="1200" dirty="0">
                <a:solidFill>
                  <a:schemeClr val="tx2"/>
                </a:solidFill>
              </a:rPr>
              <a:t>Con Japón y México elegidos, el gráfico compara los 16 países y dice el puesto de cada uno (1° y 3°).</a:t>
            </a:r>
            <a:endParaRPr lang="en-US" sz="1200" dirty="0"/>
          </a:p>
        </p:txBody>
      </p:sp>
      <p:sp>
        <p:nvSpPr>
          <p:cNvPr id="11" name="paso"/>
          <p:cNvSpPr/>
          <p:nvPr/>
        </p:nvSpPr>
        <p:spPr>
          <a:xfrm>
            <a:off x="7818120" y="329184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7818120" y="3291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8458200" y="3273552"/>
            <a:ext cx="3200400" cy="548640"/>
          </a:xfrm>
          <a:prstGeom prst="rect">
            <a:avLst/>
          </a:prstGeom>
          <a:noFill/>
          <a:ln/>
        </p:spPr>
        <p:txBody>
          <a:bodyPr wrap="square" lIns="0" tIns="0" rIns="0" bIns="0" rtlCol="0" anchor="t"/>
          <a:lstStyle/>
          <a:p>
            <a:pPr indent="0" marL="0">
              <a:buNone/>
            </a:pPr>
            <a:r>
              <a:rPr lang="en-US" sz="1500" b="1" dirty="0">
                <a:solidFill>
                  <a:schemeClr val="tx1"/>
                </a:solidFill>
              </a:rPr>
              <a:t>Todo se recalcula</a:t>
            </a:r>
            <a:endParaRPr lang="en-US" sz="1500" dirty="0"/>
          </a:p>
        </p:txBody>
      </p:sp>
      <p:sp>
        <p:nvSpPr>
          <p:cNvPr id="14" name="Text 11"/>
          <p:cNvSpPr txBox="1"/>
          <p:nvPr/>
        </p:nvSpPr>
        <p:spPr>
          <a:xfrm>
            <a:off x="8458200" y="3840480"/>
            <a:ext cx="3200400" cy="822960"/>
          </a:xfrm>
          <a:prstGeom prst="rect">
            <a:avLst/>
          </a:prstGeom>
          <a:noFill/>
          <a:ln/>
        </p:spPr>
        <p:txBody>
          <a:bodyPr wrap="square" lIns="0" tIns="0" rIns="0" bIns="0" rtlCol="0" anchor="t"/>
          <a:lstStyle/>
          <a:p>
            <a:pPr indent="0" marL="0">
              <a:buNone/>
            </a:pPr>
            <a:r>
              <a:rPr lang="en-US" sz="1200" dirty="0">
                <a:solidFill>
                  <a:schemeClr val="tx2"/>
                </a:solidFill>
              </a:rPr>
              <a:t>KPIs, gráficos y títulos se actualizan con tipo, años, país, idioma y género.</a:t>
            </a:r>
            <a:endParaRPr lang="en-US" sz="1200" dirty="0"/>
          </a:p>
        </p:txBody>
      </p:sp>
      <p:sp>
        <p:nvSpPr>
          <p:cNvPr id="15" name="paso"/>
          <p:cNvSpPr/>
          <p:nvPr/>
        </p:nvSpPr>
        <p:spPr>
          <a:xfrm>
            <a:off x="7818120" y="4754880"/>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781812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8458200" y="4736592"/>
            <a:ext cx="3200400" cy="548640"/>
          </a:xfrm>
          <a:prstGeom prst="rect">
            <a:avLst/>
          </a:prstGeom>
          <a:noFill/>
          <a:ln/>
        </p:spPr>
        <p:txBody>
          <a:bodyPr wrap="square" lIns="0" tIns="0" rIns="0" bIns="0" rtlCol="0" anchor="t"/>
          <a:lstStyle/>
          <a:p>
            <a:pPr indent="0" marL="0">
              <a:buNone/>
            </a:pPr>
            <a:r>
              <a:rPr lang="en-US" sz="1500" b="1" dirty="0">
                <a:solidFill>
                  <a:schemeClr val="tx1"/>
                </a:solidFill>
              </a:rPr>
              <a:t>Avisa cuando no alcanza</a:t>
            </a:r>
            <a:endParaRPr lang="en-US" sz="1500" dirty="0"/>
          </a:p>
        </p:txBody>
      </p:sp>
      <p:sp>
        <p:nvSpPr>
          <p:cNvPr id="18" name="Text 15"/>
          <p:cNvSpPr txBox="1"/>
          <p:nvPr/>
        </p:nvSpPr>
        <p:spPr>
          <a:xfrm>
            <a:off x="8458200" y="5303520"/>
            <a:ext cx="3200400" cy="822960"/>
          </a:xfrm>
          <a:prstGeom prst="rect">
            <a:avLst/>
          </a:prstGeom>
          <a:noFill/>
          <a:ln/>
        </p:spPr>
        <p:txBody>
          <a:bodyPr wrap="square" lIns="0" tIns="0" rIns="0" bIns="0" rtlCol="0" anchor="t"/>
          <a:lstStyle/>
          <a:p>
            <a:pPr indent="0" marL="0">
              <a:buNone/>
            </a:pPr>
            <a:r>
              <a:rPr lang="en-US" sz="1200" dirty="0">
                <a:solidFill>
                  <a:schemeClr val="tx2"/>
                </a:solidFill>
              </a:rPr>
              <a:t>Si un filtro deja menos títulos que el mínimo, el dashboard lo dice en vez de mostrar un ranking engañoso.</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Python de punta a punta: cada cifra es reproducible</a:t>
            </a:r>
            <a:endParaRPr lang="en-US" sz="3000" dirty="0"/>
          </a:p>
        </p:txBody>
      </p:sp>
      <p:sp>
        <p:nvSpPr>
          <p:cNvPr id="3" name="etiqueta"/>
          <p:cNvSpPr/>
          <p:nvPr/>
        </p:nvSpPr>
        <p:spPr>
          <a:xfrm>
            <a:off x="548640" y="347472"/>
            <a:ext cx="201168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01168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10 · HERRAMIENTAS</a:t>
            </a:r>
            <a:endParaRPr lang="en-US" sz="1000" dirty="0"/>
          </a:p>
        </p:txBody>
      </p:sp>
      <p:sp>
        <p:nvSpPr>
          <p:cNvPr id="5" name="Text 3"/>
          <p:cNvSpPr txBox="1"/>
          <p:nvPr/>
        </p:nvSpPr>
        <p:spPr>
          <a:xfrm>
            <a:off x="548640" y="1828800"/>
            <a:ext cx="1965960" cy="320040"/>
          </a:xfrm>
          <a:prstGeom prst="rect">
            <a:avLst/>
          </a:prstGeom>
          <a:noFill/>
          <a:ln/>
        </p:spPr>
        <p:txBody>
          <a:bodyPr wrap="square" lIns="0" tIns="0" rIns="0" bIns="0" rtlCol="0" anchor="t"/>
          <a:lstStyle/>
          <a:p>
            <a:pPr indent="0" marL="0">
              <a:buNone/>
            </a:pPr>
            <a:r>
              <a:rPr lang="en-US" sz="1200" b="1" dirty="0">
                <a:solidFill>
                  <a:schemeClr val="accent5"/>
                </a:solidFill>
              </a:rPr>
              <a:t>Herramienta</a:t>
            </a:r>
            <a:endParaRPr lang="en-US" sz="1200" dirty="0"/>
          </a:p>
        </p:txBody>
      </p:sp>
      <p:sp>
        <p:nvSpPr>
          <p:cNvPr id="6" name="Text 4"/>
          <p:cNvSpPr txBox="1"/>
          <p:nvPr/>
        </p:nvSpPr>
        <p:spPr>
          <a:xfrm>
            <a:off x="2651760" y="1828800"/>
            <a:ext cx="2514600" cy="320040"/>
          </a:xfrm>
          <a:prstGeom prst="rect">
            <a:avLst/>
          </a:prstGeom>
          <a:noFill/>
          <a:ln/>
        </p:spPr>
        <p:txBody>
          <a:bodyPr wrap="square" lIns="0" tIns="0" rIns="0" bIns="0" rtlCol="0" anchor="t"/>
          <a:lstStyle/>
          <a:p>
            <a:pPr indent="0" marL="0">
              <a:buNone/>
            </a:pPr>
            <a:r>
              <a:rPr lang="en-US" sz="1200" b="1" dirty="0">
                <a:solidFill>
                  <a:schemeClr val="accent5"/>
                </a:solidFill>
              </a:rPr>
              <a:t>Para qué</a:t>
            </a:r>
            <a:endParaRPr lang="en-US" sz="1200" dirty="0"/>
          </a:p>
        </p:txBody>
      </p:sp>
      <p:sp>
        <p:nvSpPr>
          <p:cNvPr id="7" name="Text 5"/>
          <p:cNvSpPr txBox="1"/>
          <p:nvPr/>
        </p:nvSpPr>
        <p:spPr>
          <a:xfrm>
            <a:off x="5303520" y="1828800"/>
            <a:ext cx="3154680" cy="320040"/>
          </a:xfrm>
          <a:prstGeom prst="rect">
            <a:avLst/>
          </a:prstGeom>
          <a:noFill/>
          <a:ln/>
        </p:spPr>
        <p:txBody>
          <a:bodyPr wrap="square" lIns="0" tIns="0" rIns="0" bIns="0" rtlCol="0" anchor="t"/>
          <a:lstStyle/>
          <a:p>
            <a:pPr indent="0" marL="0">
              <a:buNone/>
            </a:pPr>
            <a:r>
              <a:rPr lang="en-US" sz="1200" b="1" dirty="0">
                <a:solidFill>
                  <a:schemeClr val="accent5"/>
                </a:solidFill>
              </a:rPr>
              <a:t>Ventaja</a:t>
            </a:r>
            <a:endParaRPr lang="en-US" sz="1200" dirty="0"/>
          </a:p>
        </p:txBody>
      </p:sp>
      <p:sp>
        <p:nvSpPr>
          <p:cNvPr id="8" name="Text 6"/>
          <p:cNvSpPr txBox="1"/>
          <p:nvPr/>
        </p:nvSpPr>
        <p:spPr>
          <a:xfrm>
            <a:off x="8595360" y="1828800"/>
            <a:ext cx="2880360" cy="320040"/>
          </a:xfrm>
          <a:prstGeom prst="rect">
            <a:avLst/>
          </a:prstGeom>
          <a:noFill/>
          <a:ln/>
        </p:spPr>
        <p:txBody>
          <a:bodyPr wrap="square" lIns="0" tIns="0" rIns="0" bIns="0" rtlCol="0" anchor="t"/>
          <a:lstStyle/>
          <a:p>
            <a:pPr indent="0" marL="0">
              <a:buNone/>
            </a:pPr>
            <a:r>
              <a:rPr lang="en-US" sz="1200" b="1" dirty="0">
                <a:solidFill>
                  <a:schemeClr val="accent5"/>
                </a:solidFill>
              </a:rPr>
              <a:t>Limitación</a:t>
            </a:r>
            <a:endParaRPr lang="en-US" sz="1200" dirty="0"/>
          </a:p>
        </p:txBody>
      </p:sp>
      <p:sp>
        <p:nvSpPr>
          <p:cNvPr id="9" name="tarjeta"/>
          <p:cNvSpPr/>
          <p:nvPr/>
        </p:nvSpPr>
        <p:spPr>
          <a:xfrm>
            <a:off x="548640" y="2240280"/>
            <a:ext cx="11094415" cy="749808"/>
          </a:xfrm>
          <a:prstGeom prst="roundRect">
            <a:avLst>
              <a:gd name="adj" fmla="val 7317"/>
            </a:avLst>
          </a:prstGeom>
          <a:solidFill>
            <a:srgbClr val="F2F1ED"/>
          </a:solidFill>
          <a:ln w="12700">
            <a:solidFill>
              <a:srgbClr val="F2F1ED"/>
            </a:solidFill>
            <a:prstDash val="solid"/>
          </a:ln>
        </p:spPr>
      </p:sp>
      <p:sp>
        <p:nvSpPr>
          <p:cNvPr id="10" name="Text 8"/>
          <p:cNvSpPr txBox="1"/>
          <p:nvPr/>
        </p:nvSpPr>
        <p:spPr>
          <a:xfrm>
            <a:off x="685800" y="2331720"/>
            <a:ext cx="1828800" cy="594360"/>
          </a:xfrm>
          <a:prstGeom prst="rect">
            <a:avLst/>
          </a:prstGeom>
          <a:noFill/>
          <a:ln/>
        </p:spPr>
        <p:txBody>
          <a:bodyPr wrap="square" lIns="0" tIns="0" rIns="0" bIns="0" rtlCol="0" anchor="ctr"/>
          <a:lstStyle/>
          <a:p>
            <a:pPr indent="0" marL="0">
              <a:buNone/>
            </a:pPr>
            <a:r>
              <a:rPr lang="en-US" sz="1500" b="1" dirty="0">
                <a:solidFill>
                  <a:schemeClr val="tx1"/>
                </a:solidFill>
              </a:rPr>
              <a:t>pandas</a:t>
            </a:r>
            <a:endParaRPr lang="en-US" sz="1500" dirty="0"/>
          </a:p>
        </p:txBody>
      </p:sp>
      <p:sp>
        <p:nvSpPr>
          <p:cNvPr id="11" name="Text 9"/>
          <p:cNvSpPr txBox="1"/>
          <p:nvPr/>
        </p:nvSpPr>
        <p:spPr>
          <a:xfrm>
            <a:off x="2788920" y="2331720"/>
            <a:ext cx="2377440" cy="594360"/>
          </a:xfrm>
          <a:prstGeom prst="rect">
            <a:avLst/>
          </a:prstGeom>
          <a:noFill/>
          <a:ln/>
        </p:spPr>
        <p:txBody>
          <a:bodyPr wrap="square" lIns="0" tIns="0" rIns="0" bIns="0" rtlCol="0" anchor="ctr"/>
          <a:lstStyle/>
          <a:p>
            <a:pPr indent="0" marL="0">
              <a:buNone/>
            </a:pPr>
            <a:r>
              <a:rPr lang="en-US" sz="1200" dirty="0">
                <a:solidFill>
                  <a:schemeClr val="tx2"/>
                </a:solidFill>
              </a:rPr>
              <a:t>Limpieza, integración y KPIs</a:t>
            </a:r>
            <a:endParaRPr lang="en-US" sz="1200" dirty="0"/>
          </a:p>
        </p:txBody>
      </p:sp>
      <p:sp>
        <p:nvSpPr>
          <p:cNvPr id="12" name="Text 10"/>
          <p:cNvSpPr txBox="1"/>
          <p:nvPr/>
        </p:nvSpPr>
        <p:spPr>
          <a:xfrm>
            <a:off x="5440680" y="2331720"/>
            <a:ext cx="3017520" cy="594360"/>
          </a:xfrm>
          <a:prstGeom prst="rect">
            <a:avLst/>
          </a:prstGeom>
          <a:noFill/>
          <a:ln/>
        </p:spPr>
        <p:txBody>
          <a:bodyPr wrap="square" lIns="0" tIns="0" rIns="0" bIns="0" rtlCol="0" anchor="ctr"/>
          <a:lstStyle/>
          <a:p>
            <a:pPr indent="0" marL="0">
              <a:buNone/>
            </a:pPr>
            <a:r>
              <a:rPr lang="en-US" sz="1200" dirty="0">
                <a:solidFill>
                  <a:schemeClr val="tx2"/>
                </a:solidFill>
              </a:rPr>
              <a:t>Las mismas reglas en notebook, dashboard e informe</a:t>
            </a:r>
            <a:endParaRPr lang="en-US" sz="1200" dirty="0"/>
          </a:p>
        </p:txBody>
      </p:sp>
      <p:sp>
        <p:nvSpPr>
          <p:cNvPr id="13" name="Text 11"/>
          <p:cNvSpPr txBox="1"/>
          <p:nvPr/>
        </p:nvSpPr>
        <p:spPr>
          <a:xfrm>
            <a:off x="8732520" y="2331720"/>
            <a:ext cx="2743200" cy="594360"/>
          </a:xfrm>
          <a:prstGeom prst="rect">
            <a:avLst/>
          </a:prstGeom>
          <a:noFill/>
          <a:ln/>
        </p:spPr>
        <p:txBody>
          <a:bodyPr wrap="square" lIns="0" tIns="0" rIns="0" bIns="0" rtlCol="0" anchor="ctr"/>
          <a:lstStyle/>
          <a:p>
            <a:pPr indent="0" marL="0">
              <a:buNone/>
            </a:pPr>
            <a:r>
              <a:rPr lang="en-US" sz="1200" dirty="0">
                <a:solidFill>
                  <a:schemeClr val="tx2"/>
                </a:solidFill>
              </a:rPr>
              <a:t>Datos en memoria: no escala a millones de filas sin otra base</a:t>
            </a:r>
            <a:endParaRPr lang="en-US" sz="1200" dirty="0"/>
          </a:p>
        </p:txBody>
      </p:sp>
      <p:sp>
        <p:nvSpPr>
          <p:cNvPr id="14" name="tarjeta"/>
          <p:cNvSpPr/>
          <p:nvPr/>
        </p:nvSpPr>
        <p:spPr>
          <a:xfrm>
            <a:off x="548640" y="3108960"/>
            <a:ext cx="11094415" cy="749808"/>
          </a:xfrm>
          <a:prstGeom prst="roundRect">
            <a:avLst>
              <a:gd name="adj" fmla="val 7317"/>
            </a:avLst>
          </a:prstGeom>
          <a:solidFill>
            <a:srgbClr val="FFFFFF"/>
          </a:solidFill>
          <a:ln w="12700">
            <a:solidFill>
              <a:srgbClr val="FFFFFF"/>
            </a:solidFill>
            <a:prstDash val="solid"/>
          </a:ln>
        </p:spPr>
      </p:sp>
      <p:sp>
        <p:nvSpPr>
          <p:cNvPr id="15" name="Text 13"/>
          <p:cNvSpPr txBox="1"/>
          <p:nvPr/>
        </p:nvSpPr>
        <p:spPr>
          <a:xfrm>
            <a:off x="685800" y="3200400"/>
            <a:ext cx="1828800" cy="594360"/>
          </a:xfrm>
          <a:prstGeom prst="rect">
            <a:avLst/>
          </a:prstGeom>
          <a:noFill/>
          <a:ln/>
        </p:spPr>
        <p:txBody>
          <a:bodyPr wrap="square" lIns="0" tIns="0" rIns="0" bIns="0" rtlCol="0" anchor="ctr"/>
          <a:lstStyle/>
          <a:p>
            <a:pPr indent="0" marL="0">
              <a:buNone/>
            </a:pPr>
            <a:r>
              <a:rPr lang="en-US" sz="1500" b="1" dirty="0">
                <a:solidFill>
                  <a:schemeClr val="tx1"/>
                </a:solidFill>
              </a:rPr>
              <a:t>Streamlit + Plotly</a:t>
            </a:r>
            <a:endParaRPr lang="en-US" sz="1500" dirty="0"/>
          </a:p>
        </p:txBody>
      </p:sp>
      <p:sp>
        <p:nvSpPr>
          <p:cNvPr id="16" name="Text 14"/>
          <p:cNvSpPr txBox="1"/>
          <p:nvPr/>
        </p:nvSpPr>
        <p:spPr>
          <a:xfrm>
            <a:off x="2788920" y="3200400"/>
            <a:ext cx="2377440" cy="594360"/>
          </a:xfrm>
          <a:prstGeom prst="rect">
            <a:avLst/>
          </a:prstGeom>
          <a:noFill/>
          <a:ln/>
        </p:spPr>
        <p:txBody>
          <a:bodyPr wrap="square" lIns="0" tIns="0" rIns="0" bIns="0" rtlCol="0" anchor="ctr"/>
          <a:lstStyle/>
          <a:p>
            <a:pPr indent="0" marL="0">
              <a:buNone/>
            </a:pPr>
            <a:r>
              <a:rPr lang="en-US" sz="1200" dirty="0">
                <a:solidFill>
                  <a:schemeClr val="tx2"/>
                </a:solidFill>
              </a:rPr>
              <a:t>Dashboard interactivo</a:t>
            </a:r>
            <a:endParaRPr lang="en-US" sz="1200" dirty="0"/>
          </a:p>
        </p:txBody>
      </p:sp>
      <p:sp>
        <p:nvSpPr>
          <p:cNvPr id="17" name="Text 15"/>
          <p:cNvSpPr txBox="1"/>
          <p:nvPr/>
        </p:nvSpPr>
        <p:spPr>
          <a:xfrm>
            <a:off x="5440680" y="3200400"/>
            <a:ext cx="3017520" cy="594360"/>
          </a:xfrm>
          <a:prstGeom prst="rect">
            <a:avLst/>
          </a:prstGeom>
          <a:noFill/>
          <a:ln/>
        </p:spPr>
        <p:txBody>
          <a:bodyPr wrap="square" lIns="0" tIns="0" rIns="0" bIns="0" rtlCol="0" anchor="ctr"/>
          <a:lstStyle/>
          <a:p>
            <a:pPr indent="0" marL="0">
              <a:buNone/>
            </a:pPr>
            <a:r>
              <a:rPr lang="en-US" sz="1200" dirty="0">
                <a:solidFill>
                  <a:schemeClr val="tx2"/>
                </a:solidFill>
              </a:rPr>
              <a:t>Reutiliza el código de análisis; interacción y detalle al pasar el cursor</a:t>
            </a:r>
            <a:endParaRPr lang="en-US" sz="1200" dirty="0"/>
          </a:p>
        </p:txBody>
      </p:sp>
      <p:sp>
        <p:nvSpPr>
          <p:cNvPr id="18" name="Text 16"/>
          <p:cNvSpPr txBox="1"/>
          <p:nvPr/>
        </p:nvSpPr>
        <p:spPr>
          <a:xfrm>
            <a:off x="8732520" y="3200400"/>
            <a:ext cx="2743200" cy="594360"/>
          </a:xfrm>
          <a:prstGeom prst="rect">
            <a:avLst/>
          </a:prstGeom>
          <a:noFill/>
          <a:ln/>
        </p:spPr>
        <p:txBody>
          <a:bodyPr wrap="square" lIns="0" tIns="0" rIns="0" bIns="0" rtlCol="0" anchor="ctr"/>
          <a:lstStyle/>
          <a:p>
            <a:pPr indent="0" marL="0">
              <a:buNone/>
            </a:pPr>
            <a:r>
              <a:rPr lang="en-US" sz="1200" dirty="0">
                <a:solidFill>
                  <a:schemeClr val="tx2"/>
                </a:solidFill>
              </a:rPr>
              <a:t>Requiere ejecutarse en un servidor; sin control de acceso por usuario</a:t>
            </a:r>
            <a:endParaRPr lang="en-US" sz="1200" dirty="0"/>
          </a:p>
        </p:txBody>
      </p:sp>
      <p:sp>
        <p:nvSpPr>
          <p:cNvPr id="19" name="tarjeta"/>
          <p:cNvSpPr/>
          <p:nvPr/>
        </p:nvSpPr>
        <p:spPr>
          <a:xfrm>
            <a:off x="548640" y="3977640"/>
            <a:ext cx="11094415" cy="749808"/>
          </a:xfrm>
          <a:prstGeom prst="roundRect">
            <a:avLst>
              <a:gd name="adj" fmla="val 7317"/>
            </a:avLst>
          </a:prstGeom>
          <a:solidFill>
            <a:srgbClr val="F2F1ED"/>
          </a:solidFill>
          <a:ln w="12700">
            <a:solidFill>
              <a:srgbClr val="F2F1ED"/>
            </a:solidFill>
            <a:prstDash val="solid"/>
          </a:ln>
        </p:spPr>
      </p:sp>
      <p:sp>
        <p:nvSpPr>
          <p:cNvPr id="20" name="Text 18"/>
          <p:cNvSpPr txBox="1"/>
          <p:nvPr/>
        </p:nvSpPr>
        <p:spPr>
          <a:xfrm>
            <a:off x="685800" y="4069080"/>
            <a:ext cx="1828800" cy="594360"/>
          </a:xfrm>
          <a:prstGeom prst="rect">
            <a:avLst/>
          </a:prstGeom>
          <a:noFill/>
          <a:ln/>
        </p:spPr>
        <p:txBody>
          <a:bodyPr wrap="square" lIns="0" tIns="0" rIns="0" bIns="0" rtlCol="0" anchor="ctr"/>
          <a:lstStyle/>
          <a:p>
            <a:pPr indent="0" marL="0">
              <a:buNone/>
            </a:pPr>
            <a:r>
              <a:rPr lang="en-US" sz="1500" b="1" dirty="0">
                <a:solidFill>
                  <a:schemeClr val="tx1"/>
                </a:solidFill>
              </a:rPr>
              <a:t>matplotlib</a:t>
            </a:r>
            <a:endParaRPr lang="en-US" sz="1500" dirty="0"/>
          </a:p>
        </p:txBody>
      </p:sp>
      <p:sp>
        <p:nvSpPr>
          <p:cNvPr id="21" name="Text 19"/>
          <p:cNvSpPr txBox="1"/>
          <p:nvPr/>
        </p:nvSpPr>
        <p:spPr>
          <a:xfrm>
            <a:off x="2788920" y="4069080"/>
            <a:ext cx="2377440" cy="594360"/>
          </a:xfrm>
          <a:prstGeom prst="rect">
            <a:avLst/>
          </a:prstGeom>
          <a:noFill/>
          <a:ln/>
        </p:spPr>
        <p:txBody>
          <a:bodyPr wrap="square" lIns="0" tIns="0" rIns="0" bIns="0" rtlCol="0" anchor="ctr"/>
          <a:lstStyle/>
          <a:p>
            <a:pPr indent="0" marL="0">
              <a:buNone/>
            </a:pPr>
            <a:r>
              <a:rPr lang="en-US" sz="1200" dirty="0">
                <a:solidFill>
                  <a:schemeClr val="tx2"/>
                </a:solidFill>
              </a:rPr>
              <a:t>Infografía y figuras del informe</a:t>
            </a:r>
            <a:endParaRPr lang="en-US" sz="1200" dirty="0"/>
          </a:p>
        </p:txBody>
      </p:sp>
      <p:sp>
        <p:nvSpPr>
          <p:cNvPr id="22" name="Text 20"/>
          <p:cNvSpPr txBox="1"/>
          <p:nvPr/>
        </p:nvSpPr>
        <p:spPr>
          <a:xfrm>
            <a:off x="5440680" y="4069080"/>
            <a:ext cx="3017520" cy="594360"/>
          </a:xfrm>
          <a:prstGeom prst="rect">
            <a:avLst/>
          </a:prstGeom>
          <a:noFill/>
          <a:ln/>
        </p:spPr>
        <p:txBody>
          <a:bodyPr wrap="square" lIns="0" tIns="0" rIns="0" bIns="0" rtlCol="0" anchor="ctr"/>
          <a:lstStyle/>
          <a:p>
            <a:pPr indent="0" marL="0">
              <a:buNone/>
            </a:pPr>
            <a:r>
              <a:rPr lang="en-US" sz="1200" dirty="0">
                <a:solidFill>
                  <a:schemeClr val="tx2"/>
                </a:solidFill>
              </a:rPr>
              <a:t>Exportación vectorial (PDF) y PNG a 200 dpi, control tipográfico total</a:t>
            </a:r>
            <a:endParaRPr lang="en-US" sz="1200" dirty="0"/>
          </a:p>
        </p:txBody>
      </p:sp>
      <p:sp>
        <p:nvSpPr>
          <p:cNvPr id="23" name="Text 21"/>
          <p:cNvSpPr txBox="1"/>
          <p:nvPr/>
        </p:nvSpPr>
        <p:spPr>
          <a:xfrm>
            <a:off x="8732520" y="4069080"/>
            <a:ext cx="2743200" cy="594360"/>
          </a:xfrm>
          <a:prstGeom prst="rect">
            <a:avLst/>
          </a:prstGeom>
          <a:noFill/>
          <a:ln/>
        </p:spPr>
        <p:txBody>
          <a:bodyPr wrap="square" lIns="0" tIns="0" rIns="0" bIns="0" rtlCol="0" anchor="ctr"/>
          <a:lstStyle/>
          <a:p>
            <a:pPr indent="0" marL="0">
              <a:buNone/>
            </a:pPr>
            <a:r>
              <a:rPr lang="en-US" sz="1200" dirty="0">
                <a:solidFill>
                  <a:schemeClr val="tx2"/>
                </a:solidFill>
              </a:rPr>
              <a:t>Estático: no tiene interacción</a:t>
            </a:r>
            <a:endParaRPr lang="en-US" sz="1200" dirty="0"/>
          </a:p>
        </p:txBody>
      </p:sp>
      <p:sp>
        <p:nvSpPr>
          <p:cNvPr id="24" name="tarjeta"/>
          <p:cNvSpPr/>
          <p:nvPr/>
        </p:nvSpPr>
        <p:spPr>
          <a:xfrm>
            <a:off x="548640" y="4846320"/>
            <a:ext cx="11094415" cy="749808"/>
          </a:xfrm>
          <a:prstGeom prst="roundRect">
            <a:avLst>
              <a:gd name="adj" fmla="val 7317"/>
            </a:avLst>
          </a:prstGeom>
          <a:solidFill>
            <a:srgbClr val="FFFFFF"/>
          </a:solidFill>
          <a:ln w="12700">
            <a:solidFill>
              <a:srgbClr val="FFFFFF"/>
            </a:solidFill>
            <a:prstDash val="solid"/>
          </a:ln>
        </p:spPr>
      </p:sp>
      <p:sp>
        <p:nvSpPr>
          <p:cNvPr id="25" name="Text 23"/>
          <p:cNvSpPr txBox="1"/>
          <p:nvPr/>
        </p:nvSpPr>
        <p:spPr>
          <a:xfrm>
            <a:off x="685800" y="4937760"/>
            <a:ext cx="1828800" cy="594360"/>
          </a:xfrm>
          <a:prstGeom prst="rect">
            <a:avLst/>
          </a:prstGeom>
          <a:noFill/>
          <a:ln/>
        </p:spPr>
        <p:txBody>
          <a:bodyPr wrap="square" lIns="0" tIns="0" rIns="0" bIns="0" rtlCol="0" anchor="ctr"/>
          <a:lstStyle/>
          <a:p>
            <a:pPr indent="0" marL="0">
              <a:buNone/>
            </a:pPr>
            <a:r>
              <a:rPr lang="en-US" sz="1500" b="1" dirty="0">
                <a:solidFill>
                  <a:schemeClr val="tx1"/>
                </a:solidFill>
              </a:rPr>
              <a:t>Jupyter</a:t>
            </a:r>
            <a:endParaRPr lang="en-US" sz="1500" dirty="0"/>
          </a:p>
        </p:txBody>
      </p:sp>
      <p:sp>
        <p:nvSpPr>
          <p:cNvPr id="26" name="Text 24"/>
          <p:cNvSpPr txBox="1"/>
          <p:nvPr/>
        </p:nvSpPr>
        <p:spPr>
          <a:xfrm>
            <a:off x="2788920" y="4937760"/>
            <a:ext cx="2377440" cy="594360"/>
          </a:xfrm>
          <a:prstGeom prst="rect">
            <a:avLst/>
          </a:prstGeom>
          <a:noFill/>
          <a:ln/>
        </p:spPr>
        <p:txBody>
          <a:bodyPr wrap="square" lIns="0" tIns="0" rIns="0" bIns="0" rtlCol="0" anchor="ctr"/>
          <a:lstStyle/>
          <a:p>
            <a:pPr indent="0" marL="0">
              <a:buNone/>
            </a:pPr>
            <a:r>
              <a:rPr lang="en-US" sz="1200" dirty="0">
                <a:solidFill>
                  <a:schemeClr val="tx2"/>
                </a:solidFill>
              </a:rPr>
              <a:t>Análisis exploratorio y auditoría</a:t>
            </a:r>
            <a:endParaRPr lang="en-US" sz="1200" dirty="0"/>
          </a:p>
        </p:txBody>
      </p:sp>
      <p:sp>
        <p:nvSpPr>
          <p:cNvPr id="27" name="Text 25"/>
          <p:cNvSpPr txBox="1"/>
          <p:nvPr/>
        </p:nvSpPr>
        <p:spPr>
          <a:xfrm>
            <a:off x="5440680" y="4937760"/>
            <a:ext cx="3017520" cy="594360"/>
          </a:xfrm>
          <a:prstGeom prst="rect">
            <a:avLst/>
          </a:prstGeom>
          <a:noFill/>
          <a:ln/>
        </p:spPr>
        <p:txBody>
          <a:bodyPr wrap="square" lIns="0" tIns="0" rIns="0" bIns="0" rtlCol="0" anchor="ctr"/>
          <a:lstStyle/>
          <a:p>
            <a:pPr indent="0" marL="0">
              <a:buNone/>
            </a:pPr>
            <a:r>
              <a:rPr lang="en-US" sz="1200" dirty="0">
                <a:solidFill>
                  <a:schemeClr val="tx2"/>
                </a:solidFill>
              </a:rPr>
              <a:t>Cada decisión de limpieza queda justificada junto a su evidencia</a:t>
            </a:r>
            <a:endParaRPr lang="en-US" sz="1200" dirty="0"/>
          </a:p>
        </p:txBody>
      </p:sp>
      <p:sp>
        <p:nvSpPr>
          <p:cNvPr id="28" name="Text 26"/>
          <p:cNvSpPr txBox="1"/>
          <p:nvPr/>
        </p:nvSpPr>
        <p:spPr>
          <a:xfrm>
            <a:off x="8732520" y="4937760"/>
            <a:ext cx="2743200" cy="594360"/>
          </a:xfrm>
          <a:prstGeom prst="rect">
            <a:avLst/>
          </a:prstGeom>
          <a:noFill/>
          <a:ln/>
        </p:spPr>
        <p:txBody>
          <a:bodyPr wrap="square" lIns="0" tIns="0" rIns="0" bIns="0" rtlCol="0" anchor="ctr"/>
          <a:lstStyle/>
          <a:p>
            <a:pPr indent="0" marL="0">
              <a:buNone/>
            </a:pPr>
            <a:r>
              <a:rPr lang="en-US" sz="1200" dirty="0">
                <a:solidFill>
                  <a:schemeClr val="tx2"/>
                </a:solidFill>
              </a:rPr>
              <a:t>Pensado para el equipo técnico, no para gerencia</a:t>
            </a:r>
            <a:endParaRPr lang="en-US" sz="1200" dirty="0"/>
          </a:p>
        </p:txBody>
      </p:sp>
      <p:sp>
        <p:nvSpPr>
          <p:cNvPr id="29" name="Text 27"/>
          <p:cNvSpPr txBox="1"/>
          <p:nvPr/>
        </p:nvSpPr>
        <p:spPr>
          <a:xfrm>
            <a:off x="548640" y="5806440"/>
            <a:ext cx="11094415" cy="548640"/>
          </a:xfrm>
          <a:prstGeom prst="rect">
            <a:avLst/>
          </a:prstGeom>
          <a:noFill/>
          <a:ln/>
        </p:spPr>
        <p:txBody>
          <a:bodyPr wrap="square" lIns="0" tIns="0" rIns="0" bIns="0" rtlCol="0" anchor="t"/>
          <a:lstStyle/>
          <a:p>
            <a:pPr indent="0" marL="0">
              <a:buNone/>
            </a:pPr>
            <a:r>
              <a:rPr lang="en-US" sz="1300" i="1" dirty="0">
                <a:solidFill>
                  <a:schemeClr val="tx1"/>
                </a:solidFill>
              </a:rPr>
              <a:t>¿Por qué no Power BI o Tableau? Habría que reimplementar la lógica estadística fuera del código de análisis, con riesgo de que dos versiones de un mismo indicador vuelvan a divergir, que es justo el problema del cliente.</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La evaluación crítica corrigió cuatro hallazgos y la forma de mostrarlos</a:t>
            </a:r>
            <a:endParaRPr lang="en-US" sz="3000" dirty="0"/>
          </a:p>
        </p:txBody>
      </p:sp>
      <p:sp>
        <p:nvSpPr>
          <p:cNvPr id="3" name="etiqueta"/>
          <p:cNvSpPr/>
          <p:nvPr/>
        </p:nvSpPr>
        <p:spPr>
          <a:xfrm>
            <a:off x="548640" y="347472"/>
            <a:ext cx="228600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28600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11 · ANTES Y DESPUÉS</a:t>
            </a:r>
            <a:endParaRPr lang="en-US" sz="1000" dirty="0"/>
          </a:p>
        </p:txBody>
      </p:sp>
      <p:sp>
        <p:nvSpPr>
          <p:cNvPr id="5" name="Text 3"/>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100" b="1" dirty="0">
                <a:solidFill>
                  <a:schemeClr val="accent3"/>
                </a:solidFill>
              </a:rPr>
              <a:t>ANTES · ETAPA 1</a:t>
            </a:r>
            <a:endParaRPr lang="en-US" sz="1100" dirty="0"/>
          </a:p>
        </p:txBody>
      </p:sp>
      <p:pic>
        <p:nvPicPr>
          <p:cNvPr id="6" name="antes" descr="/tmp/claude-0/-home-claude/066c80a2-ccb3-5304-a38f-3a9c669163d1/scratchpad/sv/deck/assets/antes_scatter.jpg">    </p:cNvPr>
          <p:cNvPicPr>
            <a:picLocks noChangeAspect="1"/>
          </p:cNvPicPr>
          <p:nvPr/>
        </p:nvPicPr>
        <p:blipFill>
          <a:blip r:embed="rId1"/>
          <a:stretch>
            <a:fillRect/>
          </a:stretch>
        </p:blipFill>
        <p:spPr>
          <a:xfrm>
            <a:off x="548640" y="2148840"/>
            <a:ext cx="3566160" cy="2523744"/>
          </a:xfrm>
          <a:prstGeom prst="rect">
            <a:avLst/>
          </a:prstGeom>
        </p:spPr>
      </p:pic>
      <p:sp>
        <p:nvSpPr>
          <p:cNvPr id="7" name="Text 4"/>
          <p:cNvSpPr txBox="1"/>
          <p:nvPr/>
        </p:nvSpPr>
        <p:spPr>
          <a:xfrm>
            <a:off x="548640" y="4754880"/>
            <a:ext cx="3566160" cy="685800"/>
          </a:xfrm>
          <a:prstGeom prst="rect">
            <a:avLst/>
          </a:prstGeom>
          <a:noFill/>
          <a:ln/>
        </p:spPr>
        <p:txBody>
          <a:bodyPr wrap="square" lIns="0" tIns="0" rIns="0" bIns="0" rtlCol="0" anchor="t"/>
          <a:lstStyle/>
          <a:p>
            <a:pPr indent="0" marL="0">
              <a:buNone/>
            </a:pPr>
            <a:r>
              <a:rPr lang="en-US" sz="1200" dirty="0">
                <a:solidFill>
                  <a:schemeClr val="tx2"/>
                </a:solidFill>
              </a:rPr>
              <a:t>Dispersión en escala logarítmica para el Directorio, con un título que los datos no sostienen</a:t>
            </a:r>
            <a:endParaRPr lang="en-US" sz="1200" dirty="0"/>
          </a:p>
        </p:txBody>
      </p:sp>
      <p:sp>
        <p:nvSpPr>
          <p:cNvPr id="8" name="Text 5"/>
          <p:cNvSpPr txBox="1"/>
          <p:nvPr/>
        </p:nvSpPr>
        <p:spPr>
          <a:xfrm>
            <a:off x="4434840" y="1828800"/>
            <a:ext cx="3657600" cy="274320"/>
          </a:xfrm>
          <a:prstGeom prst="rect">
            <a:avLst/>
          </a:prstGeom>
          <a:noFill/>
          <a:ln/>
        </p:spPr>
        <p:txBody>
          <a:bodyPr wrap="square" lIns="0" tIns="0" rIns="0" bIns="0" rtlCol="0" anchor="t"/>
          <a:lstStyle/>
          <a:p>
            <a:pPr indent="0" marL="0">
              <a:buNone/>
            </a:pPr>
            <a:r>
              <a:rPr lang="en-US" sz="1100" b="1" dirty="0">
                <a:solidFill>
                  <a:schemeClr val="accent1"/>
                </a:solidFill>
              </a:rPr>
              <a:t>DESPUÉS · ETAPA 3</a:t>
            </a:r>
            <a:endParaRPr lang="en-US" sz="1100" dirty="0"/>
          </a:p>
        </p:txBody>
      </p:sp>
      <p:pic>
        <p:nvPicPr>
          <p:cNvPr id="9" name="despues" descr="/tmp/claude-0/-home-claude/066c80a2-ccb3-5304-a38f-3a9c669163d1/scratchpad/sv/deck/assets/despues_mercados.jpg">    </p:cNvPr>
          <p:cNvPicPr>
            <a:picLocks noChangeAspect="1"/>
          </p:cNvPicPr>
          <p:nvPr/>
        </p:nvPicPr>
        <p:blipFill>
          <a:blip r:embed="rId2"/>
          <a:stretch>
            <a:fillRect/>
          </a:stretch>
        </p:blipFill>
        <p:spPr>
          <a:xfrm>
            <a:off x="4434840" y="2148840"/>
            <a:ext cx="3694176" cy="2523744"/>
          </a:xfrm>
          <a:prstGeom prst="rect">
            <a:avLst/>
          </a:prstGeom>
        </p:spPr>
      </p:pic>
      <p:sp>
        <p:nvSpPr>
          <p:cNvPr id="10" name="Text 6"/>
          <p:cNvSpPr txBox="1"/>
          <p:nvPr/>
        </p:nvSpPr>
        <p:spPr>
          <a:xfrm>
            <a:off x="4434840" y="4754880"/>
            <a:ext cx="3657600" cy="685800"/>
          </a:xfrm>
          <a:prstGeom prst="rect">
            <a:avLst/>
          </a:prstGeom>
          <a:noFill/>
          <a:ln/>
        </p:spPr>
        <p:txBody>
          <a:bodyPr wrap="square" lIns="0" tIns="0" rIns="0" bIns="0" rtlCol="0" anchor="t"/>
          <a:lstStyle/>
          <a:p>
            <a:pPr indent="0" marL="0">
              <a:buNone/>
            </a:pPr>
            <a:r>
              <a:rPr lang="en-US" sz="1200" dirty="0">
                <a:solidFill>
                  <a:schemeClr val="tx2"/>
                </a:solidFill>
              </a:rPr>
              <a:t>Barras ordenadas, mensaje en color y un título de acción que se recalcula con los filtros</a:t>
            </a:r>
            <a:endParaRPr lang="en-US" sz="1200" dirty="0"/>
          </a:p>
        </p:txBody>
      </p:sp>
      <p:sp>
        <p:nvSpPr>
          <p:cNvPr id="11" name="tarjeta"/>
          <p:cNvSpPr/>
          <p:nvPr/>
        </p:nvSpPr>
        <p:spPr>
          <a:xfrm>
            <a:off x="8503920" y="1828800"/>
            <a:ext cx="3108960" cy="4251960"/>
          </a:xfrm>
          <a:prstGeom prst="roundRect">
            <a:avLst>
              <a:gd name="adj" fmla="val 1765"/>
            </a:avLst>
          </a:prstGeom>
          <a:solidFill>
            <a:schemeClr val="bg2"/>
          </a:solidFill>
          <a:ln w="12700">
            <a:solidFill>
              <a:schemeClr val="bg2"/>
            </a:solidFill>
            <a:prstDash val="solid"/>
          </a:ln>
        </p:spPr>
      </p:sp>
      <p:sp>
        <p:nvSpPr>
          <p:cNvPr id="12" name="Text 8"/>
          <p:cNvSpPr txBox="1"/>
          <p:nvPr/>
        </p:nvSpPr>
        <p:spPr>
          <a:xfrm>
            <a:off x="8732520" y="2011680"/>
            <a:ext cx="2743200" cy="365760"/>
          </a:xfrm>
          <a:prstGeom prst="rect">
            <a:avLst/>
          </a:prstGeom>
          <a:noFill/>
          <a:ln/>
        </p:spPr>
        <p:txBody>
          <a:bodyPr wrap="square" lIns="0" tIns="0" rIns="0" bIns="0" rtlCol="0" anchor="t"/>
          <a:lstStyle/>
          <a:p>
            <a:pPr indent="0" marL="0">
              <a:buNone/>
            </a:pPr>
            <a:r>
              <a:rPr lang="en-US" sz="1500" b="1" dirty="0">
                <a:solidFill>
                  <a:schemeClr val="tx1"/>
                </a:solidFill>
              </a:rPr>
              <a:t>Hallazgos corregidos</a:t>
            </a:r>
            <a:endParaRPr lang="en-US" sz="1500" dirty="0"/>
          </a:p>
        </p:txBody>
      </p:sp>
      <p:sp>
        <p:nvSpPr>
          <p:cNvPr id="13" name="Text 9"/>
          <p:cNvSpPr txBox="1"/>
          <p:nvPr/>
        </p:nvSpPr>
        <p:spPr>
          <a:xfrm>
            <a:off x="8732520" y="2468880"/>
            <a:ext cx="2743200" cy="23774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"La popularidad no depende de la calificación"</a:t>
            </a:r>
            <a:endParaRPr lang="en-US" sz="1200" dirty="0"/>
          </a:p>
          <a:p>
            <a:pPr marL="342900" indent="-342900">
              <a:spcAft>
                <a:spcPts val="600"/>
              </a:spcAft>
              <a:buSzPct val="100000"/>
              <a:buChar char="•"/>
            </a:pPr>
            <a:r>
              <a:rPr lang="en-US" sz="1200" dirty="0">
                <a:solidFill>
                  <a:schemeClr val="tx2"/>
                </a:solidFill>
              </a:rPr>
              <a:t>"Los géneros más populares son los peor evaluados"</a:t>
            </a:r>
            <a:endParaRPr lang="en-US" sz="1200" dirty="0"/>
          </a:p>
          <a:p>
            <a:pPr marL="342900" indent="-342900">
              <a:spcAft>
                <a:spcPts val="600"/>
              </a:spcAft>
              <a:buSzPct val="100000"/>
              <a:buChar char="•"/>
            </a:pPr>
            <a:r>
              <a:rPr lang="en-US" sz="1200" dirty="0">
                <a:solidFill>
                  <a:schemeClr val="tx2"/>
                </a:solidFill>
              </a:rPr>
              <a:t>"Las series mejoraron de 4,7 a 6,5"</a:t>
            </a:r>
            <a:endParaRPr lang="en-US" sz="1200" dirty="0"/>
          </a:p>
          <a:p>
            <a:pPr marL="342900" indent="-342900">
              <a:spcAft>
                <a:spcPts val="600"/>
              </a:spcAft>
              <a:buSzPct val="100000"/>
              <a:buChar char="•"/>
            </a:pPr>
            <a:r>
              <a:rPr lang="en-US" sz="1200" dirty="0">
                <a:solidFill>
                  <a:schemeClr val="tx2"/>
                </a:solidFill>
              </a:rPr>
              <a:t>"Filipinas triplica la popularidad de EE.UU."</a:t>
            </a:r>
            <a:endParaRPr lang="en-US" sz="1200" dirty="0"/>
          </a:p>
        </p:txBody>
      </p:sp>
      <p:sp>
        <p:nvSpPr>
          <p:cNvPr id="14" name="Text 10"/>
          <p:cNvSpPr txBox="1"/>
          <p:nvPr/>
        </p:nvSpPr>
        <p:spPr>
          <a:xfrm>
            <a:off x="8732520" y="4892040"/>
            <a:ext cx="2743200" cy="1005840"/>
          </a:xfrm>
          <a:prstGeom prst="rect">
            <a:avLst/>
          </a:prstGeom>
          <a:noFill/>
          <a:ln/>
        </p:spPr>
        <p:txBody>
          <a:bodyPr wrap="square" lIns="0" tIns="0" rIns="0" bIns="0" rtlCol="0" anchor="t"/>
          <a:lstStyle/>
          <a:p>
            <a:pPr indent="0" marL="0">
              <a:buNone/>
            </a:pPr>
            <a:r>
              <a:rPr lang="en-US" sz="1200" b="1" dirty="0">
                <a:solidFill>
                  <a:schemeClr val="accent1"/>
                </a:solidFill>
              </a:rPr>
              <a:t>Causa: títulos sin votos promediados como nota 0 y comparaciones que mezclaban películas con series.</a:t>
            </a:r>
            <a:endParaRPr lang="en-US" sz="1200" dirty="0"/>
          </a:p>
        </p:txBody>
      </p:sp>
      <p:sp>
        <p:nvSpPr>
          <p:cNvPr id="15" name="Text 11"/>
          <p:cNvSpPr txBox="1"/>
          <p:nvPr/>
        </p:nvSpPr>
        <p:spPr>
          <a:xfrm>
            <a:off x="548640" y="5532120"/>
            <a:ext cx="7589520" cy="640080"/>
          </a:xfrm>
          <a:prstGeom prst="rect">
            <a:avLst/>
          </a:prstGeom>
          <a:noFill/>
          <a:ln/>
        </p:spPr>
        <p:txBody>
          <a:bodyPr wrap="square" lIns="0" tIns="0" rIns="0" bIns="0" rtlCol="0" anchor="t"/>
          <a:lstStyle/>
          <a:p>
            <a:pPr indent="0" marL="0">
              <a:buNone/>
            </a:pPr>
            <a:r>
              <a:rPr lang="en-US" sz="1300" dirty="0">
                <a:solidFill>
                  <a:schemeClr val="tx1"/>
                </a:solidFill>
              </a:rPr>
              <a:t>Fortalezas: cifras verificadas y consistentes en todos los productos; hallazgos probados antes de comunicarlos; una vista por público.</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Lo que estos datos todavía no permiten decidir</a:t>
            </a:r>
            <a:endParaRPr lang="en-US" sz="3000" dirty="0"/>
          </a:p>
        </p:txBody>
      </p:sp>
      <p:sp>
        <p:nvSpPr>
          <p:cNvPr id="3" name="etiqueta"/>
          <p:cNvSpPr/>
          <p:nvPr/>
        </p:nvSpPr>
        <p:spPr>
          <a:xfrm>
            <a:off x="548640" y="347472"/>
            <a:ext cx="292608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292608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12 · LIMITACIONES Y MEJORAS</a:t>
            </a:r>
            <a:endParaRPr lang="en-US" sz="1000" dirty="0"/>
          </a:p>
        </p:txBody>
      </p:sp>
      <p:sp>
        <p:nvSpPr>
          <p:cNvPr id="5" name="Text 3"/>
          <p:cNvSpPr txBox="1"/>
          <p:nvPr/>
        </p:nvSpPr>
        <p:spPr>
          <a:xfrm>
            <a:off x="548640" y="1828800"/>
            <a:ext cx="6400800" cy="320040"/>
          </a:xfrm>
          <a:prstGeom prst="rect">
            <a:avLst/>
          </a:prstGeom>
          <a:noFill/>
          <a:ln/>
        </p:spPr>
        <p:txBody>
          <a:bodyPr wrap="square" lIns="0" tIns="0" rIns="0" bIns="0" rtlCol="0" anchor="t"/>
          <a:lstStyle/>
          <a:p>
            <a:pPr indent="0" marL="0">
              <a:buNone/>
            </a:pPr>
            <a:r>
              <a:rPr lang="en-US" sz="1200" b="1" dirty="0">
                <a:solidFill>
                  <a:schemeClr val="accent5"/>
                </a:solidFill>
              </a:rPr>
              <a:t>Limitación</a:t>
            </a:r>
            <a:endParaRPr lang="en-US" sz="1200" dirty="0"/>
          </a:p>
        </p:txBody>
      </p:sp>
      <p:sp>
        <p:nvSpPr>
          <p:cNvPr id="6" name="Text 4"/>
          <p:cNvSpPr txBox="1"/>
          <p:nvPr/>
        </p:nvSpPr>
        <p:spPr>
          <a:xfrm>
            <a:off x="8001000" y="1828800"/>
            <a:ext cx="3657600" cy="320040"/>
          </a:xfrm>
          <a:prstGeom prst="rect">
            <a:avLst/>
          </a:prstGeom>
          <a:noFill/>
          <a:ln/>
        </p:spPr>
        <p:txBody>
          <a:bodyPr wrap="square" lIns="0" tIns="0" rIns="0" bIns="0" rtlCol="0" anchor="t"/>
          <a:lstStyle/>
          <a:p>
            <a:pPr indent="0" marL="0">
              <a:buNone/>
            </a:pPr>
            <a:r>
              <a:rPr lang="en-US" sz="1200" b="1" dirty="0">
                <a:solidFill>
                  <a:schemeClr val="accent5"/>
                </a:solidFill>
              </a:rPr>
              <a:t>Mejora propuesta</a:t>
            </a:r>
            <a:endParaRPr lang="en-US" sz="1200" dirty="0"/>
          </a:p>
        </p:txBody>
      </p:sp>
      <p:sp>
        <p:nvSpPr>
          <p:cNvPr id="7" name="tarjeta"/>
          <p:cNvSpPr/>
          <p:nvPr/>
        </p:nvSpPr>
        <p:spPr>
          <a:xfrm>
            <a:off x="548640" y="2240280"/>
            <a:ext cx="7178040" cy="1005840"/>
          </a:xfrm>
          <a:prstGeom prst="roundRect">
            <a:avLst>
              <a:gd name="adj" fmla="val 5455"/>
            </a:avLst>
          </a:prstGeom>
          <a:solidFill>
            <a:schemeClr val="bg2"/>
          </a:solidFill>
          <a:ln w="12700">
            <a:solidFill>
              <a:schemeClr val="bg2"/>
            </a:solidFill>
            <a:prstDash val="solid"/>
          </a:ln>
        </p:spPr>
      </p:sp>
      <p:sp>
        <p:nvSpPr>
          <p:cNvPr id="8" name="Text 6"/>
          <p:cNvSpPr txBox="1"/>
          <p:nvPr/>
        </p:nvSpPr>
        <p:spPr>
          <a:xfrm>
            <a:off x="777240" y="2359152"/>
            <a:ext cx="6675120" cy="365760"/>
          </a:xfrm>
          <a:prstGeom prst="rect">
            <a:avLst/>
          </a:prstGeom>
          <a:noFill/>
          <a:ln/>
        </p:spPr>
        <p:txBody>
          <a:bodyPr wrap="square" lIns="0" tIns="0" rIns="0" bIns="0" rtlCol="0" anchor="t"/>
          <a:lstStyle/>
          <a:p>
            <a:pPr indent="0" marL="0">
              <a:buNone/>
            </a:pPr>
            <a:r>
              <a:rPr lang="en-US" sz="1700" b="1" dirty="0">
                <a:solidFill>
                  <a:schemeClr val="tx1"/>
                </a:solidFill>
              </a:rPr>
              <a:t>Retención</a:t>
            </a:r>
            <a:endParaRPr lang="en-US" sz="1700" dirty="0"/>
          </a:p>
        </p:txBody>
      </p:sp>
      <p:sp>
        <p:nvSpPr>
          <p:cNvPr id="9" name="Text 7"/>
          <p:cNvSpPr txBox="1"/>
          <p:nvPr/>
        </p:nvSpPr>
        <p:spPr>
          <a:xfrm>
            <a:off x="777240" y="2743200"/>
            <a:ext cx="6675120" cy="457200"/>
          </a:xfrm>
          <a:prstGeom prst="rect">
            <a:avLst/>
          </a:prstGeom>
          <a:noFill/>
          <a:ln/>
        </p:spPr>
        <p:txBody>
          <a:bodyPr wrap="square" lIns="0" tIns="0" rIns="0" bIns="0" rtlCol="0" anchor="t"/>
          <a:lstStyle/>
          <a:p>
            <a:pPr indent="0" marL="0">
              <a:buNone/>
            </a:pPr>
            <a:r>
              <a:rPr lang="en-US" sz="1300" dirty="0">
                <a:solidFill>
                  <a:schemeClr val="tx2"/>
                </a:solidFill>
              </a:rPr>
              <a:t>No hay reproducciones ni suscripciones: la retención no se puede medir.</a:t>
            </a:r>
            <a:endParaRPr lang="en-US" sz="1300" dirty="0"/>
          </a:p>
        </p:txBody>
      </p:sp>
      <p:sp>
        <p:nvSpPr>
          <p:cNvPr id="10" name="flecha"/>
          <p:cNvSpPr/>
          <p:nvPr/>
        </p:nvSpPr>
        <p:spPr>
          <a:xfrm>
            <a:off x="7772400" y="2587752"/>
            <a:ext cx="365760" cy="310896"/>
          </a:xfrm>
          <a:prstGeom prst="rightArrow">
            <a:avLst/>
          </a:prstGeom>
          <a:solidFill>
            <a:schemeClr val="accent4"/>
          </a:solidFill>
          <a:ln w="12700">
            <a:solidFill>
              <a:schemeClr val="accent4"/>
            </a:solidFill>
            <a:prstDash val="solid"/>
          </a:ln>
        </p:spPr>
      </p:sp>
      <p:sp>
        <p:nvSpPr>
          <p:cNvPr id="11" name="Text 9"/>
          <p:cNvSpPr txBox="1"/>
          <p:nvPr/>
        </p:nvSpPr>
        <p:spPr>
          <a:xfrm>
            <a:off x="8275320" y="2359152"/>
            <a:ext cx="3337560" cy="777240"/>
          </a:xfrm>
          <a:prstGeom prst="rect">
            <a:avLst/>
          </a:prstGeom>
          <a:noFill/>
          <a:ln/>
        </p:spPr>
        <p:txBody>
          <a:bodyPr wrap="square" lIns="0" tIns="0" rIns="0" bIns="0" rtlCol="0" anchor="ctr"/>
          <a:lstStyle/>
          <a:p>
            <a:pPr indent="0" marL="0">
              <a:buNone/>
            </a:pPr>
            <a:r>
              <a:rPr lang="en-US" sz="1500" b="1" dirty="0">
                <a:solidFill>
                  <a:schemeClr val="accent1"/>
                </a:solidFill>
              </a:rPr>
              <a:t>Integrar datos propios de consumo</a:t>
            </a:r>
            <a:endParaRPr lang="en-US" sz="1500" dirty="0"/>
          </a:p>
        </p:txBody>
      </p:sp>
      <p:sp>
        <p:nvSpPr>
          <p:cNvPr id="12" name="tarjeta"/>
          <p:cNvSpPr/>
          <p:nvPr/>
        </p:nvSpPr>
        <p:spPr>
          <a:xfrm>
            <a:off x="548640" y="3429000"/>
            <a:ext cx="7178040" cy="1005840"/>
          </a:xfrm>
          <a:prstGeom prst="roundRect">
            <a:avLst>
              <a:gd name="adj" fmla="val 5455"/>
            </a:avLst>
          </a:prstGeom>
          <a:solidFill>
            <a:schemeClr val="bg2"/>
          </a:solidFill>
          <a:ln w="12700">
            <a:solidFill>
              <a:schemeClr val="bg2"/>
            </a:solidFill>
            <a:prstDash val="solid"/>
          </a:ln>
        </p:spPr>
      </p:sp>
      <p:sp>
        <p:nvSpPr>
          <p:cNvPr id="13" name="Text 11"/>
          <p:cNvSpPr txBox="1"/>
          <p:nvPr/>
        </p:nvSpPr>
        <p:spPr>
          <a:xfrm>
            <a:off x="777240" y="3547872"/>
            <a:ext cx="6675120" cy="365760"/>
          </a:xfrm>
          <a:prstGeom prst="rect">
            <a:avLst/>
          </a:prstGeom>
          <a:noFill/>
          <a:ln/>
        </p:spPr>
        <p:txBody>
          <a:bodyPr wrap="square" lIns="0" tIns="0" rIns="0" bIns="0" rtlCol="0" anchor="t"/>
          <a:lstStyle/>
          <a:p>
            <a:pPr indent="0" marL="0">
              <a:buNone/>
            </a:pPr>
            <a:r>
              <a:rPr lang="en-US" sz="1700" b="1" dirty="0">
                <a:solidFill>
                  <a:schemeClr val="tx1"/>
                </a:solidFill>
              </a:rPr>
              <a:t>Calificación externa</a:t>
            </a:r>
            <a:endParaRPr lang="en-US" sz="1700" dirty="0"/>
          </a:p>
        </p:txBody>
      </p:sp>
      <p:sp>
        <p:nvSpPr>
          <p:cNvPr id="14" name="Text 12"/>
          <p:cNvSpPr txBox="1"/>
          <p:nvPr/>
        </p:nvSpPr>
        <p:spPr>
          <a:xfrm>
            <a:off x="777240" y="3931920"/>
            <a:ext cx="6675120" cy="457200"/>
          </a:xfrm>
          <a:prstGeom prst="rect">
            <a:avLst/>
          </a:prstGeom>
          <a:noFill/>
          <a:ln/>
        </p:spPr>
        <p:txBody>
          <a:bodyPr wrap="square" lIns="0" tIns="0" rIns="0" bIns="0" rtlCol="0" anchor="t"/>
          <a:lstStyle/>
          <a:p>
            <a:pPr indent="0" marL="0">
              <a:buNone/>
            </a:pPr>
            <a:r>
              <a:rPr lang="en-US" sz="1300" dirty="0">
                <a:solidFill>
                  <a:schemeClr val="tx2"/>
                </a:solidFill>
              </a:rPr>
              <a:t>Viene de usuarios de TMDB, no de suscriptores, y puede tener sesgo de autoselección.</a:t>
            </a:r>
            <a:endParaRPr lang="en-US" sz="1300" dirty="0"/>
          </a:p>
        </p:txBody>
      </p:sp>
      <p:sp>
        <p:nvSpPr>
          <p:cNvPr id="15" name="flecha"/>
          <p:cNvSpPr/>
          <p:nvPr/>
        </p:nvSpPr>
        <p:spPr>
          <a:xfrm>
            <a:off x="7772400" y="3776472"/>
            <a:ext cx="365760" cy="310896"/>
          </a:xfrm>
          <a:prstGeom prst="rightArrow">
            <a:avLst/>
          </a:prstGeom>
          <a:solidFill>
            <a:schemeClr val="accent4"/>
          </a:solidFill>
          <a:ln w="12700">
            <a:solidFill>
              <a:schemeClr val="accent4"/>
            </a:solidFill>
            <a:prstDash val="solid"/>
          </a:ln>
        </p:spPr>
      </p:sp>
      <p:sp>
        <p:nvSpPr>
          <p:cNvPr id="16" name="Text 14"/>
          <p:cNvSpPr txBox="1"/>
          <p:nvPr/>
        </p:nvSpPr>
        <p:spPr>
          <a:xfrm>
            <a:off x="8275320" y="3547872"/>
            <a:ext cx="3337560" cy="777240"/>
          </a:xfrm>
          <a:prstGeom prst="rect">
            <a:avLst/>
          </a:prstGeom>
          <a:noFill/>
          <a:ln/>
        </p:spPr>
        <p:txBody>
          <a:bodyPr wrap="square" lIns="0" tIns="0" rIns="0" bIns="0" rtlCol="0" anchor="ctr"/>
          <a:lstStyle/>
          <a:p>
            <a:pPr indent="0" marL="0">
              <a:buNone/>
            </a:pPr>
            <a:r>
              <a:rPr lang="en-US" sz="1500" b="1" dirty="0">
                <a:solidFill>
                  <a:schemeClr val="accent1"/>
                </a:solidFill>
              </a:rPr>
              <a:t>Medir satisfacción de suscriptores</a:t>
            </a:r>
            <a:endParaRPr lang="en-US" sz="1500" dirty="0"/>
          </a:p>
        </p:txBody>
      </p:sp>
      <p:sp>
        <p:nvSpPr>
          <p:cNvPr id="17" name="tarjeta"/>
          <p:cNvSpPr/>
          <p:nvPr/>
        </p:nvSpPr>
        <p:spPr>
          <a:xfrm>
            <a:off x="548640" y="4617720"/>
            <a:ext cx="7178040" cy="1005840"/>
          </a:xfrm>
          <a:prstGeom prst="roundRect">
            <a:avLst>
              <a:gd name="adj" fmla="val 5455"/>
            </a:avLst>
          </a:prstGeom>
          <a:solidFill>
            <a:schemeClr val="bg2"/>
          </a:solidFill>
          <a:ln w="12700">
            <a:solidFill>
              <a:schemeClr val="bg2"/>
            </a:solidFill>
            <a:prstDash val="solid"/>
          </a:ln>
        </p:spPr>
      </p:sp>
      <p:sp>
        <p:nvSpPr>
          <p:cNvPr id="18" name="Text 16"/>
          <p:cNvSpPr txBox="1"/>
          <p:nvPr/>
        </p:nvSpPr>
        <p:spPr>
          <a:xfrm>
            <a:off x="777240" y="4736592"/>
            <a:ext cx="6675120" cy="365760"/>
          </a:xfrm>
          <a:prstGeom prst="rect">
            <a:avLst/>
          </a:prstGeom>
          <a:noFill/>
          <a:ln/>
        </p:spPr>
        <p:txBody>
          <a:bodyPr wrap="square" lIns="0" tIns="0" rIns="0" bIns="0" rtlCol="0" anchor="t"/>
          <a:lstStyle/>
          <a:p>
            <a:pPr indent="0" marL="0">
              <a:buNone/>
            </a:pPr>
            <a:r>
              <a:rPr lang="en-US" sz="1700" b="1" dirty="0">
                <a:solidFill>
                  <a:schemeClr val="tx1"/>
                </a:solidFill>
              </a:rPr>
              <a:t>Finanzas parciales</a:t>
            </a:r>
            <a:endParaRPr lang="en-US" sz="1700" dirty="0"/>
          </a:p>
        </p:txBody>
      </p:sp>
      <p:sp>
        <p:nvSpPr>
          <p:cNvPr id="19" name="Text 17"/>
          <p:cNvSpPr txBox="1"/>
          <p:nvPr/>
        </p:nvSpPr>
        <p:spPr>
          <a:xfrm>
            <a:off x="777240" y="5120640"/>
            <a:ext cx="6675120" cy="457200"/>
          </a:xfrm>
          <a:prstGeom prst="rect">
            <a:avLst/>
          </a:prstGeom>
          <a:noFill/>
          <a:ln/>
        </p:spPr>
        <p:txBody>
          <a:bodyPr wrap="square" lIns="0" tIns="0" rIns="0" bIns="0" rtlCol="0" anchor="t"/>
          <a:lstStyle/>
          <a:p>
            <a:pPr indent="0" marL="0">
              <a:buNone/>
            </a:pPr>
            <a:r>
              <a:rPr lang="en-US" sz="1300" dirty="0">
                <a:solidFill>
                  <a:schemeClr val="tx2"/>
                </a:solidFill>
              </a:rPr>
              <a:t>Solo el 22% de las películas tiene presupuesto y taquilla confiables.</a:t>
            </a:r>
            <a:endParaRPr lang="en-US" sz="1300" dirty="0"/>
          </a:p>
        </p:txBody>
      </p:sp>
      <p:sp>
        <p:nvSpPr>
          <p:cNvPr id="20" name="flecha"/>
          <p:cNvSpPr/>
          <p:nvPr/>
        </p:nvSpPr>
        <p:spPr>
          <a:xfrm>
            <a:off x="7772400" y="4965192"/>
            <a:ext cx="365760" cy="310896"/>
          </a:xfrm>
          <a:prstGeom prst="rightArrow">
            <a:avLst/>
          </a:prstGeom>
          <a:solidFill>
            <a:schemeClr val="accent4"/>
          </a:solidFill>
          <a:ln w="12700">
            <a:solidFill>
              <a:schemeClr val="accent4"/>
            </a:solidFill>
            <a:prstDash val="solid"/>
          </a:ln>
        </p:spPr>
      </p:sp>
      <p:sp>
        <p:nvSpPr>
          <p:cNvPr id="21" name="Text 19"/>
          <p:cNvSpPr txBox="1"/>
          <p:nvPr/>
        </p:nvSpPr>
        <p:spPr>
          <a:xfrm>
            <a:off x="8275320" y="4736592"/>
            <a:ext cx="3337560" cy="777240"/>
          </a:xfrm>
          <a:prstGeom prst="rect">
            <a:avLst/>
          </a:prstGeom>
          <a:noFill/>
          <a:ln/>
        </p:spPr>
        <p:txBody>
          <a:bodyPr wrap="square" lIns="0" tIns="0" rIns="0" bIns="0" rtlCol="0" anchor="ctr"/>
          <a:lstStyle/>
          <a:p>
            <a:pPr indent="0" marL="0">
              <a:buNone/>
            </a:pPr>
            <a:r>
              <a:rPr lang="en-US" sz="1500" b="1" dirty="0">
                <a:solidFill>
                  <a:schemeClr val="accent1"/>
                </a:solidFill>
              </a:rPr>
              <a:t>Completar datos financieros antes de decidir por rentabilidad</a:t>
            </a:r>
            <a:endParaRPr lang="en-US" sz="1500" dirty="0"/>
          </a:p>
        </p:txBody>
      </p:sp>
      <p:sp>
        <p:nvSpPr>
          <p:cNvPr id="22" name="Text 20"/>
          <p:cNvSpPr txBox="1"/>
          <p:nvPr/>
        </p:nvSpPr>
        <p:spPr>
          <a:xfrm>
            <a:off x="548640" y="5852160"/>
            <a:ext cx="11094415" cy="411480"/>
          </a:xfrm>
          <a:prstGeom prst="rect">
            <a:avLst/>
          </a:prstGeom>
          <a:noFill/>
          <a:ln/>
        </p:spPr>
        <p:txBody>
          <a:bodyPr wrap="square" lIns="0" tIns="0" rIns="0" bIns="0" rtlCol="0" anchor="t"/>
          <a:lstStyle/>
          <a:p>
            <a:pPr indent="0" marL="0">
              <a:buNone/>
            </a:pPr>
            <a:r>
              <a:rPr lang="en-US" sz="1300" i="1" dirty="0">
                <a:solidFill>
                  <a:schemeClr val="tx2"/>
                </a:solidFill>
              </a:rPr>
              <a:t>Además: el catálogo es una muestra curada (1.000 películas y 1.000 series por año) y queda pendiente analizar directores y actores.</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Seis productos exportados, consistentes y listos para publicar</a:t>
            </a:r>
            <a:endParaRPr lang="en-US" sz="3000" dirty="0"/>
          </a:p>
        </p:txBody>
      </p:sp>
      <p:sp>
        <p:nvSpPr>
          <p:cNvPr id="3" name="etiqueta"/>
          <p:cNvSpPr/>
          <p:nvPr/>
        </p:nvSpPr>
        <p:spPr>
          <a:xfrm>
            <a:off x="548640" y="347472"/>
            <a:ext cx="173736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73736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13 · PRODUCTOS</a:t>
            </a:r>
            <a:endParaRPr lang="en-US" sz="1000" dirty="0"/>
          </a:p>
        </p:txBody>
      </p:sp>
      <p:pic>
        <p:nvPicPr>
          <p:cNvPr id="5" name="mini_informe" descr="/tmp/claude-0/-home-claude/066c80a2-ccb3-5304-a38f-3a9c669163d1/scratchpad/sv/deck/assets/informe_p-01.png">    </p:cNvPr>
          <p:cNvPicPr>
            <a:picLocks noChangeAspect="1"/>
          </p:cNvPicPr>
          <p:nvPr/>
        </p:nvPicPr>
        <p:blipFill>
          <a:blip r:embed="rId1"/>
          <a:stretch>
            <a:fillRect/>
          </a:stretch>
        </p:blipFill>
        <p:spPr>
          <a:xfrm>
            <a:off x="548640" y="1874520"/>
            <a:ext cx="1417320" cy="2002536"/>
          </a:xfrm>
          <a:prstGeom prst="rect">
            <a:avLst/>
          </a:prstGeom>
        </p:spPr>
      </p:pic>
      <p:pic>
        <p:nvPicPr>
          <p:cNvPr id="6" name="mini_infografia" descr="/tmp/claude-0/-home-claude/066c80a2-ccb3-5304-a38f-3a9c669163d1/scratchpad/sv/deck/assets/infografia.png">    </p:cNvPr>
          <p:cNvPicPr>
            <a:picLocks noChangeAspect="1"/>
          </p:cNvPicPr>
          <p:nvPr/>
        </p:nvPicPr>
        <p:blipFill>
          <a:blip r:embed="rId2"/>
          <a:stretch>
            <a:fillRect/>
          </a:stretch>
        </p:blipFill>
        <p:spPr>
          <a:xfrm>
            <a:off x="2103120" y="1874520"/>
            <a:ext cx="1417320" cy="2002536"/>
          </a:xfrm>
          <a:prstGeom prst="rect">
            <a:avLst/>
          </a:prstGeom>
        </p:spPr>
      </p:pic>
      <p:pic>
        <p:nvPicPr>
          <p:cNvPr id="7" name="mini_informe_hallazgos" descr="/tmp/claude-0/-home-claude/066c80a2-ccb3-5304-a38f-3a9c669163d1/scratchpad/sv/deck/assets/informe_p-06.png">    </p:cNvPr>
          <p:cNvPicPr>
            <a:picLocks noChangeAspect="1"/>
          </p:cNvPicPr>
          <p:nvPr/>
        </p:nvPicPr>
        <p:blipFill>
          <a:blip r:embed="rId3"/>
          <a:stretch>
            <a:fillRect/>
          </a:stretch>
        </p:blipFill>
        <p:spPr>
          <a:xfrm>
            <a:off x="3657600" y="1874520"/>
            <a:ext cx="1417320" cy="2002536"/>
          </a:xfrm>
          <a:prstGeom prst="rect">
            <a:avLst/>
          </a:prstGeom>
        </p:spPr>
      </p:pic>
      <p:sp>
        <p:nvSpPr>
          <p:cNvPr id="8" name="Text 3"/>
          <p:cNvSpPr txBox="1"/>
          <p:nvPr/>
        </p:nvSpPr>
        <p:spPr>
          <a:xfrm>
            <a:off x="5486400" y="1874520"/>
            <a:ext cx="2926080" cy="347472"/>
          </a:xfrm>
          <a:prstGeom prst="rect">
            <a:avLst/>
          </a:prstGeom>
          <a:noFill/>
          <a:ln/>
        </p:spPr>
        <p:txBody>
          <a:bodyPr wrap="square" lIns="0" tIns="0" rIns="0" bIns="0" rtlCol="0" anchor="t"/>
          <a:lstStyle/>
          <a:p>
            <a:pPr indent="0" marL="0">
              <a:buNone/>
            </a:pPr>
            <a:r>
              <a:rPr lang="en-US" sz="1500" b="1" dirty="0">
                <a:solidFill>
                  <a:schemeClr val="tx1"/>
                </a:solidFill>
              </a:rPr>
              <a:t>Informe ejecutivo</a:t>
            </a:r>
            <a:endParaRPr lang="en-US" sz="1500" dirty="0"/>
          </a:p>
        </p:txBody>
      </p:sp>
      <p:sp>
        <p:nvSpPr>
          <p:cNvPr id="9" name="Text 4"/>
          <p:cNvSpPr txBox="1"/>
          <p:nvPr/>
        </p:nvSpPr>
        <p:spPr>
          <a:xfrm>
            <a:off x="5486400" y="2221992"/>
            <a:ext cx="2926080" cy="640080"/>
          </a:xfrm>
          <a:prstGeom prst="rect">
            <a:avLst/>
          </a:prstGeom>
          <a:noFill/>
          <a:ln/>
        </p:spPr>
        <p:txBody>
          <a:bodyPr wrap="square" lIns="0" tIns="0" rIns="0" bIns="0" rtlCol="0" anchor="t"/>
          <a:lstStyle/>
          <a:p>
            <a:pPr indent="0" marL="0">
              <a:buNone/>
            </a:pPr>
            <a:r>
              <a:rPr lang="en-US" sz="1200" dirty="0">
                <a:solidFill>
                  <a:schemeClr val="tx2"/>
                </a:solidFill>
              </a:rPr>
              <a:t>PDF A4, 21 páginas, con resumen ejecutivo y anexos</a:t>
            </a:r>
            <a:endParaRPr lang="en-US" sz="1200" dirty="0"/>
          </a:p>
        </p:txBody>
      </p:sp>
      <p:sp>
        <p:nvSpPr>
          <p:cNvPr id="10" name="Text 5"/>
          <p:cNvSpPr txBox="1"/>
          <p:nvPr/>
        </p:nvSpPr>
        <p:spPr>
          <a:xfrm>
            <a:off x="8595360" y="1874520"/>
            <a:ext cx="2926080" cy="347472"/>
          </a:xfrm>
          <a:prstGeom prst="rect">
            <a:avLst/>
          </a:prstGeom>
          <a:noFill/>
          <a:ln/>
        </p:spPr>
        <p:txBody>
          <a:bodyPr wrap="square" lIns="0" tIns="0" rIns="0" bIns="0" rtlCol="0" anchor="t"/>
          <a:lstStyle/>
          <a:p>
            <a:pPr indent="0" marL="0">
              <a:buNone/>
            </a:pPr>
            <a:r>
              <a:rPr lang="en-US" sz="1500" b="1" dirty="0">
                <a:solidFill>
                  <a:schemeClr val="tx1"/>
                </a:solidFill>
              </a:rPr>
              <a:t>Infografía</a:t>
            </a:r>
            <a:endParaRPr lang="en-US" sz="1500" dirty="0"/>
          </a:p>
        </p:txBody>
      </p:sp>
      <p:sp>
        <p:nvSpPr>
          <p:cNvPr id="11" name="Text 6"/>
          <p:cNvSpPr txBox="1"/>
          <p:nvPr/>
        </p:nvSpPr>
        <p:spPr>
          <a:xfrm>
            <a:off x="8595360" y="2221992"/>
            <a:ext cx="2926080" cy="640080"/>
          </a:xfrm>
          <a:prstGeom prst="rect">
            <a:avLst/>
          </a:prstGeom>
          <a:noFill/>
          <a:ln/>
        </p:spPr>
        <p:txBody>
          <a:bodyPr wrap="square" lIns="0" tIns="0" rIns="0" bIns="0" rtlCol="0" anchor="t"/>
          <a:lstStyle/>
          <a:p>
            <a:pPr indent="0" marL="0">
              <a:buNone/>
            </a:pPr>
            <a:r>
              <a:rPr lang="en-US" sz="1200" dirty="0">
                <a:solidFill>
                  <a:schemeClr val="tx2"/>
                </a:solidFill>
              </a:rPr>
              <a:t>PDF vectorial y PNG A4 a 200 dpi para impresión y web</a:t>
            </a:r>
            <a:endParaRPr lang="en-US" sz="1200" dirty="0"/>
          </a:p>
        </p:txBody>
      </p:sp>
      <p:sp>
        <p:nvSpPr>
          <p:cNvPr id="12" name="Text 7"/>
          <p:cNvSpPr txBox="1"/>
          <p:nvPr/>
        </p:nvSpPr>
        <p:spPr>
          <a:xfrm>
            <a:off x="5486400" y="2926080"/>
            <a:ext cx="2926080" cy="347472"/>
          </a:xfrm>
          <a:prstGeom prst="rect">
            <a:avLst/>
          </a:prstGeom>
          <a:noFill/>
          <a:ln/>
        </p:spPr>
        <p:txBody>
          <a:bodyPr wrap="square" lIns="0" tIns="0" rIns="0" bIns="0" rtlCol="0" anchor="t"/>
          <a:lstStyle/>
          <a:p>
            <a:pPr indent="0" marL="0">
              <a:buNone/>
            </a:pPr>
            <a:r>
              <a:rPr lang="en-US" sz="1500" b="1" dirty="0">
                <a:solidFill>
                  <a:schemeClr val="tx1"/>
                </a:solidFill>
              </a:rPr>
              <a:t>Dashboard</a:t>
            </a:r>
            <a:endParaRPr lang="en-US" sz="1500" dirty="0"/>
          </a:p>
        </p:txBody>
      </p:sp>
      <p:sp>
        <p:nvSpPr>
          <p:cNvPr id="13" name="Text 8"/>
          <p:cNvSpPr txBox="1"/>
          <p:nvPr/>
        </p:nvSpPr>
        <p:spPr>
          <a:xfrm>
            <a:off x="5486400" y="3273552"/>
            <a:ext cx="2926080" cy="640080"/>
          </a:xfrm>
          <a:prstGeom prst="rect">
            <a:avLst/>
          </a:prstGeom>
          <a:noFill/>
          <a:ln/>
        </p:spPr>
        <p:txBody>
          <a:bodyPr wrap="square" lIns="0" tIns="0" rIns="0" bIns="0" rtlCol="0" anchor="t"/>
          <a:lstStyle/>
          <a:p>
            <a:pPr indent="0" marL="0">
              <a:buNone/>
            </a:pPr>
            <a:r>
              <a:rPr lang="en-US" sz="1200" dirty="0">
                <a:solidFill>
                  <a:schemeClr val="tx2"/>
                </a:solidFill>
              </a:rPr>
              <a:t>Streamlit; se ejecuta con un comando y requirements.txt</a:t>
            </a:r>
            <a:endParaRPr lang="en-US" sz="1200" dirty="0"/>
          </a:p>
        </p:txBody>
      </p:sp>
      <p:sp>
        <p:nvSpPr>
          <p:cNvPr id="14" name="Text 9"/>
          <p:cNvSpPr txBox="1"/>
          <p:nvPr/>
        </p:nvSpPr>
        <p:spPr>
          <a:xfrm>
            <a:off x="8595360" y="2926080"/>
            <a:ext cx="2926080" cy="347472"/>
          </a:xfrm>
          <a:prstGeom prst="rect">
            <a:avLst/>
          </a:prstGeom>
          <a:noFill/>
          <a:ln/>
        </p:spPr>
        <p:txBody>
          <a:bodyPr wrap="square" lIns="0" tIns="0" rIns="0" bIns="0" rtlCol="0" anchor="t"/>
          <a:lstStyle/>
          <a:p>
            <a:pPr indent="0" marL="0">
              <a:buNone/>
            </a:pPr>
            <a:r>
              <a:rPr lang="en-US" sz="1500" b="1" dirty="0">
                <a:solidFill>
                  <a:schemeClr val="tx1"/>
                </a:solidFill>
              </a:rPr>
              <a:t>Notebook</a:t>
            </a:r>
            <a:endParaRPr lang="en-US" sz="1500" dirty="0"/>
          </a:p>
        </p:txBody>
      </p:sp>
      <p:sp>
        <p:nvSpPr>
          <p:cNvPr id="15" name="Text 10"/>
          <p:cNvSpPr txBox="1"/>
          <p:nvPr/>
        </p:nvSpPr>
        <p:spPr>
          <a:xfrm>
            <a:off x="8595360" y="3273552"/>
            <a:ext cx="2926080" cy="640080"/>
          </a:xfrm>
          <a:prstGeom prst="rect">
            <a:avLst/>
          </a:prstGeom>
          <a:noFill/>
          <a:ln/>
        </p:spPr>
        <p:txBody>
          <a:bodyPr wrap="square" lIns="0" tIns="0" rIns="0" bIns="0" rtlCol="0" anchor="t"/>
          <a:lstStyle/>
          <a:p>
            <a:pPr indent="0" marL="0">
              <a:buNone/>
            </a:pPr>
            <a:r>
              <a:rPr lang="en-US" sz="1200" dirty="0">
                <a:solidFill>
                  <a:schemeClr val="tx2"/>
                </a:solidFill>
              </a:rPr>
              <a:t>Se ejecuta de punta a punta sin errores y regenera 17 gráficos</a:t>
            </a:r>
            <a:endParaRPr lang="en-US" sz="1200" dirty="0"/>
          </a:p>
        </p:txBody>
      </p:sp>
      <p:sp>
        <p:nvSpPr>
          <p:cNvPr id="16" name="Text 11"/>
          <p:cNvSpPr txBox="1"/>
          <p:nvPr/>
        </p:nvSpPr>
        <p:spPr>
          <a:xfrm>
            <a:off x="5486400" y="3977640"/>
            <a:ext cx="2926080" cy="347472"/>
          </a:xfrm>
          <a:prstGeom prst="rect">
            <a:avLst/>
          </a:prstGeom>
          <a:noFill/>
          <a:ln/>
        </p:spPr>
        <p:txBody>
          <a:bodyPr wrap="square" lIns="0" tIns="0" rIns="0" bIns="0" rtlCol="0" anchor="t"/>
          <a:lstStyle/>
          <a:p>
            <a:pPr indent="0" marL="0">
              <a:buNone/>
            </a:pPr>
            <a:r>
              <a:rPr lang="en-US" sz="1500" b="1" dirty="0">
                <a:solidFill>
                  <a:schemeClr val="tx1"/>
                </a:solidFill>
              </a:rPr>
              <a:t>Repositorio</a:t>
            </a:r>
            <a:endParaRPr lang="en-US" sz="1500" dirty="0"/>
          </a:p>
        </p:txBody>
      </p:sp>
      <p:sp>
        <p:nvSpPr>
          <p:cNvPr id="17" name="Text 12"/>
          <p:cNvSpPr txBox="1"/>
          <p:nvPr/>
        </p:nvSpPr>
        <p:spPr>
          <a:xfrm>
            <a:off x="5486400" y="4325112"/>
            <a:ext cx="2926080" cy="640080"/>
          </a:xfrm>
          <a:prstGeom prst="rect">
            <a:avLst/>
          </a:prstGeom>
          <a:noFill/>
          <a:ln/>
        </p:spPr>
        <p:txBody>
          <a:bodyPr wrap="square" lIns="0" tIns="0" rIns="0" bIns="0" rtlCol="0" anchor="t"/>
          <a:lstStyle/>
          <a:p>
            <a:pPr indent="0" marL="0">
              <a:buNone/>
            </a:pPr>
            <a:r>
              <a:rPr lang="en-US" sz="1200" dirty="0">
                <a:solidFill>
                  <a:schemeClr val="tx2"/>
                </a:solidFill>
              </a:rPr>
              <a:t>CSV originales y carpetas ordenadas para reproducir todo</a:t>
            </a:r>
            <a:endParaRPr lang="en-US" sz="1200" dirty="0"/>
          </a:p>
        </p:txBody>
      </p:sp>
      <p:sp>
        <p:nvSpPr>
          <p:cNvPr id="18" name="Text 13"/>
          <p:cNvSpPr txBox="1"/>
          <p:nvPr/>
        </p:nvSpPr>
        <p:spPr>
          <a:xfrm>
            <a:off x="8595360" y="3977640"/>
            <a:ext cx="2926080" cy="347472"/>
          </a:xfrm>
          <a:prstGeom prst="rect">
            <a:avLst/>
          </a:prstGeom>
          <a:noFill/>
          <a:ln/>
        </p:spPr>
        <p:txBody>
          <a:bodyPr wrap="square" lIns="0" tIns="0" rIns="0" bIns="0" rtlCol="0" anchor="t"/>
          <a:lstStyle/>
          <a:p>
            <a:pPr indent="0" marL="0">
              <a:buNone/>
            </a:pPr>
            <a:r>
              <a:rPr lang="en-US" sz="1500" b="1" dirty="0">
                <a:solidFill>
                  <a:schemeClr val="tx1"/>
                </a:solidFill>
              </a:rPr>
              <a:t>Presentación</a:t>
            </a:r>
            <a:endParaRPr lang="en-US" sz="1500" dirty="0"/>
          </a:p>
        </p:txBody>
      </p:sp>
      <p:sp>
        <p:nvSpPr>
          <p:cNvPr id="19" name="Text 14"/>
          <p:cNvSpPr txBox="1"/>
          <p:nvPr/>
        </p:nvSpPr>
        <p:spPr>
          <a:xfrm>
            <a:off x="8595360" y="4325112"/>
            <a:ext cx="2926080" cy="640080"/>
          </a:xfrm>
          <a:prstGeom prst="rect">
            <a:avLst/>
          </a:prstGeom>
          <a:noFill/>
          <a:ln/>
        </p:spPr>
        <p:txBody>
          <a:bodyPr wrap="square" lIns="0" tIns="0" rIns="0" bIns="0" rtlCol="0" anchor="t"/>
          <a:lstStyle/>
          <a:p>
            <a:pPr indent="0" marL="0">
              <a:buNone/>
            </a:pPr>
            <a:r>
              <a:rPr lang="en-US" sz="1200" dirty="0">
                <a:solidFill>
                  <a:schemeClr val="tx2"/>
                </a:solidFill>
              </a:rPr>
              <a:t>PowerPoint editable con notas del orador y PDF</a:t>
            </a:r>
            <a:endParaRPr lang="en-US" sz="1200" dirty="0"/>
          </a:p>
        </p:txBody>
      </p:sp>
      <p:sp>
        <p:nvSpPr>
          <p:cNvPr id="20" name="Text 15"/>
          <p:cNvSpPr txBox="1"/>
          <p:nvPr/>
        </p:nvSpPr>
        <p:spPr>
          <a:xfrm>
            <a:off x="548640" y="4160520"/>
            <a:ext cx="4572000" cy="320040"/>
          </a:xfrm>
          <a:prstGeom prst="rect">
            <a:avLst/>
          </a:prstGeom>
          <a:noFill/>
          <a:ln/>
        </p:spPr>
        <p:txBody>
          <a:bodyPr wrap="square" lIns="0" tIns="0" rIns="0" bIns="0" rtlCol="0" anchor="t"/>
          <a:lstStyle/>
          <a:p>
            <a:pPr indent="0" marL="0">
              <a:buNone/>
            </a:pPr>
            <a:r>
              <a:rPr lang="en-US" sz="1500" b="1" dirty="0">
                <a:solidFill>
                  <a:schemeClr val="tx1"/>
                </a:solidFill>
              </a:rPr>
              <a:t>Criterios de calidad</a:t>
            </a:r>
            <a:endParaRPr lang="en-US" sz="1500" dirty="0"/>
          </a:p>
        </p:txBody>
      </p:sp>
      <p:sp>
        <p:nvSpPr>
          <p:cNvPr id="21" name="Text 16"/>
          <p:cNvSpPr txBox="1"/>
          <p:nvPr/>
        </p:nvSpPr>
        <p:spPr>
          <a:xfrm>
            <a:off x="548640" y="4526280"/>
            <a:ext cx="475488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Mismas cifras en todos los productos: salen del mismo código y de los CSV originales</a:t>
            </a:r>
            <a:endParaRPr lang="en-US" sz="1200" dirty="0"/>
          </a:p>
          <a:p>
            <a:pPr marL="342900" indent="-342900">
              <a:spcAft>
                <a:spcPts val="400"/>
              </a:spcAft>
              <a:buSzPct val="100000"/>
              <a:buChar char="•"/>
            </a:pPr>
            <a:r>
              <a:rPr lang="en-US" sz="1200" dirty="0">
                <a:solidFill>
                  <a:schemeClr val="tx2"/>
                </a:solidFill>
              </a:rPr>
              <a:t>Misma paleta en todo el proyecto: azul película, naranjo serie, verde para el mensaje, gris para el contexto</a:t>
            </a:r>
            <a:endParaRPr lang="en-US" sz="1200" dirty="0"/>
          </a:p>
          <a:p>
            <a:pPr marL="342900" indent="-342900">
              <a:spcAft>
                <a:spcPts val="400"/>
              </a:spcAft>
              <a:buSzPct val="100000"/>
              <a:buChar char="•"/>
            </a:pPr>
            <a:r>
              <a:rPr lang="en-US" sz="1200" dirty="0">
                <a:solidFill>
                  <a:schemeClr val="tx2"/>
                </a:solidFill>
              </a:rPr>
              <a:t>Fuente, período y alcance declarados en cada pieza; cifras en formato chileno (1.234,5)</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188720"/>
            <a:ext cx="9144000" cy="365760"/>
          </a:xfrm>
          <a:prstGeom prst="rect">
            <a:avLst/>
          </a:prstGeom>
          <a:noFill/>
          <a:ln/>
        </p:spPr>
        <p:txBody>
          <a:bodyPr wrap="square" lIns="0" tIns="0" rIns="0" bIns="0" rtlCol="0" anchor="ctr"/>
          <a:lstStyle/>
          <a:p>
            <a:pPr indent="0" marL="0">
              <a:buNone/>
            </a:pPr>
            <a:r>
              <a:rPr lang="en-US" sz="1300" b="1" spc="200" kern="0" dirty="0">
                <a:solidFill>
                  <a:schemeClr val="accent6"/>
                </a:solidFill>
              </a:rPr>
              <a:t>LA DECISIÓN QUE PROPONEMOS</a:t>
            </a:r>
            <a:endParaRPr lang="en-US" sz="1300" dirty="0"/>
          </a:p>
        </p:txBody>
      </p:sp>
      <p:sp>
        <p:nvSpPr>
          <p:cNvPr id="3" name="Text 1"/>
          <p:cNvSpPr txBox="1"/>
          <p:nvPr/>
        </p:nvSpPr>
        <p:spPr>
          <a:xfrm>
            <a:off x="548640" y="1737360"/>
            <a:ext cx="10607040" cy="2011680"/>
          </a:xfrm>
          <a:prstGeom prst="rect">
            <a:avLst/>
          </a:prstGeom>
          <a:noFill/>
          <a:ln/>
        </p:spPr>
        <p:txBody>
          <a:bodyPr wrap="square" lIns="0" tIns="0" rIns="0" bIns="0" rtlCol="0" anchor="t"/>
          <a:lstStyle/>
          <a:p>
            <a:pPr indent="0" marL="0">
              <a:buNone/>
            </a:pPr>
            <a:r>
              <a:rPr lang="en-US" sz="3600" b="1" dirty="0">
                <a:solidFill>
                  <a:schemeClr val="bg1"/>
                </a:solidFill>
              </a:rPr>
              <a:t>Priorizar películas de Japón, Corea del Sur y México en el próximo ciclo de adquisición, y darles visibilidad</a:t>
            </a:r>
            <a:endParaRPr lang="en-US" sz="3600" dirty="0"/>
          </a:p>
        </p:txBody>
      </p:sp>
      <p:sp>
        <p:nvSpPr>
          <p:cNvPr id="4" name="Text 2"/>
          <p:cNvSpPr txBox="1"/>
          <p:nvPr/>
        </p:nvSpPr>
        <p:spPr>
          <a:xfrm>
            <a:off x="548640" y="4160520"/>
            <a:ext cx="3474720" cy="731520"/>
          </a:xfrm>
          <a:prstGeom prst="rect">
            <a:avLst/>
          </a:prstGeom>
          <a:noFill/>
          <a:ln/>
        </p:spPr>
        <p:txBody>
          <a:bodyPr wrap="square" lIns="0" tIns="0" rIns="0" bIns="0" rtlCol="0" anchor="ctr"/>
          <a:lstStyle/>
          <a:p>
            <a:pPr indent="0" marL="0">
              <a:buNone/>
            </a:pPr>
            <a:r>
              <a:rPr lang="en-US" sz="3400" b="1" dirty="0">
                <a:solidFill>
                  <a:schemeClr val="accent6"/>
                </a:solidFill>
              </a:rPr>
              <a:t>5 de cada 10</a:t>
            </a:r>
            <a:endParaRPr lang="en-US" sz="3400" dirty="0"/>
          </a:p>
        </p:txBody>
      </p:sp>
      <p:sp>
        <p:nvSpPr>
          <p:cNvPr id="5" name="Text 3"/>
          <p:cNvSpPr txBox="1"/>
          <p:nvPr/>
        </p:nvSpPr>
        <p:spPr>
          <a:xfrm>
            <a:off x="548640" y="4892040"/>
            <a:ext cx="3474720" cy="548640"/>
          </a:xfrm>
          <a:prstGeom prst="rect">
            <a:avLst/>
          </a:prstGeom>
          <a:noFill/>
          <a:ln/>
        </p:spPr>
        <p:txBody>
          <a:bodyPr wrap="square" lIns="0" tIns="0" rIns="0" bIns="0" rtlCol="0" anchor="ctr"/>
          <a:lstStyle/>
          <a:p>
            <a:pPr indent="0" marL="0">
              <a:buNone/>
            </a:pPr>
            <a:r>
              <a:rPr lang="en-US" sz="1500" dirty="0">
                <a:solidFill>
                  <a:schemeClr val="accent4"/>
                </a:solidFill>
              </a:rPr>
              <a:t>de sus películas están bien evaluadas</a:t>
            </a:r>
            <a:endParaRPr lang="en-US" sz="1500" dirty="0"/>
          </a:p>
        </p:txBody>
      </p:sp>
      <p:sp>
        <p:nvSpPr>
          <p:cNvPr id="6" name="Text 4"/>
          <p:cNvSpPr txBox="1"/>
          <p:nvPr/>
        </p:nvSpPr>
        <p:spPr>
          <a:xfrm>
            <a:off x="4297680" y="4160520"/>
            <a:ext cx="3474720" cy="731520"/>
          </a:xfrm>
          <a:prstGeom prst="rect">
            <a:avLst/>
          </a:prstGeom>
          <a:noFill/>
          <a:ln/>
        </p:spPr>
        <p:txBody>
          <a:bodyPr wrap="square" lIns="0" tIns="0" rIns="0" bIns="0" rtlCol="0" anchor="ctr"/>
          <a:lstStyle/>
          <a:p>
            <a:pPr indent="0" marL="0">
              <a:buNone/>
            </a:pPr>
            <a:r>
              <a:rPr lang="en-US" sz="3400" b="1" dirty="0">
                <a:solidFill>
                  <a:schemeClr val="accent4"/>
                </a:solidFill>
              </a:rPr>
              <a:t>2 de cada 10</a:t>
            </a:r>
            <a:endParaRPr lang="en-US" sz="3400" dirty="0"/>
          </a:p>
        </p:txBody>
      </p:sp>
      <p:sp>
        <p:nvSpPr>
          <p:cNvPr id="7" name="Text 5"/>
          <p:cNvSpPr txBox="1"/>
          <p:nvPr/>
        </p:nvSpPr>
        <p:spPr>
          <a:xfrm>
            <a:off x="4297680" y="4892040"/>
            <a:ext cx="3474720" cy="548640"/>
          </a:xfrm>
          <a:prstGeom prst="rect">
            <a:avLst/>
          </a:prstGeom>
          <a:noFill/>
          <a:ln/>
        </p:spPr>
        <p:txBody>
          <a:bodyPr wrap="square" lIns="0" tIns="0" rIns="0" bIns="0" rtlCol="0" anchor="ctr"/>
          <a:lstStyle/>
          <a:p>
            <a:pPr indent="0" marL="0">
              <a:buNone/>
            </a:pPr>
            <a:r>
              <a:rPr lang="en-US" sz="1500" dirty="0">
                <a:solidFill>
                  <a:schemeClr val="accent4"/>
                </a:solidFill>
              </a:rPr>
              <a:t>en EE.UU., casi la mitad de las películas</a:t>
            </a:r>
            <a:endParaRPr lang="en-US" sz="1500" dirty="0"/>
          </a:p>
        </p:txBody>
      </p:sp>
      <p:sp>
        <p:nvSpPr>
          <p:cNvPr id="8" name="Text 6"/>
          <p:cNvSpPr txBox="1"/>
          <p:nvPr/>
        </p:nvSpPr>
        <p:spPr>
          <a:xfrm>
            <a:off x="8046720" y="4160520"/>
            <a:ext cx="3474720" cy="731520"/>
          </a:xfrm>
          <a:prstGeom prst="rect">
            <a:avLst/>
          </a:prstGeom>
          <a:noFill/>
          <a:ln/>
        </p:spPr>
        <p:txBody>
          <a:bodyPr wrap="square" lIns="0" tIns="0" rIns="0" bIns="0" rtlCol="0" anchor="ctr"/>
          <a:lstStyle/>
          <a:p>
            <a:pPr indent="0" marL="0">
              <a:buNone/>
            </a:pPr>
            <a:r>
              <a:rPr lang="en-US" sz="3400" b="1" dirty="0">
                <a:solidFill>
                  <a:schemeClr val="accent6"/>
                </a:solidFill>
              </a:rPr>
              <a:t>13%</a:t>
            </a:r>
            <a:endParaRPr lang="en-US" sz="3400" dirty="0"/>
          </a:p>
        </p:txBody>
      </p:sp>
      <p:sp>
        <p:nvSpPr>
          <p:cNvPr id="9" name="Text 7"/>
          <p:cNvSpPr txBox="1"/>
          <p:nvPr/>
        </p:nvSpPr>
        <p:spPr>
          <a:xfrm>
            <a:off x="8046720" y="4892040"/>
            <a:ext cx="3474720" cy="548640"/>
          </a:xfrm>
          <a:prstGeom prst="rect">
            <a:avLst/>
          </a:prstGeom>
          <a:noFill/>
          <a:ln/>
        </p:spPr>
        <p:txBody>
          <a:bodyPr wrap="square" lIns="0" tIns="0" rIns="0" bIns="0" rtlCol="0" anchor="ctr"/>
          <a:lstStyle/>
          <a:p>
            <a:pPr indent="0" marL="0">
              <a:buNone/>
            </a:pPr>
            <a:r>
              <a:rPr lang="en-US" sz="1500" dirty="0">
                <a:solidFill>
                  <a:schemeClr val="accent4"/>
                </a:solidFill>
              </a:rPr>
              <a:t>de las películas viene hoy de esos mercados</a:t>
            </a:r>
            <a:endParaRPr lang="en-US" sz="1500" dirty="0"/>
          </a:p>
        </p:txBody>
      </p:sp>
      <p:sp>
        <p:nvSpPr>
          <p:cNvPr id="10" name="Text 8"/>
          <p:cNvSpPr txBox="1"/>
          <p:nvPr/>
        </p:nvSpPr>
        <p:spPr>
          <a:xfrm>
            <a:off x="548640" y="5897880"/>
            <a:ext cx="9144000" cy="365760"/>
          </a:xfrm>
          <a:prstGeom prst="rect">
            <a:avLst/>
          </a:prstGeom>
          <a:noFill/>
          <a:ln/>
        </p:spPr>
        <p:txBody>
          <a:bodyPr wrap="square" lIns="0" tIns="0" rIns="0" bIns="0" rtlCol="0" anchor="ctr"/>
          <a:lstStyle/>
          <a:p>
            <a:pPr indent="0" marL="0">
              <a:buNone/>
            </a:pPr>
            <a:r>
              <a:rPr lang="en-US" sz="1400" dirty="0">
                <a:solidFill>
                  <a:schemeClr val="bg1"/>
                </a:solidFill>
              </a:rPr>
              <a:t>Gracias. Quedamos atentos a sus preguntas.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Anexo A1 · Robustez del hallazgo de mercados</a:t>
            </a:r>
            <a:endParaRPr lang="en-US" sz="3000" dirty="0"/>
          </a:p>
        </p:txBody>
      </p:sp>
      <p:sp>
        <p:nvSpPr>
          <p:cNvPr id="3" name="etiqueta"/>
          <p:cNvSpPr/>
          <p:nvPr/>
        </p:nvSpPr>
        <p:spPr>
          <a:xfrm>
            <a:off x="548640" y="347472"/>
            <a:ext cx="146304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46304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RESPALDO</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686800" cy="914400"/>
        </p:xfrm>
        <a:graphic>
          <a:graphicData uri="http://schemas.openxmlformats.org/drawingml/2006/table">
            <a:tbl>
              <a:tblPr/>
              <a:tblGrid>
                <a:gridCol w="2103120"/>
                <a:gridCol w="2194560"/>
                <a:gridCol w="2194560"/>
                <a:gridCol w="2194560"/>
              </a:tblGrid>
              <a:tr h="457200">
                <a:tc>
                  <a:txBody>
                    <a:bodyPr/>
                    <a:lstStyle/>
                    <a:p>
                      <a:pPr indent="0" marL="0">
                        <a:buNone/>
                      </a:pPr>
                      <a:r>
                        <a:rPr lang="en-US" sz="1400" b="1" dirty="0">
                          <a:solidFill>
                            <a:srgbClr val="3D3C38"/>
                          </a:solidFill>
                          <a:latin typeface="Calibri" pitchFamily="34" charset="0"/>
                          <a:ea typeface="Calibri" pitchFamily="34" charset="-122"/>
                          <a:cs typeface="Calibri" pitchFamily="34" charset="-120"/>
                        </a:rPr>
                        <a:t>País</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b="1" dirty="0">
                          <a:solidFill>
                            <a:srgbClr val="3D3C38"/>
                          </a:solidFill>
                          <a:latin typeface="Calibri" pitchFamily="34" charset="0"/>
                          <a:ea typeface="Calibri" pitchFamily="34" charset="-122"/>
                          <a:cs typeface="Calibri" pitchFamily="34" charset="-120"/>
                        </a:rPr>
                        <a:t>A. Comparación directa</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b="1" dirty="0">
                          <a:solidFill>
                            <a:srgbClr val="3D3C38"/>
                          </a:solidFill>
                          <a:latin typeface="Calibri" pitchFamily="34" charset="0"/>
                          <a:ea typeface="Calibri" pitchFamily="34" charset="-122"/>
                          <a:cs typeface="Calibri" pitchFamily="34" charset="-120"/>
                        </a:rPr>
                        <a:t>B. Mismo género y año</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b="1" dirty="0">
                          <a:solidFill>
                            <a:srgbClr val="3D3C38"/>
                          </a:solidFill>
                          <a:latin typeface="Calibri" pitchFamily="34" charset="0"/>
                          <a:ea typeface="Calibri" pitchFamily="34" charset="-122"/>
                          <a:cs typeface="Calibri" pitchFamily="34" charset="-120"/>
                        </a:rPr>
                        <a:t>C. Bayesiano + controles</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457200">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Japón</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+0,64 ± 0,05</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+0,39 ± 0,06</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+0,29 ± 0,05</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457200">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Corea del Sur</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+0,57 ± 0,07</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+0,54 ± 0,07</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+0,27 ± 0,05</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457200">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México</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+0,53 ± 0,12</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+0,52 ± 0,12</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400" dirty="0">
                          <a:solidFill>
                            <a:srgbClr val="3D3C38"/>
                          </a:solidFill>
                          <a:latin typeface="Calibri" pitchFamily="34" charset="0"/>
                          <a:ea typeface="Calibri" pitchFamily="34" charset="-122"/>
                          <a:cs typeface="Calibri" pitchFamily="34" charset="-120"/>
                        </a:rPr>
                        <a:t>+0,42 ± 0,10</a:t>
                      </a:r>
                      <a:endParaRPr lang="en-US" sz="14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bl>
          </a:graphicData>
        </a:graphic>
      </p:graphicFrame>
      <p:sp>
        <p:nvSpPr>
          <p:cNvPr id="6" name="Text 3"/>
          <p:cNvSpPr txBox="1"/>
          <p:nvPr/>
        </p:nvSpPr>
        <p:spPr>
          <a:xfrm>
            <a:off x="548640" y="4023360"/>
            <a:ext cx="10515600" cy="1828800"/>
          </a:xfrm>
          <a:prstGeom prst="rect">
            <a:avLst/>
          </a:prstGeom>
          <a:noFill/>
          <a:ln/>
        </p:spPr>
        <p:txBody>
          <a:bodyPr wrap="square" lIns="0" tIns="0" rIns="0" bIns="0" rtlCol="0" anchor="t"/>
          <a:lstStyle/>
          <a:p>
            <a:pPr indent="0" marL="0">
              <a:spcAft>
                <a:spcPts val="600"/>
              </a:spcAft>
              <a:buNone/>
            </a:pPr>
            <a:r>
              <a:rPr lang="en-US" sz="1300" dirty="0">
                <a:solidFill>
                  <a:schemeClr val="tx2"/>
                </a:solidFill>
              </a:rPr>
              <a:t>Diferencia de calificación promedio respecto de EE.UU. (escala 0 a 10) con intervalo de confianza del 95%.</a:t>
            </a:r>
            <a:endParaRPr lang="en-US" sz="1300" dirty="0"/>
          </a:p>
          <a:p>
            <a:pPr indent="0" marL="0">
              <a:spcAft>
                <a:spcPts val="600"/>
              </a:spcAft>
              <a:buNone/>
            </a:pPr>
            <a:r>
              <a:rPr lang="en-US" sz="1300" dirty="0">
                <a:solidFill>
                  <a:schemeClr val="tx2"/>
                </a:solidFill>
              </a:rPr>
              <a:t>A: películas con 10+ votos. B: regresión con controles por género y año, errores robustos HC1. C: promedio bayesiano (incluye películas con 1+ voto) más los mismos controles.</a:t>
            </a:r>
            <a:endParaRPr lang="en-US" sz="1300" dirty="0"/>
          </a:p>
          <a:p>
            <a:pPr indent="0" marL="0">
              <a:spcAft>
                <a:spcPts val="600"/>
              </a:spcAft>
              <a:buNone/>
            </a:pPr>
            <a:r>
              <a:rPr lang="en-US" sz="1300" dirty="0">
                <a:solidFill>
                  <a:schemeClr val="tx2"/>
                </a:solidFill>
              </a:rPr>
              <a:t>Con corrección de Bonferroni (15 comparaciones) también superan a EE.UU. India, Suecia y China, con menor margen. En series el signo cambia según el método.</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Anexo A2 · KPIs implementados en el dashboard</a:t>
            </a:r>
            <a:endParaRPr lang="en-US" sz="3000" dirty="0"/>
          </a:p>
        </p:txBody>
      </p:sp>
      <p:sp>
        <p:nvSpPr>
          <p:cNvPr id="3" name="etiqueta"/>
          <p:cNvSpPr/>
          <p:nvPr/>
        </p:nvSpPr>
        <p:spPr>
          <a:xfrm>
            <a:off x="548640" y="347472"/>
            <a:ext cx="146304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46304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RESPALDO</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2560320"/>
                <a:gridCol w="6400800"/>
                <a:gridCol w="2103120"/>
              </a:tblGrid>
              <a:tr h="502920">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Grupo</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Indicadores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Perfil</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Catálogo</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Títulos, películas / series, países, idiomas, géneros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Todos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Engagement y experiencia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Títulos calificados (10+ votos), calificación promedio, % bien evaluados, popularidad típica, por formato</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Todos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Popularidad y valoración</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Top 10 (popularidad, calificación, votos); rankings por género, país e idioma; popularidad según calificación</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Todos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Geográficos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Producción por país; % de películas bien evaluadas por país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Directorio, D&amp;A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Financieros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Presupuesto y taquilla totales, retorno total y típico, % que no recupera, top 10</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Directorio, D&amp;A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02920">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Calidad del dato</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Títulos sin votos, duplicados, % finanzas válidas, Spearman</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D&amp;A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85800"/>
            <a:ext cx="11094415" cy="1051560"/>
          </a:xfrm>
          <a:prstGeom prst="rect">
            <a:avLst/>
          </a:prstGeom>
          <a:noFill/>
          <a:ln/>
        </p:spPr>
        <p:txBody>
          <a:bodyPr wrap="square" lIns="0" tIns="0" rIns="0" bIns="0" rtlCol="0" anchor="t"/>
          <a:lstStyle/>
          <a:p>
            <a:pPr algn="l" indent="0" marL="0">
              <a:buNone/>
            </a:pPr>
            <a:r>
              <a:rPr lang="en-US" sz="3000" b="1" dirty="0">
                <a:solidFill>
                  <a:schemeClr val="tx1"/>
                </a:solidFill>
              </a:rPr>
              <a:t>Anexo A3 · Reglas de calidad y sesgos que evitan</a:t>
            </a:r>
            <a:endParaRPr lang="en-US" sz="3000" dirty="0"/>
          </a:p>
        </p:txBody>
      </p:sp>
      <p:sp>
        <p:nvSpPr>
          <p:cNvPr id="3" name="etiqueta"/>
          <p:cNvSpPr/>
          <p:nvPr/>
        </p:nvSpPr>
        <p:spPr>
          <a:xfrm>
            <a:off x="548640" y="347472"/>
            <a:ext cx="1463040" cy="274320"/>
          </a:xfrm>
          <a:prstGeom prst="roundRect">
            <a:avLst>
              <a:gd name="adj" fmla="val 26667"/>
            </a:avLst>
          </a:prstGeom>
          <a:solidFill>
            <a:schemeClr val="bg2"/>
          </a:solidFill>
          <a:ln w="12700">
            <a:solidFill>
              <a:schemeClr val="bg2"/>
            </a:solidFill>
            <a:prstDash val="solid"/>
          </a:ln>
        </p:spPr>
      </p:sp>
      <p:sp>
        <p:nvSpPr>
          <p:cNvPr id="4" name="Text 2"/>
          <p:cNvSpPr txBox="1"/>
          <p:nvPr/>
        </p:nvSpPr>
        <p:spPr>
          <a:xfrm>
            <a:off x="548640" y="347472"/>
            <a:ext cx="146304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RESPALDO</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2926080"/>
                <a:gridCol w="4206240"/>
                <a:gridCol w="3931920"/>
              </a:tblGrid>
              <a:tr h="566928">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Regla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Sesgo que evita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b="1" dirty="0">
                          <a:solidFill>
                            <a:srgbClr val="3D3C38"/>
                          </a:solidFill>
                          <a:latin typeface="Calibri" pitchFamily="34" charset="0"/>
                          <a:ea typeface="Calibri" pitchFamily="34" charset="-122"/>
                          <a:cs typeface="Calibri" pitchFamily="34" charset="-120"/>
                        </a:rPr>
                        <a:t>Evidencia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66928">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Calificación con 10+ votos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Notas falsas (0) de títulos sin votos; ruido de pocos votos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Con 1 voto, 20% de notas extremas; con 10+, 0%</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66928">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Comparar dentro de un formato</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Paradoja de Simpson: la composición película/serie decide el ranking</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Series: popularidad típica 36,2 vs 10,9 en películas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66928">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Mínimo 200 títulos por categoría</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Rankings dominados por categorías chicas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Baja en proporción a los filtros, nunca bajo 30</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66928">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Finanzas ≥ US$10.000 y retorno ≤ 50</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Errores de unidad (presupuestos de US$1)</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3.468 películas válidas (21,7%)</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r h="566928">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Spearman y medianas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Distorsión por títulos virales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c>
                  <a:txBody>
                    <a:bodyPr/>
                    <a:lstStyle/>
                    <a:p>
                      <a:pPr indent="0" marL="0">
                        <a:buNone/>
                      </a:pPr>
                      <a:r>
                        <a:rPr lang="en-US" sz="1300" dirty="0">
                          <a:solidFill>
                            <a:srgbClr val="3D3C38"/>
                          </a:solidFill>
                          <a:latin typeface="Calibri" pitchFamily="34" charset="0"/>
                          <a:ea typeface="Calibri" pitchFamily="34" charset="-122"/>
                          <a:cs typeface="Calibri" pitchFamily="34" charset="-120"/>
                        </a:rPr>
                        <a:t>Pearson 0,09 vs Spearman 0,23 en películas</a:t>
                      </a:r>
                      <a:endParaRPr lang="en-US" sz="1300" dirty="0">
                        <a:latin typeface="Calibri" charset="0"/>
                        <a:ea typeface="Calibri" charset="0"/>
                        <a:cs typeface="Calibri" charset="0"/>
                      </a:endParaRPr>
                    </a:p>
                  </a:txBody>
                  <a:tcPr marL="91440" marR="91440" marT="45720" marB="45720" anchor="ctr">
                    <a:lnL w="9525" cap="flat" cmpd="sng" algn="ctr">
                      <a:solidFill>
                        <a:srgbClr val="C9C7BF"/>
                      </a:solidFill>
                      <a:prstDash val="solid"/>
                      <a:round/>
                      <a:headEnd type="none" w="med" len="med"/>
                      <a:tailEnd type="none" w="med" len="med"/>
                    </a:lnL>
                    <a:lnR w="9525" cap="flat" cmpd="sng" algn="ctr">
                      <a:solidFill>
                        <a:srgbClr val="C9C7BF"/>
                      </a:solidFill>
                      <a:prstDash val="solid"/>
                      <a:round/>
                      <a:headEnd type="none" w="med" len="med"/>
                      <a:tailEnd type="none" w="med" len="med"/>
                    </a:lnR>
                    <a:lnT w="9525" cap="flat" cmpd="sng" algn="ctr">
                      <a:solidFill>
                        <a:srgbClr val="C9C7BF"/>
                      </a:solidFill>
                      <a:prstDash val="solid"/>
                      <a:round/>
                      <a:headEnd type="none" w="med" len="med"/>
                      <a:tailEnd type="none" w="med" len="med"/>
                    </a:lnT>
                    <a:lnB w="9525" cap="flat" cmpd="sng" algn="ctr">
                      <a:solidFill>
                        <a:srgbClr val="C9C7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7756C"/>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StreamView">
  <a:themeElements>
    <a:clrScheme name="StreamView">
      <a:dk1>
        <a:srgbClr val="1F1E1B"/>
      </a:dk1>
      <a:lt1>
        <a:srgbClr val="FFFFFF"/>
      </a:lt1>
      <a:dk2>
        <a:srgbClr val="3D3C38"/>
      </a:dk2>
      <a:lt2>
        <a:srgbClr val="F2F1ED"/>
      </a:lt2>
      <a:accent1>
        <a:srgbClr val="0F766E"/>
      </a:accent1>
      <a:accent2>
        <a:srgbClr val="2A78D6"/>
      </a:accent2>
      <a:accent3>
        <a:srgbClr val="C85526"/>
      </a:accent3>
      <a:accent4>
        <a:srgbClr val="C9C7BF"/>
      </a:accent4>
      <a:accent5>
        <a:srgbClr val="77756C"/>
      </a:accent5>
      <a:accent6>
        <a:srgbClr val="DCEFEC"/>
      </a:accent6>
      <a:hlink>
        <a:srgbClr val="0F766E"/>
      </a:hlink>
      <a:folHlink>
        <a:srgbClr val="3D3C38"/>
      </a:folHlink>
    </a:clrScheme>
    <a:fontScheme name="Stream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ADY1104 Visualización de Datos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StreamView Analytics — Presentación ejecutiva EP4</dc:title>
  <dc:subject>PptxGenJS Presentation</dc:subject>
  <dc:creator>Felipe Ahumada Silva y Francisca Carrasco Lozano</dc:creator>
  <cp:lastModifiedBy>Felipe Ahumada Silva y Francisca Carrasco Lozano</cp:lastModifiedBy>
  <cp:revision>1</cp:revision>
  <dcterms:created xsi:type="dcterms:W3CDTF">2026-10-12T16:24:32Z</dcterms:created>
  <dcterms:modified xsi:type="dcterms:W3CDTF">2026-10-12T16:24:32Z</dcterms:modified>
</cp:coreProperties>
</file>